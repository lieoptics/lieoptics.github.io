
<file path=[Content_Types].xml><?xml version="1.0" encoding="utf-8"?>
<Types xmlns="http://schemas.openxmlformats.org/package/2006/content-types">
  <Default Extension="emf" ContentType="image/x-emf"/>
  <Default Extension="gif" ContentType="image/gif"/>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1"/>
  </p:notesMasterIdLst>
  <p:sldIdLst>
    <p:sldId id="256" r:id="rId2"/>
    <p:sldId id="257" r:id="rId3"/>
    <p:sldId id="265" r:id="rId4"/>
    <p:sldId id="267" r:id="rId5"/>
    <p:sldId id="268" r:id="rId6"/>
    <p:sldId id="269" r:id="rId7"/>
    <p:sldId id="270" r:id="rId8"/>
    <p:sldId id="271" r:id="rId9"/>
    <p:sldId id="272" r:id="rId10"/>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5695"/>
    <a:srgbClr val="1F3A63"/>
    <a:srgbClr val="8A97A8"/>
    <a:srgbClr val="4A9DC1"/>
    <a:srgbClr val="E9F6FD"/>
    <a:srgbClr val="146080"/>
    <a:srgbClr val="1229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34"/>
    <p:restoredTop sz="87627"/>
  </p:normalViewPr>
  <p:slideViewPr>
    <p:cSldViewPr snapToGrid="0" snapToObjects="1">
      <p:cViewPr>
        <p:scale>
          <a:sx n="148" d="100"/>
          <a:sy n="148" d="100"/>
        </p:scale>
        <p:origin x="80"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70081946940593"/>
          <c:y val="0.1236209888440243"/>
          <c:w val="0.7232906914022843"/>
          <c:h val="0.6301298949531311"/>
        </c:manualLayout>
      </c:layout>
      <c:barChart>
        <c:barDir val="bar"/>
        <c:grouping val="clustered"/>
        <c:varyColors val="0"/>
        <c:ser>
          <c:idx val="0"/>
          <c:order val="0"/>
          <c:spPr>
            <a:gradFill flip="none" rotWithShape="1">
              <a:gsLst>
                <a:gs pos="0">
                  <a:srgbClr val="E9F6FD"/>
                </a:gs>
                <a:gs pos="45000">
                  <a:srgbClr val="4A9DC1"/>
                </a:gs>
                <a:gs pos="100000">
                  <a:srgbClr val="146080"/>
                </a:gs>
              </a:gsLst>
              <a:lin ang="0" scaled="0"/>
              <a:tileRect/>
            </a:gradFill>
            <a:ln>
              <a:noFill/>
            </a:ln>
            <a:effectLst/>
          </c:spPr>
          <c:invertIfNegative val="0"/>
          <c:dPt>
            <c:idx val="1"/>
            <c:invertIfNegative val="0"/>
            <c:bubble3D val="0"/>
            <c:extLst>
              <c:ext xmlns:c16="http://schemas.microsoft.com/office/drawing/2014/chart" uri="{C3380CC4-5D6E-409C-BE32-E72D297353CC}">
                <c16:uniqueId val="{00000000-CAC0-A748-93BA-76E04A9ACB04}"/>
              </c:ext>
            </c:extLst>
          </c:dPt>
          <c:cat>
            <c:strRef>
              <c:f>Sheet1!$A$1:$A$3</c:f>
              <c:strCache>
                <c:ptCount val="3"/>
                <c:pt idx="0">
                  <c:v>0°</c:v>
                </c:pt>
                <c:pt idx="1">
                  <c:v>14°</c:v>
                </c:pt>
                <c:pt idx="2">
                  <c:v>20°</c:v>
                </c:pt>
              </c:strCache>
            </c:strRef>
          </c:cat>
          <c:val>
            <c:numRef>
              <c:f>Sheet1!$B$1:$B$3</c:f>
              <c:numCache>
                <c:formatCode>General</c:formatCode>
                <c:ptCount val="3"/>
                <c:pt idx="0">
                  <c:v>2244.69</c:v>
                </c:pt>
                <c:pt idx="1">
                  <c:v>2525.1799999999998</c:v>
                </c:pt>
                <c:pt idx="2">
                  <c:v>2272.92</c:v>
                </c:pt>
              </c:numCache>
            </c:numRef>
          </c:val>
          <c:extLst>
            <c:ext xmlns:c16="http://schemas.microsoft.com/office/drawing/2014/chart" uri="{C3380CC4-5D6E-409C-BE32-E72D297353CC}">
              <c16:uniqueId val="{00000001-CAC0-A748-93BA-76E04A9ACB04}"/>
            </c:ext>
          </c:extLst>
        </c:ser>
        <c:dLbls>
          <c:showLegendKey val="0"/>
          <c:showVal val="0"/>
          <c:showCatName val="0"/>
          <c:showSerName val="0"/>
          <c:showPercent val="0"/>
          <c:showBubbleSize val="0"/>
        </c:dLbls>
        <c:gapWidth val="100"/>
        <c:overlap val="-58"/>
        <c:axId val="1974705920"/>
        <c:axId val="1974707632"/>
      </c:barChart>
      <c:catAx>
        <c:axId val="1974705920"/>
        <c:scaling>
          <c:orientation val="minMax"/>
        </c:scaling>
        <c:delete val="1"/>
        <c:axPos val="l"/>
        <c:numFmt formatCode="General" sourceLinked="1"/>
        <c:majorTickMark val="none"/>
        <c:minorTickMark val="none"/>
        <c:tickLblPos val="nextTo"/>
        <c:crossAx val="1974707632"/>
        <c:crosses val="autoZero"/>
        <c:auto val="1"/>
        <c:lblAlgn val="ctr"/>
        <c:lblOffset val="100"/>
        <c:noMultiLvlLbl val="0"/>
      </c:catAx>
      <c:valAx>
        <c:axId val="1974707632"/>
        <c:scaling>
          <c:orientation val="minMax"/>
          <c:max val="3000"/>
          <c:min val="0"/>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solidFill>
              <a:schemeClr val="accent4">
                <a:lumMod val="75000"/>
              </a:schemeClr>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crossAx val="1974705920"/>
        <c:crosses val="autoZero"/>
        <c:crossBetween val="between"/>
        <c:majorUnit val="1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110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page, pure visual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150000"/>
              </a:lnSpc>
            </a:pPr>
            <a:r>
              <a:rPr lang="en-US" altLang="zh-CN" dirty="0"/>
              <a:t>Aberration arises from the collective behavior of a ray bundle through a lens.</a:t>
            </a:r>
          </a:p>
          <a:p>
            <a:pPr rtl="0">
              <a:lnSpc>
                <a:spcPct val="150000"/>
              </a:lnSpc>
            </a:pPr>
            <a:r>
              <a:rPr lang="en-US" altLang="zh-CN" b="1" dirty="0"/>
              <a:t>1. Pointwise sampling		</a:t>
            </a:r>
            <a:r>
              <a:rPr lang="en-US" altLang="zh-CN" dirty="0"/>
              <a:t>Does not model the ray bundle or the lens as a whole. </a:t>
            </a:r>
          </a:p>
          <a:p>
            <a:pPr rtl="0">
              <a:lnSpc>
                <a:spcPct val="150000"/>
              </a:lnSpc>
            </a:pPr>
            <a:r>
              <a:rPr lang="en-US" altLang="zh-CN" b="1" dirty="0"/>
              <a:t>2. Aggregate metrics		</a:t>
            </a:r>
            <a:r>
              <a:rPr lang="en-US" altLang="zh-CN" dirty="0"/>
              <a:t>Single-number scores (spot size, wavefront error) fold every aberration type together, with no breakdown by element.</a:t>
            </a:r>
          </a:p>
          <a:p>
            <a:pPr rtl="0">
              <a:lnSpc>
                <a:spcPct val="150000"/>
              </a:lnSpc>
            </a:pPr>
            <a:r>
              <a:rPr lang="en-US" altLang="zh-CN" b="1" dirty="0"/>
              <a:t>3. Heuristic diagnosis		</a:t>
            </a:r>
            <a:r>
              <a:rPr lang="en-US" altLang="zh-CN" b="0" dirty="0"/>
              <a:t>D</a:t>
            </a:r>
            <a:r>
              <a:rPr lang="en-US" altLang="zh-CN" dirty="0"/>
              <a:t>esign falls back on expert intuition and trial-and-error.</a:t>
            </a:r>
          </a:p>
          <a:p>
            <a:pPr rtl="0">
              <a:lnSpc>
                <a:spcPct val="150000"/>
              </a:lnSpc>
            </a:pPr>
            <a:r>
              <a:rPr lang="en-US" altLang="zh-CN" b="1" dirty="0"/>
              <a:t>Outcome:</a:t>
            </a:r>
            <a:r>
              <a:rPr lang="en-US" altLang="zh-CN" dirty="0"/>
              <a:t> Structurally distinct lens designs can look identical in a spot diagram. Ray tracing can't tell them apart.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D4954-A2F7-160F-F1F5-C27955C27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34F23-BC49-77EB-79D4-DC5F2A26B7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FE98F-DC29-0352-8588-7857E4CCE0FD}"/>
              </a:ext>
            </a:extLst>
          </p:cNvPr>
          <p:cNvSpPr>
            <a:spLocks noGrp="1"/>
          </p:cNvSpPr>
          <p:nvPr>
            <p:ph type="body" idx="1"/>
          </p:nvPr>
        </p:nvSpPr>
        <p:spPr/>
        <p:txBody>
          <a:bodyPr/>
          <a:lstStyle/>
          <a:p>
            <a:r>
              <a:rPr lang="en-US" altLang="zh-CN" sz="1200" b="1" kern="1200" dirty="0">
                <a:solidFill>
                  <a:schemeClr val="tx1"/>
                </a:solidFill>
                <a:effectLst/>
                <a:latin typeface="+mn-lt"/>
                <a:ea typeface="+mn-ea"/>
                <a:cs typeface="+mn-cs"/>
              </a:rPr>
              <a:t>3. </a:t>
            </a:r>
            <a:r>
              <a:rPr lang="en-US" altLang="zh-CN" sz="1200" b="1" kern="1200" dirty="0" err="1">
                <a:solidFill>
                  <a:schemeClr val="tx1"/>
                </a:solidFill>
                <a:effectLst/>
                <a:latin typeface="+mn-lt"/>
                <a:ea typeface="+mn-ea"/>
                <a:cs typeface="+mn-cs"/>
              </a:rPr>
              <a:t>LieOptics</a:t>
            </a:r>
            <a:r>
              <a:rPr lang="en-US" altLang="zh-CN" sz="1200" b="1" kern="1200" dirty="0">
                <a:solidFill>
                  <a:schemeClr val="tx1"/>
                </a:solidFill>
                <a:effectLst/>
                <a:latin typeface="+mn-lt"/>
                <a:ea typeface="+mn-ea"/>
                <a:cs typeface="+mn-cs"/>
              </a:rPr>
              <a:t> models the whole ray bundle</a:t>
            </a:r>
            <a:endParaRPr lang="zh-CN" altLang="zh-CN" sz="1200" b="1"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Element → operator. each optical element is a Lie operator, acting directly on the ray bundle.</a:t>
            </a:r>
            <a:endParaRPr lang="zh-CN" altLang="zh-CN" sz="1200"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Compose → lens-system operator. operators compose of all elements into one system operator; no ray intersection needed.</a:t>
            </a:r>
            <a:endParaRPr lang="zh-CN" altLang="zh-CN" sz="1200"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Operator → aberrations. Lens operator yields the full aberration spot pattern analytically, and the detailed aberration structure up to 9</a:t>
            </a:r>
            <a:r>
              <a:rPr lang="en-US" altLang="zh-CN" sz="1200" kern="1200" baseline="30000" dirty="0">
                <a:solidFill>
                  <a:schemeClr val="tx1"/>
                </a:solidFill>
                <a:effectLst/>
                <a:latin typeface="+mn-lt"/>
                <a:ea typeface="+mn-ea"/>
                <a:cs typeface="+mn-cs"/>
              </a:rPr>
              <a:t>th</a:t>
            </a:r>
            <a:r>
              <a:rPr lang="en-US" altLang="zh-CN" sz="1200" kern="1200" dirty="0">
                <a:solidFill>
                  <a:schemeClr val="tx1"/>
                </a:solidFill>
                <a:effectLst/>
                <a:latin typeface="+mn-lt"/>
                <a:ea typeface="+mn-ea"/>
                <a:cs typeface="+mn-cs"/>
              </a:rPr>
              <a:t> order.</a:t>
            </a:r>
            <a:endParaRPr lang="zh-CN" altLang="zh-CN" sz="1200" kern="1200" dirty="0">
              <a:solidFill>
                <a:schemeClr val="tx1"/>
              </a:solidFill>
              <a:effectLst/>
              <a:latin typeface="+mn-lt"/>
              <a:ea typeface="+mn-ea"/>
              <a:cs typeface="+mn-cs"/>
            </a:endParaRPr>
          </a:p>
          <a:p>
            <a:r>
              <a:rPr lang="en-US" altLang="zh-CN" sz="1200" i="1" kern="1200" dirty="0">
                <a:solidFill>
                  <a:schemeClr val="tx1"/>
                </a:solidFill>
                <a:effectLst/>
                <a:latin typeface="+mn-lt"/>
                <a:ea typeface="+mn-ea"/>
                <a:cs typeface="+mn-cs"/>
              </a:rPr>
              <a:t>Visual: fig teaser, ray tracing (per-ray) vs. </a:t>
            </a:r>
            <a:r>
              <a:rPr lang="en-US" altLang="zh-CN" sz="1200" i="1" kern="1200" dirty="0" err="1">
                <a:solidFill>
                  <a:schemeClr val="tx1"/>
                </a:solidFill>
                <a:effectLst/>
                <a:latin typeface="+mn-lt"/>
                <a:ea typeface="+mn-ea"/>
                <a:cs typeface="+mn-cs"/>
              </a:rPr>
              <a:t>LieOptics</a:t>
            </a:r>
            <a:r>
              <a:rPr lang="en-US" altLang="zh-CN" sz="1200" i="1" kern="1200" dirty="0">
                <a:solidFill>
                  <a:schemeClr val="tx1"/>
                </a:solidFill>
                <a:effectLst/>
                <a:latin typeface="+mn-lt"/>
                <a:ea typeface="+mn-ea"/>
                <a:cs typeface="+mn-cs"/>
              </a:rPr>
              <a:t> (per-bundle operator) side by side; feeding into direct metrics; aberration breakdown.</a:t>
            </a:r>
            <a:br>
              <a:rPr lang="en-US" altLang="zh-CN" sz="1200" i="1" kern="1200" dirty="0">
                <a:solidFill>
                  <a:schemeClr val="tx1"/>
                </a:solidFill>
                <a:effectLst/>
                <a:latin typeface="+mn-lt"/>
                <a:ea typeface="+mn-ea"/>
                <a:cs typeface="+mn-cs"/>
              </a:rPr>
            </a:br>
            <a:br>
              <a:rPr lang="en-US" altLang="zh-CN" sz="1200" i="1" kern="1200" dirty="0">
                <a:solidFill>
                  <a:schemeClr val="tx1"/>
                </a:solidFill>
                <a:effectLst/>
                <a:latin typeface="+mn-lt"/>
                <a:ea typeface="+mn-ea"/>
                <a:cs typeface="+mn-cs"/>
              </a:rPr>
            </a:br>
            <a:br>
              <a:rPr lang="en-US" altLang="zh-CN" sz="1200" i="1" kern="1200" dirty="0">
                <a:solidFill>
                  <a:schemeClr val="tx1"/>
                </a:solidFill>
                <a:effectLst/>
                <a:latin typeface="+mn-lt"/>
                <a:ea typeface="+mn-ea"/>
                <a:cs typeface="+mn-cs"/>
              </a:rPr>
            </a:br>
            <a:r>
              <a:rPr lang="en-US" altLang="zh-CN" b="1" dirty="0"/>
              <a:t>Slide 3 (The Idea)</a:t>
            </a:r>
            <a:r>
              <a:rPr lang="en-US" altLang="zh-CN" dirty="0"/>
              <a:t> is the deck's centerpiece and probably needs the most airtime — it's introducing the whole ray-bundle → operator → composition → aberration pipeline in one shot with a dense diagram (ray tracing render, composition chain, aberration spot grid). Budget 90 seconds minimum; if you're tight, consider whether the small spot-grid panel on the right (SPHA/COMA/FCUR/ASTI/DIST/h-terms) needs to be explained in the talk itself or can just be gestured at ("this gives us a full breakdown, more in the paper").</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B0BF9E06-F143-AA1B-EEC1-495276A0124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62678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D18C3-F775-A0DF-9420-F319170D6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08844-F489-D4F4-6A2C-6E9F4101570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34BB8C2-7A58-E45E-EC49-EB5977D33888}"/>
                  </a:ext>
                </a:extLst>
              </p:cNvPr>
              <p:cNvSpPr>
                <a:spLocks noGrp="1"/>
              </p:cNvSpPr>
              <p:nvPr>
                <p:ph type="body" idx="1"/>
              </p:nvPr>
            </p:nvSpPr>
            <p:spPr/>
            <p:txBody>
              <a:bodyPr/>
              <a:lstStyle/>
              <a:p>
                <a:r>
                  <a:rPr lang="en-US" altLang="zh-CN" sz="1200" b="1" kern="1200" dirty="0">
                    <a:solidFill>
                      <a:schemeClr val="tx1"/>
                    </a:solidFill>
                    <a:effectLst/>
                    <a:latin typeface="+mn-lt"/>
                    <a:ea typeface="+mn-ea"/>
                    <a:cs typeface="+mn-cs"/>
                  </a:rPr>
                  <a:t>Analytical modeling: Hamiltonian evolution of a ray bundle factors into aberration orders</a:t>
                </a:r>
                <a:endParaRPr lang="zh-CN" altLang="zh-CN" sz="1200" b="1"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1 Phase-space evolution: a ray bundle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𝑢</m:t>
                    </m:r>
                    <m:r>
                      <a:rPr lang="en-US" altLang="zh-CN" sz="1200" i="1" kern="1200">
                        <a:solidFill>
                          <a:schemeClr val="tx1"/>
                        </a:solidFill>
                        <a:effectLst/>
                        <a:latin typeface="Cambria Math" panose="02040503050406030204" pitchFamily="18" charset="0"/>
                        <a:ea typeface="+mn-ea"/>
                        <a:cs typeface="+mn-cs"/>
                      </a:rPr>
                      <m:t> = (</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evolves with the optical Hamiltonian. The Hamiltonian gives the Lie operator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𝐺</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𝐻</m:t>
                        </m:r>
                      </m:e>
                    </m:d>
                    <m:r>
                      <a:rPr lang="en-US" altLang="zh-CN" sz="1200" i="1" kern="1200">
                        <a:solidFill>
                          <a:schemeClr val="tx1"/>
                        </a:solidFill>
                        <a:effectLst/>
                        <a:latin typeface="Cambria Math" panose="02040503050406030204" pitchFamily="18" charset="0"/>
                        <a:ea typeface="+mn-ea"/>
                        <a:cs typeface="+mn-cs"/>
                      </a:rPr>
                      <m:t>= </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𝑧</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𝐻</m:t>
                            </m:r>
                          </m:e>
                        </m:acc>
                      </m:sup>
                    </m:sSup>
                  </m:oMath>
                </a14:m>
                <a:r>
                  <a:rPr lang="en-US" altLang="zh-CN" sz="1200" kern="1200" dirty="0">
                    <a:solidFill>
                      <a:schemeClr val="tx1"/>
                    </a:solidFill>
                    <a:effectLst/>
                    <a:latin typeface="+mn-lt"/>
                    <a:ea typeface="+mn-ea"/>
                    <a:cs typeface="+mn-cs"/>
                  </a:rPr>
                  <a:t>, the nonlinear ray-transfer map for the bundle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𝐺</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𝐻</m:t>
                        </m:r>
                      </m:e>
                    </m:d>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𝑢</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2 Dragt–Finn Factorization → aberration orders</a:t>
                </a:r>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𝐻</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𝐻</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𝐻</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𝐺</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 = </m:t>
                      </m:r>
                      <m:r>
                        <a:rPr lang="en-US" altLang="zh-CN" sz="1200" i="1" kern="1200">
                          <a:solidFill>
                            <a:schemeClr val="tx1"/>
                          </a:solidFill>
                          <a:effectLst/>
                          <a:latin typeface="Cambria Math" panose="02040503050406030204" pitchFamily="18" charset="0"/>
                          <a:ea typeface="+mn-ea"/>
                          <a:cs typeface="+mn-cs"/>
                        </a:rPr>
                        <m:t>𝐺</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₅)·</m:t>
                      </m:r>
                      <m:r>
                        <a:rPr lang="en-US" altLang="zh-CN" sz="1200" i="1" kern="1200">
                          <a:solidFill>
                            <a:schemeClr val="tx1"/>
                          </a:solidFill>
                          <a:effectLst/>
                          <a:latin typeface="Cambria Math" panose="02040503050406030204" pitchFamily="18" charset="0"/>
                          <a:ea typeface="+mn-ea"/>
                          <a:cs typeface="+mn-cs"/>
                        </a:rPr>
                        <m:t>𝐺</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₄)···</m:t>
                      </m:r>
                      <m:r>
                        <a:rPr lang="en-US" altLang="zh-CN" sz="1200" i="1" kern="1200">
                          <a:solidFill>
                            <a:schemeClr val="tx1"/>
                          </a:solidFill>
                          <a:effectLst/>
                          <a:latin typeface="Cambria Math" panose="02040503050406030204" pitchFamily="18" charset="0"/>
                          <a:ea typeface="+mn-ea"/>
                          <a:cs typeface="+mn-cs"/>
                        </a:rPr>
                        <m:t>𝐺</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₁)</m:t>
                      </m:r>
                    </m:oMath>
                  </m:oMathPara>
                </a14:m>
                <a:endParaRPr lang="zh-CN" altLang="zh-CN" sz="1200" kern="1200" dirty="0">
                  <a:solidFill>
                    <a:schemeClr val="tx1"/>
                  </a:solidFill>
                  <a:effectLst/>
                  <a:latin typeface="+mn-lt"/>
                  <a:ea typeface="+mn-ea"/>
                  <a:cs typeface="+mn-cs"/>
                </a:endParaRP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₁</m:t>
                    </m:r>
                  </m:oMath>
                </a14:m>
                <a:r>
                  <a:rPr lang="en-US" altLang="zh-CN" sz="1200" kern="1200" dirty="0">
                    <a:solidFill>
                      <a:schemeClr val="tx1"/>
                    </a:solidFill>
                    <a:effectLst/>
                    <a:latin typeface="+mn-lt"/>
                    <a:ea typeface="+mn-ea"/>
                    <a:cs typeface="+mn-cs"/>
                  </a:rPr>
                  <a:t> is the linear paraxial ABCD ray-transfer, and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𝐻</m:t>
                        </m:r>
                      </m:e>
                      <m:sub>
                        <m:r>
                          <a:rPr lang="en-US" altLang="zh-CN" sz="1200" i="1" kern="1200">
                            <a:solidFill>
                              <a:schemeClr val="tx1"/>
                            </a:solidFill>
                            <a:effectLst/>
                            <a:latin typeface="Cambria Math" panose="02040503050406030204" pitchFamily="18" charset="0"/>
                            <a:ea typeface="+mn-ea"/>
                            <a:cs typeface="+mn-cs"/>
                          </a:rPr>
                          <m:t>𝑘</m:t>
                        </m:r>
                      </m:sub>
                    </m:sSub>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𝑘</m:t>
                    </m:r>
                    <m:r>
                      <a:rPr lang="en-US" altLang="zh-CN" sz="1200" i="1" kern="1200">
                        <a:solidFill>
                          <a:schemeClr val="tx1"/>
                        </a:solidFill>
                        <a:effectLst/>
                        <a:latin typeface="Cambria Math" panose="02040503050406030204" pitchFamily="18" charset="0"/>
                        <a:ea typeface="+mn-ea"/>
                        <a:cs typeface="+mn-cs"/>
                      </a:rPr>
                      <m:t>≥2)</m:t>
                    </m:r>
                  </m:oMath>
                </a14:m>
                <a:r>
                  <a:rPr lang="en-US" altLang="zh-CN" sz="1200" kern="1200" dirty="0">
                    <a:solidFill>
                      <a:schemeClr val="tx1"/>
                    </a:solidFill>
                    <a:effectLst/>
                    <a:latin typeface="+mn-lt"/>
                    <a:ea typeface="+mn-ea"/>
                    <a:cs typeface="+mn-cs"/>
                  </a:rPr>
                  <a:t> the nonlinear aberration of successive orders.</a:t>
                </a:r>
                <a:endParaRPr lang="zh-CN" altLang="zh-CN" sz="1200"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3 Composing elements → a lens system in closed form, without ray sampling</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Outcomes: aberration coefficients directly, element by element; no intermediate ray-traced expressions.</a:t>
                </a:r>
                <a:br>
                  <a:rPr lang="en-US" altLang="zh-CN" sz="1200" kern="1200" dirty="0">
                    <a:solidFill>
                      <a:schemeClr val="tx1"/>
                    </a:solidFill>
                    <a:effectLst/>
                    <a:latin typeface="+mn-lt"/>
                    <a:ea typeface="+mn-ea"/>
                    <a:cs typeface="+mn-cs"/>
                  </a:rPr>
                </a:br>
                <a:br>
                  <a:rPr lang="en-US" altLang="zh-CN" sz="1200" kern="1200" dirty="0">
                    <a:solidFill>
                      <a:schemeClr val="tx1"/>
                    </a:solidFill>
                    <a:effectLst/>
                    <a:latin typeface="+mn-lt"/>
                    <a:ea typeface="+mn-ea"/>
                    <a:cs typeface="+mn-cs"/>
                  </a:rPr>
                </a:br>
                <a:br>
                  <a:rPr lang="en-US" altLang="zh-CN" sz="1200" kern="1200" dirty="0">
                    <a:solidFill>
                      <a:schemeClr val="tx1"/>
                    </a:solidFill>
                    <a:effectLst/>
                    <a:latin typeface="+mn-lt"/>
                    <a:ea typeface="+mn-ea"/>
                    <a:cs typeface="+mn-cs"/>
                  </a:rPr>
                </a:br>
                <a:r>
                  <a:rPr lang="en-US" altLang="zh-CN" b="1" dirty="0"/>
                  <a:t>Slide 4 (Formulation)</a:t>
                </a:r>
                <a:r>
                  <a:rPr lang="en-US" altLang="zh-CN" dirty="0"/>
                  <a:t> has three equation blocks plus Dragt–Finn factorization — for a SIGGRAPH audience (not necessarily optics specialists), this is the slide most likely to lose people if you dwell on derivation. Since you've already noted "full derivations in paper §3.1–3.3," lean into that — narrate the intuition (Hamiltonian → operator → compose) rather than walking every symbol.</a:t>
                </a:r>
                <a:br>
                  <a:rPr lang="en-US" altLang="zh-CN" dirty="0"/>
                </a:br>
                <a:br>
                  <a:rPr lang="en-US" altLang="zh-CN" dirty="0"/>
                </a:br>
                <a:endParaRPr lang="zh-CN" altLang="zh-CN" sz="1200" kern="1200" dirty="0">
                  <a:solidFill>
                    <a:schemeClr val="tx1"/>
                  </a:solidFill>
                  <a:effectLst/>
                  <a:latin typeface="+mn-lt"/>
                  <a:ea typeface="+mn-ea"/>
                  <a:cs typeface="+mn-cs"/>
                </a:endParaRPr>
              </a:p>
              <a:p>
                <a:endParaRPr lang="en-US" dirty="0"/>
              </a:p>
            </p:txBody>
          </p:sp>
        </mc:Choice>
        <mc:Fallback xmlns="">
          <p:sp>
            <p:nvSpPr>
              <p:cNvPr id="3" name="Notes Placeholder 2">
                <a:extLst>
                  <a:ext uri="{FF2B5EF4-FFF2-40B4-BE49-F238E27FC236}">
                    <a16:creationId xmlns:a16="http://schemas.microsoft.com/office/drawing/2014/main" id="{734BB8C2-7A58-E45E-EC49-EB5977D33888}"/>
                  </a:ext>
                </a:extLst>
              </p:cNvPr>
              <p:cNvSpPr>
                <a:spLocks noGrp="1"/>
              </p:cNvSpPr>
              <p:nvPr>
                <p:ph type="body" idx="1"/>
              </p:nvPr>
            </p:nvSpPr>
            <p:spPr/>
            <p:txBody>
              <a:bodyPr/>
              <a:lstStyle/>
              <a:p>
                <a:r>
                  <a:rPr lang="en-US" altLang="zh-CN" sz="1200" b="1" kern="1200" dirty="0">
                    <a:solidFill>
                      <a:schemeClr val="tx1"/>
                    </a:solidFill>
                    <a:effectLst/>
                    <a:latin typeface="+mn-lt"/>
                    <a:ea typeface="+mn-ea"/>
                    <a:cs typeface="+mn-cs"/>
                  </a:rPr>
                  <a:t>Analytical modeling: Hamiltonian evolution of a ray bundle factors into aberration orders</a:t>
                </a:r>
                <a:endParaRPr lang="zh-CN" altLang="zh-CN" sz="1200" b="1"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1 Phase-space evolution: a ray bundle </a:t>
                </a:r>
                <a:r>
                  <a:rPr lang="en-US" altLang="zh-CN" sz="1200" i="0" kern="1200">
                    <a:solidFill>
                      <a:schemeClr val="tx1"/>
                    </a:solidFill>
                    <a:effectLst/>
                    <a:latin typeface="+mn-lt"/>
                    <a:ea typeface="+mn-ea"/>
                    <a:cs typeface="+mn-cs"/>
                  </a:rPr>
                  <a:t>𝑢 = (𝑝,𝑞)</a:t>
                </a:r>
                <a:r>
                  <a:rPr lang="en-US" altLang="zh-CN" sz="1200" kern="1200" dirty="0">
                    <a:solidFill>
                      <a:schemeClr val="tx1"/>
                    </a:solidFill>
                    <a:effectLst/>
                    <a:latin typeface="+mn-lt"/>
                    <a:ea typeface="+mn-ea"/>
                    <a:cs typeface="+mn-cs"/>
                  </a:rPr>
                  <a:t> evolves with the optical Hamiltonian. The Hamiltonian gives the Lie operator </a:t>
                </a:r>
                <a:r>
                  <a:rPr lang="en-US" altLang="zh-CN" sz="1200" i="0" kern="1200">
                    <a:solidFill>
                      <a:schemeClr val="tx1"/>
                    </a:solidFill>
                    <a:effectLst/>
                    <a:latin typeface="+mn-lt"/>
                    <a:ea typeface="+mn-ea"/>
                    <a:cs typeface="+mn-cs"/>
                  </a:rPr>
                  <a:t>𝐺</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𝐻)= 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−𝑧𝐻</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the nonlinear ray-transfer map for the bundle </a:t>
                </a:r>
                <a:r>
                  <a:rPr lang="en-US" altLang="zh-CN" sz="1200" i="0" kern="1200">
                    <a:solidFill>
                      <a:schemeClr val="tx1"/>
                    </a:solidFill>
                    <a:effectLst/>
                    <a:latin typeface="+mn-lt"/>
                    <a:ea typeface="+mn-ea"/>
                    <a:cs typeface="+mn-cs"/>
                  </a:rPr>
                  <a:t>𝐺</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𝐻)  𝑢</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2 Dragt–Finn Factorization → aberration orders</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𝐻 =𝐻</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1+𝐻</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2+𝐻</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𝐺(𝐻) = 𝐺(𝐻₅)·𝐺(𝐻₄)···𝐺(𝐻₁)</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𝐻₁</a:t>
                </a:r>
                <a:r>
                  <a:rPr lang="en-US" altLang="zh-CN" sz="1200" kern="1200" dirty="0">
                    <a:solidFill>
                      <a:schemeClr val="tx1"/>
                    </a:solidFill>
                    <a:effectLst/>
                    <a:latin typeface="+mn-lt"/>
                    <a:ea typeface="+mn-ea"/>
                    <a:cs typeface="+mn-cs"/>
                  </a:rPr>
                  <a:t> is the linear paraxial ABCD ray-transfer, and </a:t>
                </a:r>
                <a:r>
                  <a:rPr lang="en-US" altLang="zh-CN" sz="1200" i="0" kern="1200">
                    <a:solidFill>
                      <a:schemeClr val="tx1"/>
                    </a:solidFill>
                    <a:effectLst/>
                    <a:latin typeface="+mn-lt"/>
                    <a:ea typeface="+mn-ea"/>
                    <a:cs typeface="+mn-cs"/>
                  </a:rPr>
                  <a:t>𝐻</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𝑘  (𝑘≥2)</a:t>
                </a:r>
                <a:r>
                  <a:rPr lang="en-US" altLang="zh-CN" sz="1200" kern="1200" dirty="0">
                    <a:solidFill>
                      <a:schemeClr val="tx1"/>
                    </a:solidFill>
                    <a:effectLst/>
                    <a:latin typeface="+mn-lt"/>
                    <a:ea typeface="+mn-ea"/>
                    <a:cs typeface="+mn-cs"/>
                  </a:rPr>
                  <a:t> the nonlinear aberration of successive orders.</a:t>
                </a:r>
                <a:endParaRPr lang="zh-CN" altLang="zh-CN" sz="1200"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3 Composing elements → a lens system in closed form, without ray sampling</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Outcomes: aberration coefficients directly, element by element; no intermediate ray-traced expressions.</a:t>
                </a:r>
                <a:endParaRPr lang="zh-CN" altLang="zh-CN" sz="1200" kern="1200" dirty="0">
                  <a:solidFill>
                    <a:schemeClr val="tx1"/>
                  </a:solidFill>
                  <a:effectLst/>
                  <a:latin typeface="+mn-lt"/>
                  <a:ea typeface="+mn-ea"/>
                  <a:cs typeface="+mn-cs"/>
                </a:endParaRPr>
              </a:p>
              <a:p>
                <a:endParaRPr lang="en-US" dirty="0"/>
              </a:p>
            </p:txBody>
          </p:sp>
        </mc:Fallback>
      </mc:AlternateContent>
      <p:sp>
        <p:nvSpPr>
          <p:cNvPr id="4" name="Slide Number Placeholder 3">
            <a:extLst>
              <a:ext uri="{FF2B5EF4-FFF2-40B4-BE49-F238E27FC236}">
                <a16:creationId xmlns:a16="http://schemas.microsoft.com/office/drawing/2014/main" id="{884CEAF6-1A64-B830-975B-8871C531CC5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916031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9D935-245B-BDAF-0F22-771EE1030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7EDD8-798B-40EE-595D-7F72CC00D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859F5-0E4D-3E31-67AD-943AC4631BD8}"/>
              </a:ext>
            </a:extLst>
          </p:cNvPr>
          <p:cNvSpPr>
            <a:spLocks noGrp="1"/>
          </p:cNvSpPr>
          <p:nvPr>
            <p:ph type="body" idx="1"/>
          </p:nvPr>
        </p:nvSpPr>
        <p:spPr/>
        <p:txBody>
          <a:bodyPr/>
          <a:lstStyle/>
          <a:p>
            <a:r>
              <a:rPr lang="en-US" dirty="0" err="1"/>
              <a:t>LieOptics</a:t>
            </a:r>
            <a:r>
              <a:rPr lang="en-US" dirty="0"/>
              <a:t> obtains the aberration coefficients analytically. Since we don’t need to sample rays, it can scale up to model complex lens systems.</a:t>
            </a:r>
          </a:p>
        </p:txBody>
      </p:sp>
      <p:sp>
        <p:nvSpPr>
          <p:cNvPr id="4" name="Slide Number Placeholder 3">
            <a:extLst>
              <a:ext uri="{FF2B5EF4-FFF2-40B4-BE49-F238E27FC236}">
                <a16:creationId xmlns:a16="http://schemas.microsoft.com/office/drawing/2014/main" id="{64D3646D-5AD3-21E7-2462-152303312D0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12974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C8C49-575C-51CE-3512-B50ECAAFE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3A4E2-DDFB-CB49-5A1D-C8D67FBB0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87B82-68A1-3C0C-1522-54E5925358EB}"/>
              </a:ext>
            </a:extLst>
          </p:cNvPr>
          <p:cNvSpPr>
            <a:spLocks noGrp="1"/>
          </p:cNvSpPr>
          <p:nvPr>
            <p:ph type="body" idx="1"/>
          </p:nvPr>
        </p:nvSpPr>
        <p:spPr/>
        <p:txBody>
          <a:bodyPr/>
          <a:lstStyle/>
          <a:p>
            <a:pPr lvl="0"/>
            <a:r>
              <a:rPr lang="en-US" altLang="zh-CN" sz="1200" kern="1200" dirty="0">
                <a:solidFill>
                  <a:schemeClr val="tx1"/>
                </a:solidFill>
                <a:effectLst/>
                <a:latin typeface="+mn-lt"/>
                <a:ea typeface="+mn-ea"/>
                <a:cs typeface="+mn-cs"/>
              </a:rPr>
              <a:t>Double Gauss lens: Diagnostics of the lens pair (3, 4). Each generates large aberrations of every type; and their signed contributions cancel at the System row.</a:t>
            </a:r>
            <a:endParaRPr lang="zh-CN" altLang="zh-CN" sz="1200" kern="1200" dirty="0">
              <a:solidFill>
                <a:schemeClr val="tx1"/>
              </a:solidFill>
              <a:effectLst/>
              <a:latin typeface="+mn-lt"/>
              <a:ea typeface="+mn-ea"/>
              <a:cs typeface="+mn-cs"/>
            </a:endParaRPr>
          </a:p>
          <a:p>
            <a:r>
              <a:rPr lang="en-US" altLang="zh-CN" sz="1200" i="0" kern="1200" dirty="0">
                <a:solidFill>
                  <a:schemeClr val="tx1"/>
                </a:solidFill>
                <a:effectLst/>
                <a:latin typeface="+mn-lt"/>
                <a:ea typeface="+mn-ea"/>
                <a:cs typeface="+mn-cs"/>
              </a:rPr>
              <a:t>Every bar here is computed directly from the composed operator, without per-element perturbation experiments.</a:t>
            </a:r>
            <a:endParaRPr lang="zh-CN" altLang="zh-CN" sz="1200" i="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Outcome: revealing design that cancels aberrations in a structured way. Offers fine-grained insights into prototyping and design.</a:t>
            </a:r>
            <a:br>
              <a:rPr lang="en-US" altLang="zh-CN" sz="1200" kern="1200" dirty="0">
                <a:solidFill>
                  <a:schemeClr val="tx1"/>
                </a:solidFill>
                <a:effectLst/>
                <a:latin typeface="+mn-lt"/>
                <a:ea typeface="+mn-ea"/>
                <a:cs typeface="+mn-cs"/>
              </a:rPr>
            </a:br>
            <a:br>
              <a:rPr lang="en-US" altLang="zh-CN" sz="1200" kern="1200" dirty="0">
                <a:solidFill>
                  <a:schemeClr val="tx1"/>
                </a:solidFill>
                <a:effectLst/>
                <a:latin typeface="+mn-lt"/>
                <a:ea typeface="+mn-ea"/>
                <a:cs typeface="+mn-cs"/>
              </a:rPr>
            </a:br>
            <a:br>
              <a:rPr lang="en-US" altLang="zh-CN" sz="1200" kern="1200">
                <a:solidFill>
                  <a:schemeClr val="tx1"/>
                </a:solidFill>
                <a:effectLst/>
                <a:latin typeface="+mn-lt"/>
                <a:ea typeface="+mn-ea"/>
                <a:cs typeface="+mn-cs"/>
              </a:rPr>
            </a:br>
            <a:r>
              <a:rPr lang="en-US" altLang="zh-CN" b="1"/>
              <a:t>Slide 6 (Aberration attribution)</a:t>
            </a:r>
            <a:r>
              <a:rPr lang="en-US" altLang="zh-CN"/>
              <a:t> has a large, information-dense heatmap (14 columns × 9 rows) plus a lens ray diagram plus 12 tiny diagnostic thumbnails. This is a lot to parse live in a talk. You likely want to talk to the three numbered callouts (element view, aberration-type view, cancellation diagnostic) rather than the grid itself — the heatmap reads better as a "for detail, see paper" reference than something you walk cell-by-cell.</a:t>
            </a:r>
            <a:endParaRPr lang="zh-CN" altLang="zh-C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72A6C73-2789-1D04-9585-3E6251167DB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55715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0BCAB-64C3-2AAC-6980-D2217F851A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38D1E-73DE-629B-E7A0-4632031112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EED33-28D8-2675-9E3D-C0C714D6DB51}"/>
              </a:ext>
            </a:extLst>
          </p:cNvPr>
          <p:cNvSpPr>
            <a:spLocks noGrp="1"/>
          </p:cNvSpPr>
          <p:nvPr>
            <p:ph type="body" idx="1"/>
          </p:nvPr>
        </p:nvSpPr>
        <p:spPr/>
        <p:txBody>
          <a:bodyPr/>
          <a:lstStyle/>
          <a:p>
            <a:r>
              <a:rPr lang="en-US" altLang="zh-CN" sz="1200" b="1" kern="1200" dirty="0">
                <a:solidFill>
                  <a:schemeClr val="tx1"/>
                </a:solidFill>
                <a:effectLst/>
                <a:latin typeface="+mn-lt"/>
                <a:ea typeface="+mn-ea"/>
                <a:cs typeface="+mn-cs"/>
              </a:rPr>
              <a:t>Real-time sensitivity analysis reveals aberration and design trade-offs</a:t>
            </a:r>
            <a:endParaRPr lang="zh-CN" altLang="zh-CN" sz="1200" b="1"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Demonstrated on a simpler triplet lens, sweeping Lens 2.</a:t>
            </a:r>
            <a:endParaRPr lang="zh-CN" altLang="zh-CN" sz="1200" b="1"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Sweep thickness. overall spot size falls monotonically, but every aberration type grows: thickness trades global blur for corner sharpness.</a:t>
            </a:r>
            <a:endParaRPr lang="zh-CN" altLang="zh-CN" sz="1200" kern="1200" dirty="0">
              <a:solidFill>
                <a:schemeClr val="tx1"/>
              </a:solidFill>
              <a:effectLst/>
              <a:latin typeface="+mn-lt"/>
              <a:ea typeface="+mn-ea"/>
              <a:cs typeface="+mn-cs"/>
            </a:endParaRPr>
          </a:p>
          <a:p>
            <a:pPr lvl="0"/>
            <a:r>
              <a:rPr lang="en-US" altLang="zh-CN" sz="1200" kern="1200" dirty="0">
                <a:solidFill>
                  <a:schemeClr val="tx1"/>
                </a:solidFill>
                <a:effectLst/>
                <a:latin typeface="+mn-lt"/>
                <a:ea typeface="+mn-ea"/>
                <a:cs typeface="+mn-cs"/>
              </a:rPr>
              <a:t>Design trade-off (sweep front curvature): moving off the nominal value reduces individual aberrations (COMA, FCUR, ASTI) but increases overall spot size.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Outcome: real-time design-space exploration, no perturb-and-retrace the lens.</a:t>
            </a:r>
            <a:endParaRPr lang="zh-CN" altLang="zh-C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51A8359-C6B7-59CC-FEB3-9A426C127CB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84393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5A4E-DF10-D3E8-85D1-9CFB0F0F5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8A9AF-B344-4CA3-302C-E4164B04C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84999-7019-BF16-A7A3-A9F01D90DF5B}"/>
              </a:ext>
            </a:extLst>
          </p:cNvPr>
          <p:cNvSpPr>
            <a:spLocks noGrp="1"/>
          </p:cNvSpPr>
          <p:nvPr>
            <p:ph type="body" idx="1"/>
          </p:nvPr>
        </p:nvSpPr>
        <p:spPr/>
        <p:txBody>
          <a:bodyPr/>
          <a:lstStyle/>
          <a:p>
            <a:r>
              <a:rPr lang="en-US" altLang="zh-CN" b="1" dirty="0"/>
              <a:t>Slide 8 (Limitations)</a:t>
            </a:r>
            <a:r>
              <a:rPr lang="en-US" altLang="zh-CN" dirty="0"/>
              <a:t> does good work owning a real weakness (accuracy degrades past 60° </a:t>
            </a:r>
            <a:r>
              <a:rPr lang="en-US" altLang="zh-CN" dirty="0" err="1"/>
              <a:t>FoV</a:t>
            </a:r>
            <a:r>
              <a:rPr lang="en-US" altLang="zh-CN" dirty="0"/>
              <a:t>) — keep this, it's a strength for Q&amp;A credibility, but it can go fast (30–40 sec) since the checkmarks/X already tell the story visually.</a:t>
            </a:r>
            <a:endParaRPr lang="en-US" dirty="0"/>
          </a:p>
        </p:txBody>
      </p:sp>
      <p:sp>
        <p:nvSpPr>
          <p:cNvPr id="4" name="Slide Number Placeholder 3">
            <a:extLst>
              <a:ext uri="{FF2B5EF4-FFF2-40B4-BE49-F238E27FC236}">
                <a16:creationId xmlns:a16="http://schemas.microsoft.com/office/drawing/2014/main" id="{BB8C1562-8305-D3F4-BB3B-C7D1038FCC8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818728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A55F0-9869-68F7-53A1-28F745020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0AA4F-E1BD-66AD-B08C-254BA621C0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7B8BFA-7ACD-606E-76B3-B5BE268FD4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96D914-5F4C-B9EE-2C9D-9CAAE437EFA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43992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1959952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1177757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9/17/26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1897987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1797901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0605080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9/17/26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2113389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9/17/26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4898484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9/17/26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5203354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9/17/26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8778827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8889817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87433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0879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9/17/26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7242173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slideLayout" Target="../slideLayouts/slideLayout12.xm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notesSlide" Target="../notesSlides/notesSlide2.xml"/><Relationship Id="rId9" Type="http://schemas.openxmlformats.org/officeDocument/2006/relationships/image" Target="../media/image6.png"/><Relationship Id="rId1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0.png"/><Relationship Id="rId7" Type="http://schemas.openxmlformats.org/officeDocument/2006/relationships/image" Target="../media/image60.png"/><Relationship Id="rId12" Type="http://schemas.openxmlformats.org/officeDocument/2006/relationships/image" Target="../media/image110.png"/><Relationship Id="rId17" Type="http://schemas.openxmlformats.org/officeDocument/2006/relationships/image" Target="../media/image16.gif"/><Relationship Id="rId2" Type="http://schemas.openxmlformats.org/officeDocument/2006/relationships/notesSlide" Target="../notesSlides/notesSlide3.xml"/><Relationship Id="rId16" Type="http://schemas.openxmlformats.org/officeDocument/2006/relationships/image" Target="../media/image15.png"/><Relationship Id="rId1" Type="http://schemas.openxmlformats.org/officeDocument/2006/relationships/slideLayout" Target="../slideLayouts/slideLayout12.xml"/><Relationship Id="rId6" Type="http://schemas.openxmlformats.org/officeDocument/2006/relationships/image" Target="../media/image13.jpg"/><Relationship Id="rId11" Type="http://schemas.openxmlformats.org/officeDocument/2006/relationships/image" Target="../media/image100.png"/><Relationship Id="rId5" Type="http://schemas.openxmlformats.org/officeDocument/2006/relationships/image" Target="../media/image12.jpg"/><Relationship Id="rId15" Type="http://schemas.openxmlformats.org/officeDocument/2006/relationships/image" Target="../media/image14.png"/><Relationship Id="rId10" Type="http://schemas.openxmlformats.org/officeDocument/2006/relationships/image" Target="../media/image90.png"/><Relationship Id="rId19" Type="http://schemas.openxmlformats.org/officeDocument/2006/relationships/image" Target="../media/image18.png"/><Relationship Id="rId4" Type="http://schemas.openxmlformats.org/officeDocument/2006/relationships/image" Target="../media/image30.png"/><Relationship Id="rId9" Type="http://schemas.openxmlformats.org/officeDocument/2006/relationships/image" Target="../media/image80.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9"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chart" Target="../charts/chart1.xml"/><Relationship Id="rId3" Type="http://schemas.openxmlformats.org/officeDocument/2006/relationships/image" Target="../media/image150.png"/><Relationship Id="rId7" Type="http://schemas.openxmlformats.org/officeDocument/2006/relationships/image" Target="../media/image18.emf"/><Relationship Id="rId12"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emf"/><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20.emf"/></Relationships>
</file>

<file path=ppt/slides/_rels/slide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1.emf"/></Relationships>
</file>

<file path=ppt/slides/_rels/slide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3.emf"/></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6.png"/><Relationship Id="rId7" Type="http://schemas.openxmlformats.org/officeDocument/2006/relationships/image" Target="../media/image25.emf"/><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2.png"/><Relationship Id="rId4" Type="http://schemas.openxmlformats.org/officeDocument/2006/relationships/image" Target="../media/image24.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4" name="Text 1"/>
          <p:cNvSpPr txBox="1"/>
          <p:nvPr/>
        </p:nvSpPr>
        <p:spPr>
          <a:xfrm>
            <a:off x="640080" y="538844"/>
            <a:ext cx="6949440" cy="365760"/>
          </a:xfrm>
          <a:prstGeom prst="rect">
            <a:avLst/>
          </a:prstGeom>
          <a:noFill/>
          <a:ln/>
        </p:spPr>
        <p:txBody>
          <a:bodyPr wrap="square" lIns="0" tIns="0" rIns="0" bIns="0" rtlCol="0" anchor="ctr"/>
          <a:lstStyle/>
          <a:p>
            <a:pPr marL="0" indent="0">
              <a:buNone/>
            </a:pPr>
            <a:r>
              <a:rPr lang="en-US" sz="1400" b="1" kern="0" spc="200" dirty="0">
                <a:solidFill>
                  <a:srgbClr val="0070C0"/>
                </a:solidFill>
                <a:latin typeface="Calibri" pitchFamily="34" charset="0"/>
                <a:ea typeface="Calibri" pitchFamily="34" charset="-122"/>
                <a:cs typeface="Calibri" pitchFamily="34" charset="-120"/>
              </a:rPr>
              <a:t>SIGGRAPH ASIA 2026  •  TECHNICAL PAPERS</a:t>
            </a:r>
            <a:endParaRPr lang="en-US" sz="1400" dirty="0">
              <a:solidFill>
                <a:srgbClr val="0070C0"/>
              </a:solidFill>
            </a:endParaRPr>
          </a:p>
        </p:txBody>
      </p:sp>
      <p:grpSp>
        <p:nvGrpSpPr>
          <p:cNvPr id="11" name="组合 10">
            <a:extLst>
              <a:ext uri="{FF2B5EF4-FFF2-40B4-BE49-F238E27FC236}">
                <a16:creationId xmlns:a16="http://schemas.microsoft.com/office/drawing/2014/main" id="{249CF08E-0A10-4D75-EE28-2DDF6988F18D}"/>
              </a:ext>
            </a:extLst>
          </p:cNvPr>
          <p:cNvGrpSpPr/>
          <p:nvPr/>
        </p:nvGrpSpPr>
        <p:grpSpPr>
          <a:xfrm>
            <a:off x="1799356" y="904604"/>
            <a:ext cx="9967772" cy="5726441"/>
            <a:chOff x="2011792" y="766211"/>
            <a:chExt cx="9967772" cy="5726441"/>
          </a:xfrm>
        </p:grpSpPr>
        <p:pic>
          <p:nvPicPr>
            <p:cNvPr id="9" name="图片 8">
              <a:extLst>
                <a:ext uri="{FF2B5EF4-FFF2-40B4-BE49-F238E27FC236}">
                  <a16:creationId xmlns:a16="http://schemas.microsoft.com/office/drawing/2014/main" id="{2C3184D4-43B5-6505-3ECB-F25A28CC849A}"/>
                </a:ext>
              </a:extLst>
            </p:cNvPr>
            <p:cNvPicPr>
              <a:picLocks noChangeAspect="1"/>
            </p:cNvPicPr>
            <p:nvPr/>
          </p:nvPicPr>
          <p:blipFill>
            <a:blip r:embed="rId3"/>
            <a:srcRect r="3026"/>
            <a:stretch>
              <a:fillRect/>
            </a:stretch>
          </p:blipFill>
          <p:spPr>
            <a:xfrm>
              <a:off x="2011792" y="766211"/>
              <a:ext cx="9967772" cy="5726441"/>
            </a:xfrm>
            <a:prstGeom prst="rect">
              <a:avLst/>
            </a:prstGeom>
          </p:spPr>
        </p:pic>
        <p:sp>
          <p:nvSpPr>
            <p:cNvPr id="10" name="矩形 9">
              <a:extLst>
                <a:ext uri="{FF2B5EF4-FFF2-40B4-BE49-F238E27FC236}">
                  <a16:creationId xmlns:a16="http://schemas.microsoft.com/office/drawing/2014/main" id="{500FE2F8-068C-6AE4-B062-551E26B37125}"/>
                </a:ext>
              </a:extLst>
            </p:cNvPr>
            <p:cNvSpPr/>
            <p:nvPr/>
          </p:nvSpPr>
          <p:spPr>
            <a:xfrm>
              <a:off x="2235444" y="922156"/>
              <a:ext cx="7573934" cy="5505183"/>
            </a:xfrm>
            <a:prstGeom prst="rect">
              <a:avLst/>
            </a:prstGeom>
            <a:gradFill>
              <a:gsLst>
                <a:gs pos="0">
                  <a:schemeClr val="bg1"/>
                </a:gs>
                <a:gs pos="100000">
                  <a:schemeClr val="bg1">
                    <a:alpha val="0"/>
                    <a:lumMod val="0"/>
                    <a:lumOff val="10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z</a:t>
              </a:r>
              <a:endParaRPr kumimoji="1" lang="zh-CN" altLang="en-US" dirty="0"/>
            </a:p>
          </p:txBody>
        </p:sp>
      </p:grpSp>
      <p:sp>
        <p:nvSpPr>
          <p:cNvPr id="5" name="Text 2"/>
          <p:cNvSpPr txBox="1"/>
          <p:nvPr/>
        </p:nvSpPr>
        <p:spPr>
          <a:xfrm>
            <a:off x="594360" y="996044"/>
            <a:ext cx="7132320" cy="1188720"/>
          </a:xfrm>
          <a:prstGeom prst="rect">
            <a:avLst/>
          </a:prstGeom>
          <a:noFill/>
          <a:ln/>
        </p:spPr>
        <p:txBody>
          <a:bodyPr wrap="square" lIns="0" tIns="0" rIns="0" bIns="0" rtlCol="0" anchor="ctr"/>
          <a:lstStyle/>
          <a:p>
            <a:pPr marL="0" indent="0">
              <a:buNone/>
            </a:pPr>
            <a:r>
              <a:rPr lang="en-US" sz="6000" b="1" dirty="0">
                <a:solidFill>
                  <a:srgbClr val="2D5695"/>
                </a:solidFill>
                <a:latin typeface="Palatino" pitchFamily="2" charset="0"/>
                <a:ea typeface="Palatino" pitchFamily="2" charset="0"/>
                <a:cs typeface="Cambria" pitchFamily="34" charset="-120"/>
              </a:rPr>
              <a:t>LieOptics</a:t>
            </a:r>
            <a:endParaRPr lang="en-US" sz="6000" b="1" dirty="0">
              <a:solidFill>
                <a:srgbClr val="2D5695"/>
              </a:solidFill>
              <a:latin typeface="Palatino" pitchFamily="2" charset="0"/>
              <a:ea typeface="Palatino" pitchFamily="2" charset="0"/>
            </a:endParaRPr>
          </a:p>
        </p:txBody>
      </p:sp>
      <p:sp>
        <p:nvSpPr>
          <p:cNvPr id="6" name="Text 3"/>
          <p:cNvSpPr txBox="1"/>
          <p:nvPr/>
        </p:nvSpPr>
        <p:spPr>
          <a:xfrm>
            <a:off x="640080" y="2047604"/>
            <a:ext cx="8051338" cy="822960"/>
          </a:xfrm>
          <a:prstGeom prst="rect">
            <a:avLst/>
          </a:prstGeom>
          <a:noFill/>
          <a:ln/>
        </p:spPr>
        <p:txBody>
          <a:bodyPr wrap="square" lIns="0" tIns="0" rIns="0" bIns="0" rtlCol="0" anchor="ctr"/>
          <a:lstStyle/>
          <a:p>
            <a:pPr marL="0" indent="0">
              <a:buNone/>
            </a:pPr>
            <a:r>
              <a:rPr lang="en-US" sz="2400" dirty="0">
                <a:solidFill>
                  <a:srgbClr val="2D5695"/>
                </a:solidFill>
                <a:latin typeface="Calibri" pitchFamily="34" charset="0"/>
                <a:ea typeface="Calibri" pitchFamily="34" charset="-122"/>
                <a:cs typeface="Calibri" pitchFamily="34" charset="-120"/>
              </a:rPr>
              <a:t>A Ray-Free Framework for Optical Modeling and Analysis</a:t>
            </a:r>
            <a:endParaRPr lang="en-US" sz="2400" dirty="0">
              <a:solidFill>
                <a:srgbClr val="2D5695"/>
              </a:solidFill>
            </a:endParaRPr>
          </a:p>
        </p:txBody>
      </p:sp>
      <p:sp>
        <p:nvSpPr>
          <p:cNvPr id="7" name="Text 4"/>
          <p:cNvSpPr txBox="1"/>
          <p:nvPr/>
        </p:nvSpPr>
        <p:spPr>
          <a:xfrm>
            <a:off x="640080" y="5760720"/>
            <a:ext cx="6949440" cy="365760"/>
          </a:xfrm>
          <a:prstGeom prst="rect">
            <a:avLst/>
          </a:prstGeom>
          <a:noFill/>
          <a:ln/>
        </p:spPr>
        <p:txBody>
          <a:bodyPr wrap="square" lIns="0" tIns="0" rIns="0" bIns="0" rtlCol="0" anchor="ctr"/>
          <a:lstStyle/>
          <a:p>
            <a:pPr marL="0" indent="0">
              <a:buNone/>
            </a:pPr>
            <a:r>
              <a:rPr lang="en-US" sz="2000" dirty="0">
                <a:solidFill>
                  <a:srgbClr val="2D5695"/>
                </a:solidFill>
                <a:latin typeface="Calibri" pitchFamily="34" charset="0"/>
                <a:ea typeface="Calibri" pitchFamily="34" charset="-122"/>
                <a:cs typeface="Calibri" pitchFamily="34" charset="-120"/>
              </a:rPr>
              <a:t>Haosheng Shi   ·   Praneeth Chakravarthula</a:t>
            </a:r>
            <a:endParaRPr lang="en-US" sz="2000" dirty="0">
              <a:solidFill>
                <a:srgbClr val="2D5695"/>
              </a:solidFill>
            </a:endParaRPr>
          </a:p>
        </p:txBody>
      </p:sp>
      <p:sp>
        <p:nvSpPr>
          <p:cNvPr id="8" name="Text 5"/>
          <p:cNvSpPr txBox="1"/>
          <p:nvPr/>
        </p:nvSpPr>
        <p:spPr>
          <a:xfrm>
            <a:off x="640080" y="6108192"/>
            <a:ext cx="6949440" cy="365760"/>
          </a:xfrm>
          <a:prstGeom prst="rect">
            <a:avLst/>
          </a:prstGeom>
          <a:noFill/>
          <a:ln/>
        </p:spPr>
        <p:txBody>
          <a:bodyPr wrap="square" lIns="0" tIns="0" rIns="0" bIns="0" rtlCol="0" anchor="ctr"/>
          <a:lstStyle/>
          <a:p>
            <a:pPr marL="0" indent="0">
              <a:buNone/>
            </a:pPr>
            <a:r>
              <a:rPr lang="en-US" sz="2000" dirty="0">
                <a:solidFill>
                  <a:srgbClr val="8A97A8"/>
                </a:solidFill>
                <a:latin typeface="Calibri" pitchFamily="34" charset="0"/>
                <a:ea typeface="Calibri" pitchFamily="34" charset="-122"/>
                <a:cs typeface="Calibri" pitchFamily="34" charset="-120"/>
              </a:rPr>
              <a:t>University of North Carolina at Chapel Hill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212"/>
            <a:ext cx="7315200" cy="365760"/>
          </a:xfrm>
          <a:prstGeom prst="rect">
            <a:avLst/>
          </a:prstGeom>
          <a:noFill/>
          <a:ln/>
        </p:spPr>
        <p:txBody>
          <a:bodyPr wrap="square" lIns="0" tIns="0" rIns="0" bIns="0" rtlCol="0" anchor="ctr"/>
          <a:lstStyle/>
          <a:p>
            <a:pPr marL="0" indent="0">
              <a:buNone/>
            </a:pPr>
            <a:r>
              <a:rPr lang="en-US" sz="1400" b="1" kern="0" spc="200" dirty="0">
                <a:solidFill>
                  <a:srgbClr val="5B7A9D"/>
                </a:solidFill>
                <a:latin typeface="Calibri" pitchFamily="34" charset="0"/>
                <a:ea typeface="Calibri" pitchFamily="34" charset="-122"/>
                <a:cs typeface="Calibri" pitchFamily="34" charset="-120"/>
              </a:rPr>
              <a:t>THE PROBLEM</a:t>
            </a:r>
            <a:endParaRPr lang="en-US" sz="1400" dirty="0"/>
          </a:p>
        </p:txBody>
      </p:sp>
      <p:sp>
        <p:nvSpPr>
          <p:cNvPr id="3" name="Text 1"/>
          <p:cNvSpPr txBox="1"/>
          <p:nvPr/>
        </p:nvSpPr>
        <p:spPr>
          <a:xfrm>
            <a:off x="548640" y="478510"/>
            <a:ext cx="11064240" cy="822960"/>
          </a:xfrm>
          <a:prstGeom prst="rect">
            <a:avLst/>
          </a:prstGeom>
          <a:noFill/>
          <a:ln/>
        </p:spPr>
        <p:txBody>
          <a:bodyPr wrap="square" lIns="0" tIns="0" rIns="0" bIns="0" rtlCol="0" anchor="ctr"/>
          <a:lstStyle/>
          <a:p>
            <a:pPr marL="0" indent="0">
              <a:buNone/>
            </a:pPr>
            <a:r>
              <a:rPr lang="en-US" sz="3200" b="1" dirty="0">
                <a:solidFill>
                  <a:srgbClr val="2D5695"/>
                </a:solidFill>
                <a:ea typeface="Cambria" pitchFamily="34" charset="-122"/>
                <a:cs typeface="Cambria" pitchFamily="34" charset="-120"/>
              </a:rPr>
              <a:t>Ray tracing obscures the origin of aberrations</a:t>
            </a:r>
            <a:endParaRPr lang="en-US" sz="3200" dirty="0">
              <a:solidFill>
                <a:srgbClr val="2D5695"/>
              </a:solidFill>
            </a:endParaRPr>
          </a:p>
        </p:txBody>
      </p:sp>
      <p:grpSp>
        <p:nvGrpSpPr>
          <p:cNvPr id="127" name="组合 126">
            <a:extLst>
              <a:ext uri="{FF2B5EF4-FFF2-40B4-BE49-F238E27FC236}">
                <a16:creationId xmlns:a16="http://schemas.microsoft.com/office/drawing/2014/main" id="{3F127DBD-E8CC-8413-6652-E2F6EA0B5658}"/>
              </a:ext>
            </a:extLst>
          </p:cNvPr>
          <p:cNvGrpSpPr/>
          <p:nvPr/>
        </p:nvGrpSpPr>
        <p:grpSpPr>
          <a:xfrm>
            <a:off x="548640" y="1751005"/>
            <a:ext cx="4368652" cy="1232262"/>
            <a:chOff x="816959" y="2074165"/>
            <a:chExt cx="4368652" cy="1232262"/>
          </a:xfrm>
        </p:grpSpPr>
        <p:sp>
          <p:nvSpPr>
            <p:cNvPr id="9" name="Shape 7"/>
            <p:cNvSpPr/>
            <p:nvPr/>
          </p:nvSpPr>
          <p:spPr>
            <a:xfrm>
              <a:off x="915232" y="2102636"/>
              <a:ext cx="4270379" cy="1203791"/>
            </a:xfrm>
            <a:prstGeom prst="roundRect">
              <a:avLst>
                <a:gd name="adj" fmla="val 5668"/>
              </a:avLst>
            </a:prstGeom>
            <a:solidFill>
              <a:srgbClr val="E9EEF6"/>
            </a:solidFill>
            <a:ln/>
          </p:spPr>
          <p:txBody>
            <a:bodyPr/>
            <a:lstStyle/>
            <a:p>
              <a:endParaRPr lang="zh-CN" altLang="en-US" dirty="0"/>
            </a:p>
          </p:txBody>
        </p:sp>
        <p:sp>
          <p:nvSpPr>
            <p:cNvPr id="10" name="Shape 8"/>
            <p:cNvSpPr/>
            <p:nvPr/>
          </p:nvSpPr>
          <p:spPr>
            <a:xfrm>
              <a:off x="816959" y="2080871"/>
              <a:ext cx="463290" cy="478835"/>
            </a:xfrm>
            <a:prstGeom prst="ellipse">
              <a:avLst/>
            </a:prstGeom>
            <a:solidFill>
              <a:srgbClr val="2D5695"/>
            </a:solidFill>
            <a:ln/>
          </p:spPr>
          <p:txBody>
            <a:bodyPr/>
            <a:lstStyle/>
            <a:p>
              <a:endParaRPr lang="zh-CN" altLang="en-US"/>
            </a:p>
          </p:txBody>
        </p:sp>
        <p:sp>
          <p:nvSpPr>
            <p:cNvPr id="11" name="Text 9"/>
            <p:cNvSpPr txBox="1"/>
            <p:nvPr/>
          </p:nvSpPr>
          <p:spPr>
            <a:xfrm>
              <a:off x="816959" y="2074165"/>
              <a:ext cx="463290" cy="478835"/>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1</a:t>
              </a:r>
              <a:endParaRPr lang="en-US" sz="2000" dirty="0">
                <a:solidFill>
                  <a:schemeClr val="bg1"/>
                </a:solidFill>
              </a:endParaRPr>
            </a:p>
          </p:txBody>
        </p:sp>
        <p:sp>
          <p:nvSpPr>
            <p:cNvPr id="12" name="Text 10"/>
            <p:cNvSpPr txBox="1"/>
            <p:nvPr/>
          </p:nvSpPr>
          <p:spPr>
            <a:xfrm>
              <a:off x="1378521" y="2130531"/>
              <a:ext cx="3038823" cy="379513"/>
            </a:xfrm>
            <a:prstGeom prst="rect">
              <a:avLst/>
            </a:prstGeom>
            <a:noFill/>
            <a:ln/>
          </p:spPr>
          <p:txBody>
            <a:bodyPr wrap="square" lIns="0" tIns="0" rIns="0" bIns="0" rtlCol="0" anchor="ctr"/>
            <a:lstStyle/>
            <a:p>
              <a:r>
                <a:rPr lang="en-US" altLang="zh-CN" b="1" dirty="0">
                  <a:solidFill>
                    <a:srgbClr val="13294B"/>
                  </a:solidFill>
                  <a:latin typeface="Georgia" panose="02040502050405020303" pitchFamily="18" charset="0"/>
                </a:rPr>
                <a:t>Pointwise sampling</a:t>
              </a:r>
              <a:endParaRPr lang="en-US" b="1" dirty="0">
                <a:solidFill>
                  <a:srgbClr val="13294B"/>
                </a:solidFill>
                <a:latin typeface="Georgia" panose="02040502050405020303" pitchFamily="18" charset="0"/>
              </a:endParaRPr>
            </a:p>
          </p:txBody>
        </p:sp>
        <p:sp>
          <p:nvSpPr>
            <p:cNvPr id="13" name="Text 11"/>
            <p:cNvSpPr txBox="1"/>
            <p:nvPr/>
          </p:nvSpPr>
          <p:spPr>
            <a:xfrm>
              <a:off x="1404565" y="2320287"/>
              <a:ext cx="3580133" cy="986140"/>
            </a:xfrm>
            <a:prstGeom prst="rect">
              <a:avLst/>
            </a:prstGeom>
            <a:noFill/>
            <a:ln/>
          </p:spPr>
          <p:txBody>
            <a:bodyPr wrap="square" lIns="0" tIns="0" rIns="0" bIns="0" rtlCol="0" anchor="ctr"/>
            <a:lstStyle/>
            <a:p>
              <a:pPr>
                <a:lnSpc>
                  <a:spcPct val="115000"/>
                </a:lnSpc>
              </a:pPr>
              <a:r>
                <a:rPr lang="en-US" altLang="zh-CN" dirty="0">
                  <a:solidFill>
                    <a:srgbClr val="1F3A63"/>
                  </a:solidFill>
                </a:rPr>
                <a:t>Does not model a ray bundle or a lens as a whole.</a:t>
              </a:r>
              <a:endParaRPr lang="en-US" sz="1600" dirty="0">
                <a:solidFill>
                  <a:srgbClr val="1F3A63"/>
                </a:solidFill>
              </a:endParaRPr>
            </a:p>
          </p:txBody>
        </p:sp>
      </p:grpSp>
      <p:grpSp>
        <p:nvGrpSpPr>
          <p:cNvPr id="128" name="组合 127">
            <a:extLst>
              <a:ext uri="{FF2B5EF4-FFF2-40B4-BE49-F238E27FC236}">
                <a16:creationId xmlns:a16="http://schemas.microsoft.com/office/drawing/2014/main" id="{CFBF9855-B42C-D2F4-A0A3-170AD5C40227}"/>
              </a:ext>
            </a:extLst>
          </p:cNvPr>
          <p:cNvGrpSpPr/>
          <p:nvPr/>
        </p:nvGrpSpPr>
        <p:grpSpPr>
          <a:xfrm>
            <a:off x="548640" y="3323707"/>
            <a:ext cx="4368652" cy="1232262"/>
            <a:chOff x="816959" y="2074165"/>
            <a:chExt cx="4368652" cy="1232262"/>
          </a:xfrm>
        </p:grpSpPr>
        <p:sp>
          <p:nvSpPr>
            <p:cNvPr id="129" name="Shape 7">
              <a:extLst>
                <a:ext uri="{FF2B5EF4-FFF2-40B4-BE49-F238E27FC236}">
                  <a16:creationId xmlns:a16="http://schemas.microsoft.com/office/drawing/2014/main" id="{0E340D47-464C-2F81-DC31-A5CB71B2F6BA}"/>
                </a:ext>
              </a:extLst>
            </p:cNvPr>
            <p:cNvSpPr/>
            <p:nvPr/>
          </p:nvSpPr>
          <p:spPr>
            <a:xfrm>
              <a:off x="915232" y="2102636"/>
              <a:ext cx="4270379" cy="1203791"/>
            </a:xfrm>
            <a:prstGeom prst="roundRect">
              <a:avLst>
                <a:gd name="adj" fmla="val 5668"/>
              </a:avLst>
            </a:prstGeom>
            <a:solidFill>
              <a:srgbClr val="E9EEF6"/>
            </a:solidFill>
            <a:ln/>
          </p:spPr>
          <p:txBody>
            <a:bodyPr/>
            <a:lstStyle/>
            <a:p>
              <a:endParaRPr lang="zh-CN" altLang="en-US" dirty="0"/>
            </a:p>
          </p:txBody>
        </p:sp>
        <p:sp>
          <p:nvSpPr>
            <p:cNvPr id="130" name="Shape 8">
              <a:extLst>
                <a:ext uri="{FF2B5EF4-FFF2-40B4-BE49-F238E27FC236}">
                  <a16:creationId xmlns:a16="http://schemas.microsoft.com/office/drawing/2014/main" id="{15EDEA4F-AEA1-AFF5-6FAA-E7F411CEAB3B}"/>
                </a:ext>
              </a:extLst>
            </p:cNvPr>
            <p:cNvSpPr/>
            <p:nvPr/>
          </p:nvSpPr>
          <p:spPr>
            <a:xfrm>
              <a:off x="816959" y="2080871"/>
              <a:ext cx="463290" cy="478835"/>
            </a:xfrm>
            <a:prstGeom prst="ellipse">
              <a:avLst/>
            </a:prstGeom>
            <a:solidFill>
              <a:srgbClr val="2D5695"/>
            </a:solidFill>
            <a:ln/>
          </p:spPr>
          <p:txBody>
            <a:bodyPr/>
            <a:lstStyle/>
            <a:p>
              <a:endParaRPr lang="zh-CN" altLang="en-US"/>
            </a:p>
          </p:txBody>
        </p:sp>
        <p:sp>
          <p:nvSpPr>
            <p:cNvPr id="131" name="Text 9">
              <a:extLst>
                <a:ext uri="{FF2B5EF4-FFF2-40B4-BE49-F238E27FC236}">
                  <a16:creationId xmlns:a16="http://schemas.microsoft.com/office/drawing/2014/main" id="{6EED8A5E-9172-0EC3-06F3-5D603CB6C5D8}"/>
                </a:ext>
              </a:extLst>
            </p:cNvPr>
            <p:cNvSpPr txBox="1"/>
            <p:nvPr/>
          </p:nvSpPr>
          <p:spPr>
            <a:xfrm>
              <a:off x="816959" y="2074165"/>
              <a:ext cx="463290" cy="478835"/>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2</a:t>
              </a:r>
              <a:endParaRPr lang="en-US" sz="2000" dirty="0">
                <a:solidFill>
                  <a:schemeClr val="bg1"/>
                </a:solidFill>
              </a:endParaRPr>
            </a:p>
          </p:txBody>
        </p:sp>
        <p:sp>
          <p:nvSpPr>
            <p:cNvPr id="132" name="Text 10">
              <a:extLst>
                <a:ext uri="{FF2B5EF4-FFF2-40B4-BE49-F238E27FC236}">
                  <a16:creationId xmlns:a16="http://schemas.microsoft.com/office/drawing/2014/main" id="{04E84186-443C-98E8-B81D-B907AA1A564F}"/>
                </a:ext>
              </a:extLst>
            </p:cNvPr>
            <p:cNvSpPr txBox="1"/>
            <p:nvPr/>
          </p:nvSpPr>
          <p:spPr>
            <a:xfrm>
              <a:off x="1378521" y="2130531"/>
              <a:ext cx="3038823" cy="379513"/>
            </a:xfrm>
            <a:prstGeom prst="rect">
              <a:avLst/>
            </a:prstGeom>
            <a:noFill/>
            <a:ln/>
          </p:spPr>
          <p:txBody>
            <a:bodyPr wrap="square" lIns="0" tIns="0" rIns="0" bIns="0" rtlCol="0" anchor="ctr"/>
            <a:lstStyle/>
            <a:p>
              <a:r>
                <a:rPr lang="en-US" altLang="zh-CN" b="1" dirty="0">
                  <a:solidFill>
                    <a:srgbClr val="13294B"/>
                  </a:solidFill>
                  <a:latin typeface="Georgia" panose="02040502050405020303" pitchFamily="18" charset="0"/>
                </a:rPr>
                <a:t>Aggregate metrics</a:t>
              </a:r>
              <a:endParaRPr lang="en-US" b="1" dirty="0">
                <a:solidFill>
                  <a:srgbClr val="13294B"/>
                </a:solidFill>
                <a:latin typeface="Georgia" panose="02040502050405020303" pitchFamily="18" charset="0"/>
              </a:endParaRPr>
            </a:p>
          </p:txBody>
        </p:sp>
        <p:sp>
          <p:nvSpPr>
            <p:cNvPr id="133" name="Text 11">
              <a:extLst>
                <a:ext uri="{FF2B5EF4-FFF2-40B4-BE49-F238E27FC236}">
                  <a16:creationId xmlns:a16="http://schemas.microsoft.com/office/drawing/2014/main" id="{FDED1F4C-1156-4693-DC0D-A518F6D036DB}"/>
                </a:ext>
              </a:extLst>
            </p:cNvPr>
            <p:cNvSpPr txBox="1"/>
            <p:nvPr/>
          </p:nvSpPr>
          <p:spPr>
            <a:xfrm>
              <a:off x="1404565" y="2320287"/>
              <a:ext cx="3580133" cy="986140"/>
            </a:xfrm>
            <a:prstGeom prst="rect">
              <a:avLst/>
            </a:prstGeom>
            <a:noFill/>
            <a:ln/>
          </p:spPr>
          <p:txBody>
            <a:bodyPr wrap="square" lIns="0" tIns="0" rIns="0" bIns="0" rtlCol="0" anchor="ctr"/>
            <a:lstStyle/>
            <a:p>
              <a:pPr>
                <a:lnSpc>
                  <a:spcPct val="115000"/>
                </a:lnSpc>
              </a:pPr>
              <a:r>
                <a:rPr lang="en-US" altLang="zh-CN" dirty="0">
                  <a:solidFill>
                    <a:srgbClr val="1F3A63"/>
                  </a:solidFill>
                </a:rPr>
                <a:t>Folds every aberration type together, with limited breakdown by element.</a:t>
              </a:r>
              <a:endParaRPr lang="en-US" sz="1600" dirty="0">
                <a:solidFill>
                  <a:srgbClr val="1F3A63"/>
                </a:solidFill>
              </a:endParaRPr>
            </a:p>
          </p:txBody>
        </p:sp>
      </p:grpSp>
      <p:grpSp>
        <p:nvGrpSpPr>
          <p:cNvPr id="134" name="组合 133">
            <a:extLst>
              <a:ext uri="{FF2B5EF4-FFF2-40B4-BE49-F238E27FC236}">
                <a16:creationId xmlns:a16="http://schemas.microsoft.com/office/drawing/2014/main" id="{2E3CA453-E4D4-330C-0F1F-D6E346849BD3}"/>
              </a:ext>
            </a:extLst>
          </p:cNvPr>
          <p:cNvGrpSpPr/>
          <p:nvPr/>
        </p:nvGrpSpPr>
        <p:grpSpPr>
          <a:xfrm>
            <a:off x="548640" y="4902538"/>
            <a:ext cx="4368652" cy="1232262"/>
            <a:chOff x="816959" y="2074165"/>
            <a:chExt cx="4368652" cy="1232262"/>
          </a:xfrm>
        </p:grpSpPr>
        <p:sp>
          <p:nvSpPr>
            <p:cNvPr id="135" name="Shape 7">
              <a:extLst>
                <a:ext uri="{FF2B5EF4-FFF2-40B4-BE49-F238E27FC236}">
                  <a16:creationId xmlns:a16="http://schemas.microsoft.com/office/drawing/2014/main" id="{C0F86997-F792-4FD5-99D4-C5BDCF453A0C}"/>
                </a:ext>
              </a:extLst>
            </p:cNvPr>
            <p:cNvSpPr/>
            <p:nvPr/>
          </p:nvSpPr>
          <p:spPr>
            <a:xfrm>
              <a:off x="915232" y="2102636"/>
              <a:ext cx="4270379" cy="1203791"/>
            </a:xfrm>
            <a:prstGeom prst="roundRect">
              <a:avLst>
                <a:gd name="adj" fmla="val 5668"/>
              </a:avLst>
            </a:prstGeom>
            <a:solidFill>
              <a:srgbClr val="E9EEF6"/>
            </a:solidFill>
            <a:ln/>
          </p:spPr>
          <p:txBody>
            <a:bodyPr/>
            <a:lstStyle/>
            <a:p>
              <a:endParaRPr lang="zh-CN" altLang="en-US" dirty="0"/>
            </a:p>
          </p:txBody>
        </p:sp>
        <p:sp>
          <p:nvSpPr>
            <p:cNvPr id="136" name="Shape 8">
              <a:extLst>
                <a:ext uri="{FF2B5EF4-FFF2-40B4-BE49-F238E27FC236}">
                  <a16:creationId xmlns:a16="http://schemas.microsoft.com/office/drawing/2014/main" id="{3F0ECE58-CB58-C136-A75B-078D5CBFA4E1}"/>
                </a:ext>
              </a:extLst>
            </p:cNvPr>
            <p:cNvSpPr/>
            <p:nvPr/>
          </p:nvSpPr>
          <p:spPr>
            <a:xfrm>
              <a:off x="816959" y="2080871"/>
              <a:ext cx="463290" cy="478835"/>
            </a:xfrm>
            <a:prstGeom prst="ellipse">
              <a:avLst/>
            </a:prstGeom>
            <a:solidFill>
              <a:srgbClr val="2D5695"/>
            </a:solidFill>
            <a:ln/>
          </p:spPr>
          <p:txBody>
            <a:bodyPr/>
            <a:lstStyle/>
            <a:p>
              <a:endParaRPr lang="zh-CN" altLang="en-US"/>
            </a:p>
          </p:txBody>
        </p:sp>
        <p:sp>
          <p:nvSpPr>
            <p:cNvPr id="137" name="Text 9">
              <a:extLst>
                <a:ext uri="{FF2B5EF4-FFF2-40B4-BE49-F238E27FC236}">
                  <a16:creationId xmlns:a16="http://schemas.microsoft.com/office/drawing/2014/main" id="{6D94E328-2FD3-CB6B-B030-EF479F8E3A56}"/>
                </a:ext>
              </a:extLst>
            </p:cNvPr>
            <p:cNvSpPr txBox="1"/>
            <p:nvPr/>
          </p:nvSpPr>
          <p:spPr>
            <a:xfrm>
              <a:off x="816959" y="2074165"/>
              <a:ext cx="463290" cy="478835"/>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3</a:t>
              </a:r>
              <a:endParaRPr lang="en-US" sz="2000" dirty="0">
                <a:solidFill>
                  <a:schemeClr val="bg1"/>
                </a:solidFill>
              </a:endParaRPr>
            </a:p>
          </p:txBody>
        </p:sp>
        <p:sp>
          <p:nvSpPr>
            <p:cNvPr id="138" name="Text 10">
              <a:extLst>
                <a:ext uri="{FF2B5EF4-FFF2-40B4-BE49-F238E27FC236}">
                  <a16:creationId xmlns:a16="http://schemas.microsoft.com/office/drawing/2014/main" id="{90320B3F-E753-00CF-9D51-CC6C8928A2C5}"/>
                </a:ext>
              </a:extLst>
            </p:cNvPr>
            <p:cNvSpPr txBox="1"/>
            <p:nvPr/>
          </p:nvSpPr>
          <p:spPr>
            <a:xfrm>
              <a:off x="1378521" y="2130531"/>
              <a:ext cx="3038823" cy="379513"/>
            </a:xfrm>
            <a:prstGeom prst="rect">
              <a:avLst/>
            </a:prstGeom>
            <a:noFill/>
            <a:ln/>
          </p:spPr>
          <p:txBody>
            <a:bodyPr wrap="square" lIns="0" tIns="0" rIns="0" bIns="0" rtlCol="0" anchor="ctr"/>
            <a:lstStyle/>
            <a:p>
              <a:r>
                <a:rPr lang="en-US" altLang="zh-CN" b="1" dirty="0">
                  <a:solidFill>
                    <a:srgbClr val="13294B"/>
                  </a:solidFill>
                  <a:latin typeface="Georgia" panose="02040502050405020303" pitchFamily="18" charset="0"/>
                </a:rPr>
                <a:t>Heuristic diagnosis</a:t>
              </a:r>
              <a:endParaRPr lang="en-US" b="1" dirty="0">
                <a:solidFill>
                  <a:srgbClr val="13294B"/>
                </a:solidFill>
                <a:latin typeface="Georgia" panose="02040502050405020303" pitchFamily="18" charset="0"/>
              </a:endParaRPr>
            </a:p>
          </p:txBody>
        </p:sp>
        <p:sp>
          <p:nvSpPr>
            <p:cNvPr id="139" name="Text 11">
              <a:extLst>
                <a:ext uri="{FF2B5EF4-FFF2-40B4-BE49-F238E27FC236}">
                  <a16:creationId xmlns:a16="http://schemas.microsoft.com/office/drawing/2014/main" id="{8A54EA98-E455-939E-8352-619EA1F81AFD}"/>
                </a:ext>
              </a:extLst>
            </p:cNvPr>
            <p:cNvSpPr txBox="1"/>
            <p:nvPr/>
          </p:nvSpPr>
          <p:spPr>
            <a:xfrm>
              <a:off x="1404565" y="2320287"/>
              <a:ext cx="3580133" cy="986140"/>
            </a:xfrm>
            <a:prstGeom prst="rect">
              <a:avLst/>
            </a:prstGeom>
            <a:noFill/>
            <a:ln/>
          </p:spPr>
          <p:txBody>
            <a:bodyPr wrap="square" lIns="0" tIns="0" rIns="0" bIns="0" rtlCol="0" anchor="ctr"/>
            <a:lstStyle/>
            <a:p>
              <a:pPr>
                <a:lnSpc>
                  <a:spcPct val="115000"/>
                </a:lnSpc>
              </a:pPr>
              <a:r>
                <a:rPr lang="en-US" altLang="zh-CN" dirty="0">
                  <a:solidFill>
                    <a:srgbClr val="1F3A63"/>
                  </a:solidFill>
                </a:rPr>
                <a:t>Different lenses, same spot pattern Can not tell them apart.</a:t>
              </a:r>
              <a:endParaRPr lang="en-US" sz="1600" dirty="0">
                <a:solidFill>
                  <a:srgbClr val="1F3A63"/>
                </a:solidFill>
              </a:endParaRPr>
            </a:p>
          </p:txBody>
        </p:sp>
      </p:grpSp>
      <p:sp>
        <p:nvSpPr>
          <p:cNvPr id="142" name="文本框 141">
            <a:extLst>
              <a:ext uri="{FF2B5EF4-FFF2-40B4-BE49-F238E27FC236}">
                <a16:creationId xmlns:a16="http://schemas.microsoft.com/office/drawing/2014/main" id="{88F0DE29-B5A0-3C04-62AE-8A230FF31A34}"/>
              </a:ext>
            </a:extLst>
          </p:cNvPr>
          <p:cNvSpPr txBox="1"/>
          <p:nvPr/>
        </p:nvSpPr>
        <p:spPr>
          <a:xfrm>
            <a:off x="8916546" y="6446520"/>
            <a:ext cx="3287486" cy="276999"/>
          </a:xfrm>
          <a:prstGeom prst="rect">
            <a:avLst/>
          </a:prstGeom>
          <a:noFill/>
        </p:spPr>
        <p:txBody>
          <a:bodyPr wrap="square">
            <a:spAutoFit/>
          </a:bodyPr>
          <a:lstStyle/>
          <a:p>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Haosheng Shi, Praneeth </a:t>
            </a:r>
            <a:r>
              <a:rPr lang="en-US" altLang="zh-CN" sz="1200" dirty="0" err="1">
                <a:solidFill>
                  <a:srgbClr val="8A97A8"/>
                </a:solidFill>
                <a:latin typeface="Gill Sans" panose="020B0502020104020203" pitchFamily="34" charset="-79"/>
                <a:ea typeface="Calibri" pitchFamily="34" charset="-122"/>
                <a:cs typeface="Gill Sans" panose="020B0502020104020203" pitchFamily="34" charset="-79"/>
              </a:rPr>
              <a:t>Chakravarthula</a:t>
            </a:r>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  ·   2</a:t>
            </a:r>
            <a:endParaRPr lang="en-US" altLang="zh-CN" sz="1200" dirty="0">
              <a:solidFill>
                <a:srgbClr val="8A97A8"/>
              </a:solidFill>
              <a:latin typeface="Gill Sans" panose="020B0502020104020203" pitchFamily="34" charset="-79"/>
              <a:cs typeface="Gill Sans" panose="020B0502020104020203" pitchFamily="34" charset="-79"/>
            </a:endParaRPr>
          </a:p>
        </p:txBody>
      </p:sp>
      <p:pic>
        <p:nvPicPr>
          <p:cNvPr id="4" name="slide2.mp4">
            <a:hlinkClick r:id="" action="ppaction://media"/>
            <a:extLst>
              <a:ext uri="{FF2B5EF4-FFF2-40B4-BE49-F238E27FC236}">
                <a16:creationId xmlns:a16="http://schemas.microsoft.com/office/drawing/2014/main" id="{E4056C0D-E645-B0CB-A94B-53B99409002C}"/>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10913" b="10903"/>
          <a:stretch>
            <a:fillRect/>
          </a:stretch>
        </p:blipFill>
        <p:spPr>
          <a:xfrm>
            <a:off x="5041608" y="2140703"/>
            <a:ext cx="6829193" cy="3337089"/>
          </a:xfrm>
          <a:prstGeom prst="rect">
            <a:avLst/>
          </a:prstGeom>
        </p:spPr>
      </p:pic>
      <p:pic>
        <p:nvPicPr>
          <p:cNvPr id="39" name="图片 38">
            <a:extLst>
              <a:ext uri="{FF2B5EF4-FFF2-40B4-BE49-F238E27FC236}">
                <a16:creationId xmlns:a16="http://schemas.microsoft.com/office/drawing/2014/main" id="{1D8D3193-E992-61DB-30C7-ABD0AE04BD57}"/>
              </a:ext>
            </a:extLst>
          </p:cNvPr>
          <p:cNvPicPr>
            <a:picLocks noChangeAspect="1"/>
          </p:cNvPicPr>
          <p:nvPr/>
        </p:nvPicPr>
        <p:blipFill>
          <a:blip r:embed="rId6">
            <a:alphaModFix/>
          </a:blip>
          <a:srcRect t="10530" b="6165"/>
          <a:stretch>
            <a:fillRect/>
          </a:stretch>
        </p:blipFill>
        <p:spPr>
          <a:xfrm>
            <a:off x="5037081" y="2121071"/>
            <a:ext cx="6855129" cy="3569128"/>
          </a:xfrm>
          <a:prstGeom prst="rect">
            <a:avLst/>
          </a:prstGeom>
        </p:spPr>
      </p:pic>
      <p:sp>
        <p:nvSpPr>
          <p:cNvPr id="8" name="文本框 7">
            <a:extLst>
              <a:ext uri="{FF2B5EF4-FFF2-40B4-BE49-F238E27FC236}">
                <a16:creationId xmlns:a16="http://schemas.microsoft.com/office/drawing/2014/main" id="{85E87BC8-F81B-9FA8-895C-97D3C854C228}"/>
              </a:ext>
            </a:extLst>
          </p:cNvPr>
          <p:cNvSpPr txBox="1"/>
          <p:nvPr/>
        </p:nvSpPr>
        <p:spPr>
          <a:xfrm>
            <a:off x="5570059" y="2051880"/>
            <a:ext cx="2119008" cy="369332"/>
          </a:xfrm>
          <a:prstGeom prst="rect">
            <a:avLst/>
          </a:prstGeom>
          <a:solidFill>
            <a:schemeClr val="bg1"/>
          </a:solidFill>
        </p:spPr>
        <p:txBody>
          <a:bodyPr wrap="square" rtlCol="0">
            <a:spAutoFit/>
          </a:bodyPr>
          <a:lstStyle/>
          <a:p>
            <a:r>
              <a:rPr kumimoji="1" lang="en-US" altLang="zh-CN" dirty="0">
                <a:solidFill>
                  <a:srgbClr val="2D5695"/>
                </a:solidFill>
                <a:latin typeface="Asana" panose="02000603000000000000" pitchFamily="2" charset="0"/>
                <a:ea typeface="Asana" panose="02000603000000000000" pitchFamily="2" charset="0"/>
                <a:cs typeface="Times New Roman" panose="02020603050405020304" pitchFamily="18" charset="0"/>
              </a:rPr>
              <a:t>Ray Tracing</a:t>
            </a:r>
            <a:endParaRPr kumimoji="1" lang="en-US" altLang="zh-CN" dirty="0">
              <a:solidFill>
                <a:srgbClr val="2D5695"/>
              </a:solidFill>
              <a:latin typeface="Asana Math" panose="02000603000000000000" pitchFamily="2" charset="0"/>
              <a:ea typeface="Asana Math" panose="02000603000000000000" pitchFamily="2" charset="0"/>
              <a:cs typeface="Times New Roman" panose="02020603050405020304" pitchFamily="18" charset="0"/>
            </a:endParaRPr>
          </a:p>
        </p:txBody>
      </p:sp>
      <p:grpSp>
        <p:nvGrpSpPr>
          <p:cNvPr id="37" name="组合 36">
            <a:extLst>
              <a:ext uri="{FF2B5EF4-FFF2-40B4-BE49-F238E27FC236}">
                <a16:creationId xmlns:a16="http://schemas.microsoft.com/office/drawing/2014/main" id="{94B15B6B-7858-8F29-9603-B69C9C4A11DF}"/>
              </a:ext>
            </a:extLst>
          </p:cNvPr>
          <p:cNvGrpSpPr/>
          <p:nvPr/>
        </p:nvGrpSpPr>
        <p:grpSpPr>
          <a:xfrm>
            <a:off x="5406625" y="4815761"/>
            <a:ext cx="4600655" cy="825969"/>
            <a:chOff x="10351402" y="8185234"/>
            <a:chExt cx="4600655" cy="825969"/>
          </a:xfrm>
        </p:grpSpPr>
        <p:sp>
          <p:nvSpPr>
            <p:cNvPr id="16" name="矩形 15">
              <a:extLst>
                <a:ext uri="{FF2B5EF4-FFF2-40B4-BE49-F238E27FC236}">
                  <a16:creationId xmlns:a16="http://schemas.microsoft.com/office/drawing/2014/main" id="{DF615210-7FD3-F5A1-BEA3-A017FD3C67A3}"/>
                </a:ext>
              </a:extLst>
            </p:cNvPr>
            <p:cNvSpPr/>
            <p:nvPr/>
          </p:nvSpPr>
          <p:spPr>
            <a:xfrm>
              <a:off x="11590166" y="8492802"/>
              <a:ext cx="361542" cy="423492"/>
            </a:xfrm>
            <a:prstGeom prst="rect">
              <a:avLst/>
            </a:prstGeom>
            <a:solidFill>
              <a:srgbClr val="DDCAAC">
                <a:alpha val="49781"/>
              </a:srgbClr>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7" name="矩形 16">
              <a:extLst>
                <a:ext uri="{FF2B5EF4-FFF2-40B4-BE49-F238E27FC236}">
                  <a16:creationId xmlns:a16="http://schemas.microsoft.com/office/drawing/2014/main" id="{7A5758B9-21F7-E198-AE36-B248E5676128}"/>
                </a:ext>
              </a:extLst>
            </p:cNvPr>
            <p:cNvSpPr/>
            <p:nvPr/>
          </p:nvSpPr>
          <p:spPr>
            <a:xfrm>
              <a:off x="11036587" y="8447340"/>
              <a:ext cx="361542" cy="423492"/>
            </a:xfrm>
            <a:prstGeom prst="rect">
              <a:avLst/>
            </a:prstGeom>
            <a:solidFill>
              <a:srgbClr val="B1CDAA"/>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8" name="矩形 17">
              <a:extLst>
                <a:ext uri="{FF2B5EF4-FFF2-40B4-BE49-F238E27FC236}">
                  <a16:creationId xmlns:a16="http://schemas.microsoft.com/office/drawing/2014/main" id="{B25891EF-D3DC-2F81-8F14-D84E4EC75A7A}"/>
                </a:ext>
              </a:extLst>
            </p:cNvPr>
            <p:cNvSpPr/>
            <p:nvPr/>
          </p:nvSpPr>
          <p:spPr>
            <a:xfrm>
              <a:off x="10520503" y="8425868"/>
              <a:ext cx="361542" cy="423492"/>
            </a:xfrm>
            <a:prstGeom prst="rect">
              <a:avLst/>
            </a:prstGeom>
            <a:solidFill>
              <a:srgbClr val="B1CFE4"/>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D0691AD5-6731-BE54-FD60-DE25359C3DC1}"/>
                    </a:ext>
                  </a:extLst>
                </p:cNvPr>
                <p:cNvSpPr txBox="1"/>
                <p:nvPr/>
              </p:nvSpPr>
              <p:spPr>
                <a:xfrm>
                  <a:off x="10553131" y="8494239"/>
                  <a:ext cx="30113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000" i="1">
                                <a:solidFill>
                                  <a:schemeClr val="tx1">
                                    <a:lumMod val="75000"/>
                                    <a:lumOff val="25000"/>
                                  </a:schemeClr>
                                </a:solidFill>
                                <a:latin typeface="Cambria Math" panose="02040503050406030204" pitchFamily="18" charset="0"/>
                              </a:rPr>
                            </m:ctrlPr>
                          </m:sSubPr>
                          <m:e>
                            <m:r>
                              <a:rPr kumimoji="1" lang="en-US" altLang="zh-CN" sz="2000" i="1">
                                <a:solidFill>
                                  <a:schemeClr val="tx1">
                                    <a:lumMod val="75000"/>
                                    <a:lumOff val="25000"/>
                                  </a:schemeClr>
                                </a:solidFill>
                                <a:latin typeface="Cambria Math" panose="02040503050406030204" pitchFamily="18" charset="0"/>
                              </a:rPr>
                              <m:t>𝐺</m:t>
                            </m:r>
                          </m:e>
                          <m:sub>
                            <m:r>
                              <a:rPr kumimoji="1" lang="en-US" altLang="zh-CN" sz="2000" i="1">
                                <a:solidFill>
                                  <a:schemeClr val="tx1">
                                    <a:lumMod val="75000"/>
                                    <a:lumOff val="25000"/>
                                  </a:schemeClr>
                                </a:solidFill>
                                <a:latin typeface="Cambria Math" panose="02040503050406030204" pitchFamily="18" charset="0"/>
                              </a:rPr>
                              <m:t>1</m:t>
                            </m:r>
                          </m:sub>
                        </m:sSub>
                      </m:oMath>
                    </m:oMathPara>
                  </a14:m>
                  <a:endParaRPr kumimoji="1" lang="zh-CN" altLang="en-US" sz="20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p:sp>
              <p:nvSpPr>
                <p:cNvPr id="19" name="文本框 18">
                  <a:extLst>
                    <a:ext uri="{FF2B5EF4-FFF2-40B4-BE49-F238E27FC236}">
                      <a16:creationId xmlns:a16="http://schemas.microsoft.com/office/drawing/2014/main" id="{D0691AD5-6731-BE54-FD60-DE25359C3DC1}"/>
                    </a:ext>
                  </a:extLst>
                </p:cNvPr>
                <p:cNvSpPr txBox="1">
                  <a:spLocks noRot="1" noChangeAspect="1" noMove="1" noResize="1" noEditPoints="1" noAdjustHandles="1" noChangeArrowheads="1" noChangeShapeType="1" noTextEdit="1"/>
                </p:cNvSpPr>
                <p:nvPr/>
              </p:nvSpPr>
              <p:spPr>
                <a:xfrm>
                  <a:off x="10553131" y="8494239"/>
                  <a:ext cx="301134" cy="307777"/>
                </a:xfrm>
                <a:prstGeom prst="rect">
                  <a:avLst/>
                </a:prstGeom>
                <a:blipFill>
                  <a:blip r:embed="rId7"/>
                  <a:stretch>
                    <a:fillRect l="-20000" r="-12000" b="-16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a:extLst>
                    <a:ext uri="{FF2B5EF4-FFF2-40B4-BE49-F238E27FC236}">
                      <a16:creationId xmlns:a16="http://schemas.microsoft.com/office/drawing/2014/main" id="{37969071-CA93-DD4B-9465-0E812D4C575F}"/>
                    </a:ext>
                  </a:extLst>
                </p:cNvPr>
                <p:cNvSpPr txBox="1"/>
                <p:nvPr/>
              </p:nvSpPr>
              <p:spPr>
                <a:xfrm>
                  <a:off x="11064367" y="8513092"/>
                  <a:ext cx="30649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000" i="1">
                                <a:solidFill>
                                  <a:schemeClr val="tx1">
                                    <a:lumMod val="75000"/>
                                    <a:lumOff val="25000"/>
                                  </a:schemeClr>
                                </a:solidFill>
                                <a:latin typeface="Cambria Math" panose="02040503050406030204" pitchFamily="18" charset="0"/>
                              </a:rPr>
                            </m:ctrlPr>
                          </m:sSubPr>
                          <m:e>
                            <m:r>
                              <a:rPr kumimoji="1" lang="en-US" altLang="zh-CN" sz="2000" i="1">
                                <a:solidFill>
                                  <a:schemeClr val="tx1">
                                    <a:lumMod val="75000"/>
                                    <a:lumOff val="25000"/>
                                  </a:schemeClr>
                                </a:solidFill>
                                <a:latin typeface="Cambria Math" panose="02040503050406030204" pitchFamily="18" charset="0"/>
                              </a:rPr>
                              <m:t>𝐺</m:t>
                            </m:r>
                          </m:e>
                          <m:sub>
                            <m:r>
                              <a:rPr kumimoji="1" lang="en-US" altLang="zh-CN" sz="2000" i="1">
                                <a:solidFill>
                                  <a:schemeClr val="tx1">
                                    <a:lumMod val="75000"/>
                                    <a:lumOff val="25000"/>
                                  </a:schemeClr>
                                </a:solidFill>
                                <a:latin typeface="Cambria Math" panose="02040503050406030204" pitchFamily="18" charset="0"/>
                              </a:rPr>
                              <m:t>2</m:t>
                            </m:r>
                          </m:sub>
                        </m:sSub>
                      </m:oMath>
                    </m:oMathPara>
                  </a14:m>
                  <a:endParaRPr kumimoji="1" lang="zh-CN" altLang="en-US" sz="20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p:sp>
              <p:nvSpPr>
                <p:cNvPr id="20" name="文本框 19">
                  <a:extLst>
                    <a:ext uri="{FF2B5EF4-FFF2-40B4-BE49-F238E27FC236}">
                      <a16:creationId xmlns:a16="http://schemas.microsoft.com/office/drawing/2014/main" id="{37969071-CA93-DD4B-9465-0E812D4C575F}"/>
                    </a:ext>
                  </a:extLst>
                </p:cNvPr>
                <p:cNvSpPr txBox="1">
                  <a:spLocks noRot="1" noChangeAspect="1" noMove="1" noResize="1" noEditPoints="1" noAdjustHandles="1" noChangeArrowheads="1" noChangeShapeType="1" noTextEdit="1"/>
                </p:cNvSpPr>
                <p:nvPr/>
              </p:nvSpPr>
              <p:spPr>
                <a:xfrm>
                  <a:off x="11064367" y="8513092"/>
                  <a:ext cx="306498" cy="307777"/>
                </a:xfrm>
                <a:prstGeom prst="rect">
                  <a:avLst/>
                </a:prstGeom>
                <a:blipFill>
                  <a:blip r:embed="rId8"/>
                  <a:stretch>
                    <a:fillRect l="-20000" r="-12000" b="-12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52FA629F-70CA-F5CD-6C9D-6E679D48A5CA}"/>
                    </a:ext>
                  </a:extLst>
                </p:cNvPr>
                <p:cNvSpPr txBox="1"/>
                <p:nvPr/>
              </p:nvSpPr>
              <p:spPr>
                <a:xfrm>
                  <a:off x="11618388" y="8534563"/>
                  <a:ext cx="30649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000" i="1">
                                <a:solidFill>
                                  <a:schemeClr val="tx1">
                                    <a:lumMod val="75000"/>
                                    <a:lumOff val="25000"/>
                                  </a:schemeClr>
                                </a:solidFill>
                                <a:latin typeface="Cambria Math" panose="02040503050406030204" pitchFamily="18" charset="0"/>
                              </a:rPr>
                            </m:ctrlPr>
                          </m:sSubPr>
                          <m:e>
                            <m:r>
                              <a:rPr kumimoji="1" lang="en-US" altLang="zh-CN" sz="2000" i="1">
                                <a:solidFill>
                                  <a:schemeClr val="tx1">
                                    <a:lumMod val="75000"/>
                                    <a:lumOff val="25000"/>
                                  </a:schemeClr>
                                </a:solidFill>
                                <a:latin typeface="Cambria Math" panose="02040503050406030204" pitchFamily="18" charset="0"/>
                              </a:rPr>
                              <m:t>𝐺</m:t>
                            </m:r>
                          </m:e>
                          <m:sub>
                            <m:r>
                              <a:rPr kumimoji="1" lang="en-US" altLang="zh-CN" sz="2000" i="1">
                                <a:solidFill>
                                  <a:schemeClr val="tx1">
                                    <a:lumMod val="75000"/>
                                    <a:lumOff val="25000"/>
                                  </a:schemeClr>
                                </a:solidFill>
                                <a:latin typeface="Cambria Math" panose="02040503050406030204" pitchFamily="18" charset="0"/>
                              </a:rPr>
                              <m:t>3</m:t>
                            </m:r>
                          </m:sub>
                        </m:sSub>
                      </m:oMath>
                    </m:oMathPara>
                  </a14:m>
                  <a:endParaRPr kumimoji="1" lang="zh-CN" altLang="en-US" sz="20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p:sp>
              <p:nvSpPr>
                <p:cNvPr id="21" name="文本框 20">
                  <a:extLst>
                    <a:ext uri="{FF2B5EF4-FFF2-40B4-BE49-F238E27FC236}">
                      <a16:creationId xmlns:a16="http://schemas.microsoft.com/office/drawing/2014/main" id="{52FA629F-70CA-F5CD-6C9D-6E679D48A5CA}"/>
                    </a:ext>
                  </a:extLst>
                </p:cNvPr>
                <p:cNvSpPr txBox="1">
                  <a:spLocks noRot="1" noChangeAspect="1" noMove="1" noResize="1" noEditPoints="1" noAdjustHandles="1" noChangeArrowheads="1" noChangeShapeType="1" noTextEdit="1"/>
                </p:cNvSpPr>
                <p:nvPr/>
              </p:nvSpPr>
              <p:spPr>
                <a:xfrm>
                  <a:off x="11618388" y="8534563"/>
                  <a:ext cx="306498" cy="307777"/>
                </a:xfrm>
                <a:prstGeom prst="rect">
                  <a:avLst/>
                </a:prstGeom>
                <a:blipFill>
                  <a:blip r:embed="rId9"/>
                  <a:stretch>
                    <a:fillRect l="-20000" r="-8000" b="-11538"/>
                  </a:stretch>
                </a:blipFill>
              </p:spPr>
              <p:txBody>
                <a:bodyPr/>
                <a:lstStyle/>
                <a:p>
                  <a:r>
                    <a:rPr lang="zh-CN" altLang="en-US">
                      <a:noFill/>
                    </a:rPr>
                    <a:t> </a:t>
                  </a:r>
                </a:p>
              </p:txBody>
            </p:sp>
          </mc:Fallback>
        </mc:AlternateContent>
        <p:sp>
          <p:nvSpPr>
            <p:cNvPr id="22" name="矩形 21">
              <a:extLst>
                <a:ext uri="{FF2B5EF4-FFF2-40B4-BE49-F238E27FC236}">
                  <a16:creationId xmlns:a16="http://schemas.microsoft.com/office/drawing/2014/main" id="{96A5EEB8-8060-080C-C66A-C5568CE0B463}"/>
                </a:ext>
              </a:extLst>
            </p:cNvPr>
            <p:cNvSpPr/>
            <p:nvPr/>
          </p:nvSpPr>
          <p:spPr>
            <a:xfrm>
              <a:off x="12521303" y="8514273"/>
              <a:ext cx="361542" cy="423492"/>
            </a:xfrm>
            <a:prstGeom prst="rect">
              <a:avLst/>
            </a:prstGeom>
            <a:solidFill>
              <a:schemeClr val="bg1"/>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a:p>
          </p:txBody>
        </p:sp>
        <mc:AlternateContent xmlns:mc="http://schemas.openxmlformats.org/markup-compatibility/2006">
          <mc:Choice xmlns:a14="http://schemas.microsoft.com/office/drawing/2010/main" Requires="a14">
            <p:sp>
              <p:nvSpPr>
                <p:cNvPr id="23" name="文本框 22">
                  <a:extLst>
                    <a:ext uri="{FF2B5EF4-FFF2-40B4-BE49-F238E27FC236}">
                      <a16:creationId xmlns:a16="http://schemas.microsoft.com/office/drawing/2014/main" id="{C51249C2-436C-A4C6-EC8D-B55A2E99CD7E}"/>
                    </a:ext>
                  </a:extLst>
                </p:cNvPr>
                <p:cNvSpPr txBox="1"/>
                <p:nvPr/>
              </p:nvSpPr>
              <p:spPr>
                <a:xfrm>
                  <a:off x="12548825" y="8558879"/>
                  <a:ext cx="30649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000" i="1">
                                <a:solidFill>
                                  <a:schemeClr val="tx1">
                                    <a:lumMod val="75000"/>
                                    <a:lumOff val="25000"/>
                                  </a:schemeClr>
                                </a:solidFill>
                                <a:latin typeface="Cambria Math" panose="02040503050406030204" pitchFamily="18" charset="0"/>
                              </a:rPr>
                            </m:ctrlPr>
                          </m:sSubPr>
                          <m:e>
                            <m:r>
                              <a:rPr kumimoji="1" lang="en-US" altLang="zh-CN" sz="2000" i="1">
                                <a:solidFill>
                                  <a:schemeClr val="tx1">
                                    <a:lumMod val="75000"/>
                                    <a:lumOff val="25000"/>
                                  </a:schemeClr>
                                </a:solidFill>
                                <a:latin typeface="Cambria Math" panose="02040503050406030204" pitchFamily="18" charset="0"/>
                              </a:rPr>
                              <m:t>𝐺</m:t>
                            </m:r>
                          </m:e>
                          <m:sub>
                            <m:r>
                              <a:rPr kumimoji="1" lang="en-US" altLang="zh-CN" sz="2000" i="1">
                                <a:solidFill>
                                  <a:schemeClr val="tx1">
                                    <a:lumMod val="75000"/>
                                    <a:lumOff val="25000"/>
                                  </a:schemeClr>
                                </a:solidFill>
                                <a:latin typeface="Cambria Math" panose="02040503050406030204" pitchFamily="18" charset="0"/>
                              </a:rPr>
                              <m:t>4</m:t>
                            </m:r>
                          </m:sub>
                        </m:sSub>
                      </m:oMath>
                    </m:oMathPara>
                  </a14:m>
                  <a:endParaRPr kumimoji="1" lang="zh-CN" altLang="en-US" sz="20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p:sp>
              <p:nvSpPr>
                <p:cNvPr id="23" name="文本框 22">
                  <a:extLst>
                    <a:ext uri="{FF2B5EF4-FFF2-40B4-BE49-F238E27FC236}">
                      <a16:creationId xmlns:a16="http://schemas.microsoft.com/office/drawing/2014/main" id="{C51249C2-436C-A4C6-EC8D-B55A2E99CD7E}"/>
                    </a:ext>
                  </a:extLst>
                </p:cNvPr>
                <p:cNvSpPr txBox="1">
                  <a:spLocks noRot="1" noChangeAspect="1" noMove="1" noResize="1" noEditPoints="1" noAdjustHandles="1" noChangeArrowheads="1" noChangeShapeType="1" noTextEdit="1"/>
                </p:cNvSpPr>
                <p:nvPr/>
              </p:nvSpPr>
              <p:spPr>
                <a:xfrm>
                  <a:off x="12548825" y="8558879"/>
                  <a:ext cx="306498" cy="307777"/>
                </a:xfrm>
                <a:prstGeom prst="rect">
                  <a:avLst/>
                </a:prstGeom>
                <a:blipFill>
                  <a:blip r:embed="rId10"/>
                  <a:stretch>
                    <a:fillRect l="-19231" r="-3846" b="-16000"/>
                  </a:stretch>
                </a:blipFill>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563051DE-4F7D-1845-A6DA-FAB8AEFD8EC6}"/>
                </a:ext>
              </a:extLst>
            </p:cNvPr>
            <p:cNvSpPr/>
            <p:nvPr/>
          </p:nvSpPr>
          <p:spPr>
            <a:xfrm>
              <a:off x="14263253" y="8572899"/>
              <a:ext cx="688804" cy="423492"/>
            </a:xfrm>
            <a:prstGeom prst="rect">
              <a:avLst/>
            </a:prstGeom>
            <a:solidFill>
              <a:srgbClr val="7D91A3">
                <a:alpha val="31107"/>
              </a:srgbClr>
            </a:solidFill>
            <a:ln w="6350"/>
            <a:scene3d>
              <a:camera prst="isometricLeftDown">
                <a:rot lat="1200000" lon="24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a:p>
          </p:txBody>
        </p:sp>
        <mc:AlternateContent xmlns:mc="http://schemas.openxmlformats.org/markup-compatibility/2006">
          <mc:Choice xmlns:a14="http://schemas.microsoft.com/office/drawing/2010/main" Requires="a14">
            <p:sp>
              <p:nvSpPr>
                <p:cNvPr id="25" name="文本框 24">
                  <a:extLst>
                    <a:ext uri="{FF2B5EF4-FFF2-40B4-BE49-F238E27FC236}">
                      <a16:creationId xmlns:a16="http://schemas.microsoft.com/office/drawing/2014/main" id="{FB238961-28D6-889D-486F-939FB6E04D8B}"/>
                    </a:ext>
                  </a:extLst>
                </p:cNvPr>
                <p:cNvSpPr txBox="1"/>
                <p:nvPr/>
              </p:nvSpPr>
              <p:spPr>
                <a:xfrm rot="762111">
                  <a:off x="14420951" y="8703426"/>
                  <a:ext cx="47512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1400" i="1">
                            <a:solidFill>
                              <a:schemeClr val="tx1">
                                <a:lumMod val="65000"/>
                                <a:lumOff val="35000"/>
                              </a:schemeClr>
                            </a:solidFill>
                            <a:latin typeface="Cambria Math" panose="02040503050406030204" pitchFamily="18" charset="0"/>
                          </a:rPr>
                          <m:t>𝑙𝑒𝑛𝑠</m:t>
                        </m:r>
                      </m:oMath>
                    </m:oMathPara>
                  </a14:m>
                  <a:endParaRPr lang="zh-CN" altLang="en-US" sz="1200" dirty="0"/>
                </a:p>
              </p:txBody>
            </p:sp>
          </mc:Choice>
          <mc:Fallback>
            <p:sp>
              <p:nvSpPr>
                <p:cNvPr id="25" name="文本框 24">
                  <a:extLst>
                    <a:ext uri="{FF2B5EF4-FFF2-40B4-BE49-F238E27FC236}">
                      <a16:creationId xmlns:a16="http://schemas.microsoft.com/office/drawing/2014/main" id="{FB238961-28D6-889D-486F-939FB6E04D8B}"/>
                    </a:ext>
                  </a:extLst>
                </p:cNvPr>
                <p:cNvSpPr txBox="1">
                  <a:spLocks noRot="1" noChangeAspect="1" noMove="1" noResize="1" noEditPoints="1" noAdjustHandles="1" noChangeArrowheads="1" noChangeShapeType="1" noTextEdit="1"/>
                </p:cNvSpPr>
                <p:nvPr/>
              </p:nvSpPr>
              <p:spPr>
                <a:xfrm rot="762111">
                  <a:off x="14420951" y="8703426"/>
                  <a:ext cx="475127" cy="30777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文本框 25">
                  <a:extLst>
                    <a:ext uri="{FF2B5EF4-FFF2-40B4-BE49-F238E27FC236}">
                      <a16:creationId xmlns:a16="http://schemas.microsoft.com/office/drawing/2014/main" id="{2980124E-D155-A030-85DA-372F904CBD4F}"/>
                    </a:ext>
                  </a:extLst>
                </p:cNvPr>
                <p:cNvSpPr txBox="1"/>
                <p:nvPr/>
              </p:nvSpPr>
              <p:spPr>
                <a:xfrm>
                  <a:off x="14374712" y="8581289"/>
                  <a:ext cx="207121"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000" i="1">
                            <a:solidFill>
                              <a:schemeClr val="tx1">
                                <a:lumMod val="65000"/>
                                <a:lumOff val="35000"/>
                              </a:schemeClr>
                            </a:solidFill>
                            <a:latin typeface="Cambria Math" panose="02040503050406030204" pitchFamily="18" charset="0"/>
                            <a:cs typeface="Times New Roman" panose="02020603050405020304" pitchFamily="18" charset="0"/>
                          </a:rPr>
                          <m:t>𝐺</m:t>
                        </m:r>
                      </m:oMath>
                    </m:oMathPara>
                  </a14:m>
                  <a:endParaRPr kumimoji="1" lang="zh-CN" altLang="en-US" sz="2000" i="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mc:Choice>
          <mc:Fallback>
            <p:sp>
              <p:nvSpPr>
                <p:cNvPr id="26" name="文本框 25">
                  <a:extLst>
                    <a:ext uri="{FF2B5EF4-FFF2-40B4-BE49-F238E27FC236}">
                      <a16:creationId xmlns:a16="http://schemas.microsoft.com/office/drawing/2014/main" id="{2980124E-D155-A030-85DA-372F904CBD4F}"/>
                    </a:ext>
                  </a:extLst>
                </p:cNvPr>
                <p:cNvSpPr txBox="1">
                  <a:spLocks noRot="1" noChangeAspect="1" noMove="1" noResize="1" noEditPoints="1" noAdjustHandles="1" noChangeArrowheads="1" noChangeShapeType="1" noTextEdit="1"/>
                </p:cNvSpPr>
                <p:nvPr/>
              </p:nvSpPr>
              <p:spPr>
                <a:xfrm>
                  <a:off x="14374712" y="8581289"/>
                  <a:ext cx="207121" cy="307777"/>
                </a:xfrm>
                <a:prstGeom prst="rect">
                  <a:avLst/>
                </a:prstGeom>
                <a:blipFill>
                  <a:blip r:embed="rId12"/>
                  <a:stretch>
                    <a:fillRect l="-29412" r="-29412" b="-8000"/>
                  </a:stretch>
                </a:blipFill>
              </p:spPr>
              <p:txBody>
                <a:bodyPr/>
                <a:lstStyle/>
                <a:p>
                  <a:r>
                    <a:rPr lang="zh-CN" altLang="en-US">
                      <a:noFill/>
                    </a:rPr>
                    <a:t> </a:t>
                  </a:r>
                </a:p>
              </p:txBody>
            </p:sp>
          </mc:Fallback>
        </mc:AlternateContent>
        <p:cxnSp>
          <p:nvCxnSpPr>
            <p:cNvPr id="27" name="直线箭头连接符 26">
              <a:extLst>
                <a:ext uri="{FF2B5EF4-FFF2-40B4-BE49-F238E27FC236}">
                  <a16:creationId xmlns:a16="http://schemas.microsoft.com/office/drawing/2014/main" id="{A2889360-87DB-DEA2-949D-5FC794344A81}"/>
                </a:ext>
              </a:extLst>
            </p:cNvPr>
            <p:cNvCxnSpPr>
              <a:cxnSpLocks/>
            </p:cNvCxnSpPr>
            <p:nvPr/>
          </p:nvCxnSpPr>
          <p:spPr>
            <a:xfrm>
              <a:off x="13089550" y="8694344"/>
              <a:ext cx="1197524" cy="0"/>
            </a:xfrm>
            <a:prstGeom prst="straightConnector1">
              <a:avLst/>
            </a:prstGeom>
            <a:ln w="15875">
              <a:solidFill>
                <a:schemeClr val="tx1">
                  <a:lumMod val="65000"/>
                  <a:lumOff val="35000"/>
                </a:schemeClr>
              </a:solidFill>
              <a:tailEnd type="stealth"/>
            </a:ln>
          </p:spPr>
          <p:style>
            <a:lnRef idx="2">
              <a:schemeClr val="accent1"/>
            </a:lnRef>
            <a:fillRef idx="0">
              <a:schemeClr val="accent1"/>
            </a:fillRef>
            <a:effectRef idx="1">
              <a:schemeClr val="accent1"/>
            </a:effectRef>
            <a:fontRef idx="minor">
              <a:schemeClr val="tx1"/>
            </a:fontRef>
          </p:style>
        </p:cxnSp>
        <p:sp>
          <p:nvSpPr>
            <p:cNvPr id="28" name="文本框 27">
              <a:extLst>
                <a:ext uri="{FF2B5EF4-FFF2-40B4-BE49-F238E27FC236}">
                  <a16:creationId xmlns:a16="http://schemas.microsoft.com/office/drawing/2014/main" id="{5B1D8D1F-08BC-63F3-FE4B-9A2125BBF2B6}"/>
                </a:ext>
              </a:extLst>
            </p:cNvPr>
            <p:cNvSpPr txBox="1"/>
            <p:nvPr/>
          </p:nvSpPr>
          <p:spPr>
            <a:xfrm>
              <a:off x="12994304" y="8338136"/>
              <a:ext cx="1380407" cy="369332"/>
            </a:xfrm>
            <a:prstGeom prst="rect">
              <a:avLst/>
            </a:prstGeom>
            <a:noFill/>
          </p:spPr>
          <p:txBody>
            <a:bodyPr wrap="square" rtlCol="0">
              <a:spAutoFit/>
            </a:bodyPr>
            <a:lstStyle/>
            <a:p>
              <a:r>
                <a:rPr kumimoji="1" lang="en-US" altLang="zh-CN" dirty="0">
                  <a:solidFill>
                    <a:schemeClr val="tx1">
                      <a:lumMod val="65000"/>
                      <a:lumOff val="35000"/>
                    </a:schemeClr>
                  </a:solidFill>
                  <a:latin typeface="Times New Roman" panose="02020603050405020304" pitchFamily="18" charset="0"/>
                  <a:cs typeface="Times New Roman" panose="02020603050405020304" pitchFamily="18" charset="0"/>
                </a:rPr>
                <a:t>composition</a:t>
              </a:r>
              <a:endParaRPr kumimoji="1" lang="zh-CN" altLang="en-US"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cxnSp>
          <p:nvCxnSpPr>
            <p:cNvPr id="29" name="直线箭头连接符 28">
              <a:extLst>
                <a:ext uri="{FF2B5EF4-FFF2-40B4-BE49-F238E27FC236}">
                  <a16:creationId xmlns:a16="http://schemas.microsoft.com/office/drawing/2014/main" id="{7D71C169-40BA-9FB3-B9A9-608A6047CEDE}"/>
                </a:ext>
              </a:extLst>
            </p:cNvPr>
            <p:cNvCxnSpPr>
              <a:cxnSpLocks/>
            </p:cNvCxnSpPr>
            <p:nvPr/>
          </p:nvCxnSpPr>
          <p:spPr>
            <a:xfrm>
              <a:off x="10735697" y="8185234"/>
              <a:ext cx="0" cy="220090"/>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直线箭头连接符 29">
              <a:extLst>
                <a:ext uri="{FF2B5EF4-FFF2-40B4-BE49-F238E27FC236}">
                  <a16:creationId xmlns:a16="http://schemas.microsoft.com/office/drawing/2014/main" id="{B9CAB995-701F-0D09-78A2-447C99880319}"/>
                </a:ext>
              </a:extLst>
            </p:cNvPr>
            <p:cNvCxnSpPr>
              <a:cxnSpLocks/>
            </p:cNvCxnSpPr>
            <p:nvPr/>
          </p:nvCxnSpPr>
          <p:spPr>
            <a:xfrm>
              <a:off x="11220402" y="8189381"/>
              <a:ext cx="0" cy="224944"/>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直线箭头连接符 30">
              <a:extLst>
                <a:ext uri="{FF2B5EF4-FFF2-40B4-BE49-F238E27FC236}">
                  <a16:creationId xmlns:a16="http://schemas.microsoft.com/office/drawing/2014/main" id="{33F47612-E123-5688-C011-1386BC251430}"/>
                </a:ext>
              </a:extLst>
            </p:cNvPr>
            <p:cNvCxnSpPr>
              <a:cxnSpLocks/>
            </p:cNvCxnSpPr>
            <p:nvPr/>
          </p:nvCxnSpPr>
          <p:spPr>
            <a:xfrm>
              <a:off x="11780680" y="8215606"/>
              <a:ext cx="0" cy="231372"/>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直线箭头连接符 31">
              <a:extLst>
                <a:ext uri="{FF2B5EF4-FFF2-40B4-BE49-F238E27FC236}">
                  <a16:creationId xmlns:a16="http://schemas.microsoft.com/office/drawing/2014/main" id="{D99DD191-BD33-4BF2-3BFE-260E5A39B594}"/>
                </a:ext>
              </a:extLst>
            </p:cNvPr>
            <p:cNvCxnSpPr>
              <a:cxnSpLocks/>
            </p:cNvCxnSpPr>
            <p:nvPr/>
          </p:nvCxnSpPr>
          <p:spPr>
            <a:xfrm>
              <a:off x="12709610" y="8215606"/>
              <a:ext cx="0" cy="231372"/>
            </a:xfrm>
            <a:prstGeom prst="straightConnector1">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3" name="文本框 32">
                  <a:extLst>
                    <a:ext uri="{FF2B5EF4-FFF2-40B4-BE49-F238E27FC236}">
                      <a16:creationId xmlns:a16="http://schemas.microsoft.com/office/drawing/2014/main" id="{7222A7EF-55C9-DFF4-E327-65FA76916AFC}"/>
                    </a:ext>
                  </a:extLst>
                </p:cNvPr>
                <p:cNvSpPr txBox="1"/>
                <p:nvPr/>
              </p:nvSpPr>
              <p:spPr>
                <a:xfrm>
                  <a:off x="10351402" y="8404642"/>
                  <a:ext cx="2711190" cy="5056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zh-CN" i="1" smtClean="0">
                                <a:latin typeface="Cambria Math" panose="02040503050406030204" pitchFamily="18" charset="0"/>
                              </a:rPr>
                            </m:ctrlPr>
                          </m:dPr>
                          <m:e>
                            <m:m>
                              <m:mPr>
                                <m:mcs>
                                  <m:mc>
                                    <m:mcPr>
                                      <m:count m:val="2"/>
                                      <m:mcJc m:val="center"/>
                                    </m:mcPr>
                                  </m:mc>
                                </m:mcs>
                                <m:ctrlPr>
                                  <a:rPr kumimoji="1" lang="en-US" altLang="zh-CN" i="1" smtClean="0">
                                    <a:latin typeface="Cambria Math" panose="02040503050406030204" pitchFamily="18" charset="0"/>
                                  </a:rPr>
                                </m:ctrlPr>
                              </m:mPr>
                              <m:mr>
                                <m:e>
                                  <m:eqArr>
                                    <m:eqArrPr>
                                      <m:ctrlPr>
                                        <a:rPr kumimoji="1" lang="en-US" altLang="zh-CN" b="0" i="1" smtClean="0">
                                          <a:latin typeface="Cambria Math" panose="02040503050406030204" pitchFamily="18" charset="0"/>
                                        </a:rPr>
                                      </m:ctrlPr>
                                    </m:eqArrPr>
                                    <m:e>
                                      <m:r>
                                        <m:rPr>
                                          <m:brk m:alnAt="7"/>
                                        </m:rPr>
                                        <a:rPr kumimoji="1" lang="en-US" altLang="zh-CN" b="0" i="1" smtClean="0">
                                          <a:latin typeface="Cambria Math" panose="02040503050406030204" pitchFamily="18" charset="0"/>
                                        </a:rPr>
                                        <m:t> </m:t>
                                      </m:r>
                                    </m:e>
                                    <m:e>
                                      <m:r>
                                        <a:rPr kumimoji="1" lang="en-US" altLang="zh-CN" b="0" i="1" smtClean="0">
                                          <a:latin typeface="Cambria Math" panose="02040503050406030204" pitchFamily="18" charset="0"/>
                                        </a:rPr>
                                        <m:t> </m:t>
                                      </m:r>
                                    </m:e>
                                  </m:eqArr>
                                </m:e>
                                <m:e>
                                  <m:r>
                                    <a:rPr kumimoji="1" lang="en-US" altLang="zh-CN" b="0" i="1" smtClean="0">
                                      <a:latin typeface="Cambria Math" panose="02040503050406030204" pitchFamily="18" charset="0"/>
                                    </a:rPr>
                                    <m:t> </m:t>
                                  </m:r>
                                </m:e>
                              </m:mr>
                              <m:mr>
                                <m:e>
                                  <m:r>
                                    <a:rPr kumimoji="1" lang="en-US" altLang="zh-CN" b="0" i="1" smtClean="0">
                                      <a:latin typeface="Cambria Math" panose="02040503050406030204" pitchFamily="18" charset="0"/>
                                    </a:rPr>
                                    <m:t> </m:t>
                                  </m:r>
                                </m:e>
                                <m:e>
                                  <m:r>
                                    <a:rPr kumimoji="1" lang="en-US" altLang="zh-CN" b="0" i="1" smtClean="0">
                                      <a:latin typeface="Cambria Math" panose="02040503050406030204" pitchFamily="18" charset="0"/>
                                    </a:rPr>
                                    <m:t> </m:t>
                                  </m:r>
                                </m:e>
                              </m:mr>
                            </m:m>
                            <m:m>
                              <m:mPr>
                                <m:mcs>
                                  <m:mc>
                                    <m:mcPr>
                                      <m:count m:val="2"/>
                                      <m:mcJc m:val="center"/>
                                    </m:mcPr>
                                  </m:mc>
                                </m:mcs>
                                <m:ctrlPr>
                                  <a:rPr kumimoji="1" lang="en-US" altLang="zh-CN" i="1">
                                    <a:latin typeface="Cambria Math" panose="02040503050406030204" pitchFamily="18" charset="0"/>
                                  </a:rPr>
                                </m:ctrlPr>
                              </m:mPr>
                              <m:mr>
                                <m:e>
                                  <m:eqArr>
                                    <m:eqArrPr>
                                      <m:ctrlPr>
                                        <a:rPr kumimoji="1" lang="en-US" altLang="zh-CN" i="1">
                                          <a:latin typeface="Cambria Math" panose="02040503050406030204" pitchFamily="18" charset="0"/>
                                        </a:rPr>
                                      </m:ctrlPr>
                                    </m:eqArrPr>
                                    <m:e>
                                      <m:r>
                                        <m:rPr>
                                          <m:brk m:alnAt="7"/>
                                        </m:rPr>
                                        <a:rPr kumimoji="1" lang="en-US" altLang="zh-CN" i="1">
                                          <a:latin typeface="Cambria Math" panose="02040503050406030204" pitchFamily="18" charset="0"/>
                                        </a:rPr>
                                        <m:t> </m:t>
                                      </m:r>
                                    </m:e>
                                    <m:e>
                                      <m:r>
                                        <a:rPr kumimoji="1" lang="en-US" altLang="zh-CN" i="1">
                                          <a:latin typeface="Cambria Math" panose="02040503050406030204" pitchFamily="18" charset="0"/>
                                        </a:rPr>
                                        <m:t> </m:t>
                                      </m:r>
                                    </m:e>
                                  </m:eqArr>
                                </m:e>
                                <m:e>
                                  <m:r>
                                    <a:rPr kumimoji="1" lang="en-US" altLang="zh-CN" i="1">
                                      <a:latin typeface="Cambria Math" panose="02040503050406030204" pitchFamily="18" charset="0"/>
                                    </a:rPr>
                                    <m:t> </m:t>
                                  </m:r>
                                </m:e>
                              </m:mr>
                              <m:mr>
                                <m:e>
                                  <m:r>
                                    <a:rPr kumimoji="1" lang="en-US" altLang="zh-CN" i="1">
                                      <a:latin typeface="Cambria Math" panose="02040503050406030204" pitchFamily="18" charset="0"/>
                                    </a:rPr>
                                    <m:t> </m:t>
                                  </m:r>
                                </m:e>
                                <m:e>
                                  <m:r>
                                    <a:rPr kumimoji="1" lang="en-US" altLang="zh-CN" i="1">
                                      <a:latin typeface="Cambria Math" panose="02040503050406030204" pitchFamily="18" charset="0"/>
                                    </a:rPr>
                                    <m:t> </m:t>
                                  </m:r>
                                </m:e>
                              </m:mr>
                            </m:m>
                            <m:m>
                              <m:mPr>
                                <m:mcs>
                                  <m:mc>
                                    <m:mcPr>
                                      <m:count m:val="2"/>
                                      <m:mcJc m:val="center"/>
                                    </m:mcPr>
                                  </m:mc>
                                </m:mcs>
                                <m:ctrlPr>
                                  <a:rPr kumimoji="1" lang="en-US" altLang="zh-CN" i="1">
                                    <a:latin typeface="Cambria Math" panose="02040503050406030204" pitchFamily="18" charset="0"/>
                                  </a:rPr>
                                </m:ctrlPr>
                              </m:mPr>
                              <m:mr>
                                <m:e>
                                  <m:eqArr>
                                    <m:eqArrPr>
                                      <m:ctrlPr>
                                        <a:rPr kumimoji="1" lang="en-US" altLang="zh-CN" i="1">
                                          <a:latin typeface="Cambria Math" panose="02040503050406030204" pitchFamily="18" charset="0"/>
                                        </a:rPr>
                                      </m:ctrlPr>
                                    </m:eqArrPr>
                                    <m:e>
                                      <m:r>
                                        <m:rPr>
                                          <m:brk m:alnAt="7"/>
                                        </m:rPr>
                                        <a:rPr kumimoji="1" lang="en-US" altLang="zh-CN" i="1">
                                          <a:latin typeface="Cambria Math" panose="02040503050406030204" pitchFamily="18" charset="0"/>
                                        </a:rPr>
                                        <m:t> </m:t>
                                      </m:r>
                                    </m:e>
                                    <m:e>
                                      <m:r>
                                        <a:rPr kumimoji="1" lang="en-US" altLang="zh-CN" i="1">
                                          <a:latin typeface="Cambria Math" panose="02040503050406030204" pitchFamily="18" charset="0"/>
                                        </a:rPr>
                                        <m:t> </m:t>
                                      </m:r>
                                    </m:e>
                                  </m:eqArr>
                                </m:e>
                                <m:e>
                                  <m:r>
                                    <a:rPr kumimoji="1" lang="en-US" altLang="zh-CN" i="1">
                                      <a:latin typeface="Cambria Math" panose="02040503050406030204" pitchFamily="18" charset="0"/>
                                    </a:rPr>
                                    <m:t> </m:t>
                                  </m:r>
                                </m:e>
                              </m:mr>
                              <m:mr>
                                <m:e>
                                  <m:r>
                                    <a:rPr kumimoji="1" lang="en-US" altLang="zh-CN" i="1">
                                      <a:latin typeface="Cambria Math" panose="02040503050406030204" pitchFamily="18" charset="0"/>
                                    </a:rPr>
                                    <m:t> </m:t>
                                  </m:r>
                                </m:e>
                                <m:e>
                                  <m:r>
                                    <a:rPr kumimoji="1" lang="en-US" altLang="zh-CN" i="1">
                                      <a:latin typeface="Cambria Math" panose="02040503050406030204" pitchFamily="18" charset="0"/>
                                    </a:rPr>
                                    <m:t> </m:t>
                                  </m:r>
                                </m:e>
                              </m:mr>
                            </m:m>
                            <m:m>
                              <m:mPr>
                                <m:mcs>
                                  <m:mc>
                                    <m:mcPr>
                                      <m:count m:val="2"/>
                                      <m:mcJc m:val="center"/>
                                    </m:mcPr>
                                  </m:mc>
                                </m:mcs>
                                <m:ctrlPr>
                                  <a:rPr kumimoji="1" lang="en-US" altLang="zh-CN" i="1">
                                    <a:latin typeface="Cambria Math" panose="02040503050406030204" pitchFamily="18" charset="0"/>
                                  </a:rPr>
                                </m:ctrlPr>
                              </m:mPr>
                              <m:mr>
                                <m:e>
                                  <m:eqArr>
                                    <m:eqArrPr>
                                      <m:ctrlPr>
                                        <a:rPr kumimoji="1" lang="en-US" altLang="zh-CN" i="1">
                                          <a:latin typeface="Cambria Math" panose="02040503050406030204" pitchFamily="18" charset="0"/>
                                        </a:rPr>
                                      </m:ctrlPr>
                                    </m:eqArrPr>
                                    <m:e>
                                      <m:r>
                                        <m:rPr>
                                          <m:brk m:alnAt="7"/>
                                        </m:rPr>
                                        <a:rPr kumimoji="1" lang="en-US" altLang="zh-CN" i="1">
                                          <a:latin typeface="Cambria Math" panose="02040503050406030204" pitchFamily="18" charset="0"/>
                                        </a:rPr>
                                        <m:t> </m:t>
                                      </m:r>
                                    </m:e>
                                    <m:e>
                                      <m:r>
                                        <a:rPr kumimoji="1" lang="en-US" altLang="zh-CN" i="1">
                                          <a:latin typeface="Cambria Math" panose="02040503050406030204" pitchFamily="18" charset="0"/>
                                        </a:rPr>
                                        <m:t> </m:t>
                                      </m:r>
                                    </m:e>
                                  </m:eqArr>
                                </m:e>
                                <m:e>
                                  <m:r>
                                    <a:rPr kumimoji="1" lang="en-US" altLang="zh-CN" i="1">
                                      <a:latin typeface="Cambria Math" panose="02040503050406030204" pitchFamily="18" charset="0"/>
                                    </a:rPr>
                                    <m:t> </m:t>
                                  </m:r>
                                </m:e>
                              </m:mr>
                              <m:mr>
                                <m:e>
                                  <m:r>
                                    <a:rPr kumimoji="1" lang="en-US" altLang="zh-CN" i="1">
                                      <a:latin typeface="Cambria Math" panose="02040503050406030204" pitchFamily="18" charset="0"/>
                                    </a:rPr>
                                    <m:t> </m:t>
                                  </m:r>
                                </m:e>
                                <m:e>
                                  <m:r>
                                    <a:rPr kumimoji="1" lang="en-US" altLang="zh-CN" i="1">
                                      <a:latin typeface="Cambria Math" panose="02040503050406030204" pitchFamily="18" charset="0"/>
                                    </a:rPr>
                                    <m:t> </m:t>
                                  </m:r>
                                </m:e>
                              </m:mr>
                            </m:m>
                            <m:m>
                              <m:mPr>
                                <m:mcs>
                                  <m:mc>
                                    <m:mcPr>
                                      <m:count m:val="2"/>
                                      <m:mcJc m:val="center"/>
                                    </m:mcPr>
                                  </m:mc>
                                </m:mcs>
                                <m:ctrlPr>
                                  <a:rPr kumimoji="1" lang="en-US" altLang="zh-CN" i="1">
                                    <a:latin typeface="Cambria Math" panose="02040503050406030204" pitchFamily="18" charset="0"/>
                                  </a:rPr>
                                </m:ctrlPr>
                              </m:mPr>
                              <m:mr>
                                <m:e>
                                  <m:eqArr>
                                    <m:eqArrPr>
                                      <m:ctrlPr>
                                        <a:rPr kumimoji="1" lang="en-US" altLang="zh-CN" i="1">
                                          <a:latin typeface="Cambria Math" panose="02040503050406030204" pitchFamily="18" charset="0"/>
                                        </a:rPr>
                                      </m:ctrlPr>
                                    </m:eqArrPr>
                                    <m:e>
                                      <m:r>
                                        <m:rPr>
                                          <m:brk m:alnAt="7"/>
                                        </m:rPr>
                                        <a:rPr kumimoji="1" lang="en-US" altLang="zh-CN" i="1">
                                          <a:latin typeface="Cambria Math" panose="02040503050406030204" pitchFamily="18" charset="0"/>
                                        </a:rPr>
                                        <m:t> </m:t>
                                      </m:r>
                                    </m:e>
                                    <m:e>
                                      <m:r>
                                        <a:rPr kumimoji="1" lang="en-US" altLang="zh-CN" i="1">
                                          <a:latin typeface="Cambria Math" panose="02040503050406030204" pitchFamily="18" charset="0"/>
                                        </a:rPr>
                                        <m:t> </m:t>
                                      </m:r>
                                    </m:e>
                                  </m:eqArr>
                                </m:e>
                                <m:e>
                                  <m:r>
                                    <a:rPr kumimoji="1" lang="en-US" altLang="zh-CN" i="1">
                                      <a:latin typeface="Cambria Math" panose="02040503050406030204" pitchFamily="18" charset="0"/>
                                    </a:rPr>
                                    <m:t> </m:t>
                                  </m:r>
                                </m:e>
                              </m:mr>
                              <m:mr>
                                <m:e>
                                  <m:r>
                                    <a:rPr kumimoji="1" lang="en-US" altLang="zh-CN" i="1">
                                      <a:latin typeface="Cambria Math" panose="02040503050406030204" pitchFamily="18" charset="0"/>
                                    </a:rPr>
                                    <m:t> </m:t>
                                  </m:r>
                                </m:e>
                                <m:e>
                                  <m:r>
                                    <a:rPr kumimoji="1" lang="en-US" altLang="zh-CN" i="1">
                                      <a:latin typeface="Cambria Math" panose="02040503050406030204" pitchFamily="18" charset="0"/>
                                    </a:rPr>
                                    <m:t> </m:t>
                                  </m:r>
                                </m:e>
                              </m:mr>
                            </m:m>
                            <m:m>
                              <m:mPr>
                                <m:mcs>
                                  <m:mc>
                                    <m:mcPr>
                                      <m:count m:val="2"/>
                                      <m:mcJc m:val="center"/>
                                    </m:mcPr>
                                  </m:mc>
                                </m:mcs>
                                <m:ctrlPr>
                                  <a:rPr kumimoji="1" lang="en-US" altLang="zh-CN" i="1">
                                    <a:latin typeface="Cambria Math" panose="02040503050406030204" pitchFamily="18" charset="0"/>
                                  </a:rPr>
                                </m:ctrlPr>
                              </m:mPr>
                              <m:mr>
                                <m:e>
                                  <m:eqArr>
                                    <m:eqArrPr>
                                      <m:ctrlPr>
                                        <a:rPr kumimoji="1" lang="en-US" altLang="zh-CN" i="1">
                                          <a:latin typeface="Cambria Math" panose="02040503050406030204" pitchFamily="18" charset="0"/>
                                        </a:rPr>
                                      </m:ctrlPr>
                                    </m:eqArrPr>
                                    <m:e>
                                      <m:r>
                                        <m:rPr>
                                          <m:brk m:alnAt="7"/>
                                        </m:rPr>
                                        <a:rPr kumimoji="1" lang="en-US" altLang="zh-CN" i="1">
                                          <a:latin typeface="Cambria Math" panose="02040503050406030204" pitchFamily="18" charset="0"/>
                                        </a:rPr>
                                        <m:t> </m:t>
                                      </m:r>
                                    </m:e>
                                    <m:e>
                                      <m:r>
                                        <a:rPr kumimoji="1" lang="en-US" altLang="zh-CN" i="1">
                                          <a:latin typeface="Cambria Math" panose="02040503050406030204" pitchFamily="18" charset="0"/>
                                        </a:rPr>
                                        <m:t> </m:t>
                                      </m:r>
                                    </m:e>
                                  </m:eqArr>
                                  <m:r>
                                    <a:rPr kumimoji="1" lang="en-US" altLang="zh-CN" b="0" i="1" smtClean="0">
                                      <a:latin typeface="Cambria Math" panose="02040503050406030204" pitchFamily="18" charset="0"/>
                                    </a:rPr>
                                    <m:t>  </m:t>
                                  </m:r>
                                </m:e>
                                <m:e>
                                  <m:r>
                                    <a:rPr kumimoji="1" lang="en-US" altLang="zh-CN" i="1">
                                      <a:latin typeface="Cambria Math" panose="02040503050406030204" pitchFamily="18" charset="0"/>
                                    </a:rPr>
                                    <m:t> </m:t>
                                  </m:r>
                                </m:e>
                              </m:mr>
                              <m:mr>
                                <m:e>
                                  <m:r>
                                    <a:rPr kumimoji="1" lang="en-US" altLang="zh-CN" i="1">
                                      <a:latin typeface="Cambria Math" panose="02040503050406030204" pitchFamily="18" charset="0"/>
                                    </a:rPr>
                                    <m:t> </m:t>
                                  </m:r>
                                </m:e>
                                <m:e>
                                  <m:r>
                                    <a:rPr kumimoji="1" lang="en-US" altLang="zh-CN" i="1">
                                      <a:latin typeface="Cambria Math" panose="02040503050406030204" pitchFamily="18" charset="0"/>
                                    </a:rPr>
                                    <m:t> </m:t>
                                  </m:r>
                                </m:e>
                              </m:mr>
                            </m:m>
                            <m:m>
                              <m:mPr>
                                <m:mcs>
                                  <m:mc>
                                    <m:mcPr>
                                      <m:count m:val="2"/>
                                      <m:mcJc m:val="center"/>
                                    </m:mcPr>
                                  </m:mc>
                                </m:mcs>
                                <m:ctrlPr>
                                  <a:rPr kumimoji="1" lang="en-US" altLang="zh-CN" i="1">
                                    <a:latin typeface="Cambria Math" panose="02040503050406030204" pitchFamily="18" charset="0"/>
                                  </a:rPr>
                                </m:ctrlPr>
                              </m:mPr>
                              <m:mr>
                                <m:e>
                                  <m:eqArr>
                                    <m:eqArrPr>
                                      <m:ctrlPr>
                                        <a:rPr kumimoji="1" lang="en-US" altLang="zh-CN" i="1">
                                          <a:latin typeface="Cambria Math" panose="02040503050406030204" pitchFamily="18" charset="0"/>
                                        </a:rPr>
                                      </m:ctrlPr>
                                    </m:eqArrPr>
                                    <m:e>
                                      <m:r>
                                        <m:rPr>
                                          <m:brk m:alnAt="7"/>
                                        </m:rPr>
                                        <a:rPr kumimoji="1" lang="en-US" altLang="zh-CN" i="1">
                                          <a:latin typeface="Cambria Math" panose="02040503050406030204" pitchFamily="18" charset="0"/>
                                        </a:rPr>
                                        <m:t> </m:t>
                                      </m:r>
                                    </m:e>
                                    <m:e>
                                      <m:r>
                                        <a:rPr kumimoji="1" lang="en-US" altLang="zh-CN" i="1">
                                          <a:latin typeface="Cambria Math" panose="02040503050406030204" pitchFamily="18" charset="0"/>
                                        </a:rPr>
                                        <m:t> </m:t>
                                      </m:r>
                                    </m:e>
                                  </m:eqArr>
                                </m:e>
                                <m:e>
                                  <m:r>
                                    <a:rPr kumimoji="1" lang="en-US" altLang="zh-CN" i="1">
                                      <a:latin typeface="Cambria Math" panose="02040503050406030204" pitchFamily="18" charset="0"/>
                                    </a:rPr>
                                    <m:t> </m:t>
                                  </m:r>
                                </m:e>
                              </m:mr>
                              <m:mr>
                                <m:e>
                                  <m:r>
                                    <a:rPr kumimoji="1" lang="en-US" altLang="zh-CN" i="1">
                                      <a:latin typeface="Cambria Math" panose="02040503050406030204" pitchFamily="18" charset="0"/>
                                    </a:rPr>
                                    <m:t> </m:t>
                                  </m:r>
                                </m:e>
                                <m:e>
                                  <m:r>
                                    <a:rPr kumimoji="1" lang="en-US" altLang="zh-CN" i="1">
                                      <a:latin typeface="Cambria Math" panose="02040503050406030204" pitchFamily="18" charset="0"/>
                                    </a:rPr>
                                    <m:t> </m:t>
                                  </m:r>
                                </m:e>
                              </m:mr>
                            </m:m>
                          </m:e>
                        </m:d>
                      </m:oMath>
                    </m:oMathPara>
                  </a14:m>
                  <a:endParaRPr kumimoji="1" lang="zh-CN" altLang="en-US" dirty="0"/>
                </a:p>
              </p:txBody>
            </p:sp>
          </mc:Choice>
          <mc:Fallback>
            <p:sp>
              <p:nvSpPr>
                <p:cNvPr id="33" name="文本框 32">
                  <a:extLst>
                    <a:ext uri="{FF2B5EF4-FFF2-40B4-BE49-F238E27FC236}">
                      <a16:creationId xmlns:a16="http://schemas.microsoft.com/office/drawing/2014/main" id="{7222A7EF-55C9-DFF4-E327-65FA76916AFC}"/>
                    </a:ext>
                  </a:extLst>
                </p:cNvPr>
                <p:cNvSpPr txBox="1">
                  <a:spLocks noRot="1" noChangeAspect="1" noMove="1" noResize="1" noEditPoints="1" noAdjustHandles="1" noChangeArrowheads="1" noChangeShapeType="1" noTextEdit="1"/>
                </p:cNvSpPr>
                <p:nvPr/>
              </p:nvSpPr>
              <p:spPr>
                <a:xfrm>
                  <a:off x="10351402" y="8404642"/>
                  <a:ext cx="2711190" cy="505651"/>
                </a:xfrm>
                <a:prstGeom prst="rect">
                  <a:avLst/>
                </a:prstGeom>
                <a:blipFill>
                  <a:blip r:embed="rId13"/>
                  <a:stretch>
                    <a:fillRect t="-39024" b="-29268"/>
                  </a:stretch>
                </a:blipFill>
              </p:spPr>
              <p:txBody>
                <a:bodyPr/>
                <a:lstStyle/>
                <a:p>
                  <a:r>
                    <a:rPr lang="zh-CN" altLang="en-US">
                      <a:noFill/>
                    </a:rPr>
                    <a:t> </a:t>
                  </a:r>
                </a:p>
              </p:txBody>
            </p:sp>
          </mc:Fallback>
        </mc:AlternateContent>
      </p:grpSp>
      <p:sp>
        <p:nvSpPr>
          <p:cNvPr id="34" name="文本框 33">
            <a:extLst>
              <a:ext uri="{FF2B5EF4-FFF2-40B4-BE49-F238E27FC236}">
                <a16:creationId xmlns:a16="http://schemas.microsoft.com/office/drawing/2014/main" id="{919BDCBF-F250-C764-0BF1-333CA7302D98}"/>
              </a:ext>
            </a:extLst>
          </p:cNvPr>
          <p:cNvSpPr txBox="1"/>
          <p:nvPr/>
        </p:nvSpPr>
        <p:spPr>
          <a:xfrm>
            <a:off x="7001122" y="2051880"/>
            <a:ext cx="1455082" cy="369332"/>
          </a:xfrm>
          <a:prstGeom prst="rect">
            <a:avLst/>
          </a:prstGeom>
          <a:noFill/>
        </p:spPr>
        <p:txBody>
          <a:bodyPr wrap="square" rtlCol="0">
            <a:spAutoFit/>
          </a:bodyPr>
          <a:lstStyle/>
          <a:p>
            <a:r>
              <a:rPr kumimoji="1" lang="en-US" altLang="zh-CN" dirty="0" err="1">
                <a:solidFill>
                  <a:srgbClr val="2D5695"/>
                </a:solidFill>
                <a:latin typeface="Asana" panose="02000603000000000000" pitchFamily="2" charset="0"/>
                <a:ea typeface="Asana" panose="02000603000000000000" pitchFamily="2" charset="0"/>
                <a:cs typeface="Times New Roman" panose="02020603050405020304" pitchFamily="18" charset="0"/>
              </a:rPr>
              <a:t>LieOptics</a:t>
            </a:r>
            <a:endParaRPr kumimoji="1" lang="en-US" altLang="zh-CN" dirty="0">
              <a:solidFill>
                <a:srgbClr val="2D5695"/>
              </a:solidFill>
              <a:latin typeface="Asana Math" panose="02000603000000000000" pitchFamily="2" charset="0"/>
              <a:ea typeface="Asana Math" panose="02000603000000000000" pitchFamily="2" charset="0"/>
              <a:cs typeface="Times New Roman" panose="02020603050405020304" pitchFamily="18" charset="0"/>
            </a:endParaRPr>
          </a:p>
        </p:txBody>
      </p:sp>
      <p:pic>
        <p:nvPicPr>
          <p:cNvPr id="6" name="图片 5">
            <a:extLst>
              <a:ext uri="{FF2B5EF4-FFF2-40B4-BE49-F238E27FC236}">
                <a16:creationId xmlns:a16="http://schemas.microsoft.com/office/drawing/2014/main" id="{0598B2BC-498F-AA31-9F6A-81A829A33D7C}"/>
              </a:ext>
            </a:extLst>
          </p:cNvPr>
          <p:cNvPicPr>
            <a:picLocks noChangeAspect="1"/>
          </p:cNvPicPr>
          <p:nvPr/>
        </p:nvPicPr>
        <p:blipFill>
          <a:blip r:embed="rId14">
            <a:alphaModFix/>
          </a:blip>
          <a:srcRect t="9127" b="4775"/>
          <a:stretch>
            <a:fillRect/>
          </a:stretch>
        </p:blipFill>
        <p:spPr>
          <a:xfrm>
            <a:off x="5041608" y="2070340"/>
            <a:ext cx="6829193" cy="36748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 presetClass="mediacall" presetSubtype="0" fill="hold" nodeType="withEffect">
                                  <p:stCondLst>
                                    <p:cond delay="0"/>
                                  </p:stCondLst>
                                  <p:childTnLst>
                                    <p:cmd type="call" cmd="playFrom(0.0)">
                                      <p:cBhvr>
                                        <p:cTn id="9" dur="8855" fill="hold"/>
                                        <p:tgtEl>
                                          <p:spTgt spid="4"/>
                                        </p:tgtEl>
                                      </p:cBhvr>
                                    </p:cmd>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xit" presetSubtype="0" fill="hold" nodeType="withEffect">
                                  <p:stCondLst>
                                    <p:cond delay="0"/>
                                  </p:stCondLst>
                                  <p:childTnLst>
                                    <p:animEffect transition="out" filter="fade">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par>
                                <p:cTn id="16" presetID="10" presetClass="exit" presetSubtype="0" fill="hold" grpId="1" nodeType="withEffect">
                                  <p:stCondLst>
                                    <p:cond delay="5000"/>
                                  </p:stCondLst>
                                  <p:childTnLst>
                                    <p:animEffect transition="out" filter="fade">
                                      <p:cBhvr>
                                        <p:cTn id="17" dur="500"/>
                                        <p:tgtEl>
                                          <p:spTgt spid="8"/>
                                        </p:tgtEl>
                                      </p:cBhvr>
                                    </p:animEffect>
                                    <p:set>
                                      <p:cBhvr>
                                        <p:cTn id="18" dur="1" fill="hold">
                                          <p:stCondLst>
                                            <p:cond delay="499"/>
                                          </p:stCondLst>
                                        </p:cTn>
                                        <p:tgtEl>
                                          <p:spTgt spid="8"/>
                                        </p:tgtEl>
                                        <p:attrNameLst>
                                          <p:attrName>style.visibility</p:attrName>
                                        </p:attrNameLst>
                                      </p:cBhvr>
                                      <p:to>
                                        <p:strVal val="hidden"/>
                                      </p:to>
                                    </p:set>
                                  </p:childTnLst>
                                </p:cTn>
                              </p:par>
                              <p:par>
                                <p:cTn id="19" presetID="10" presetClass="entr" presetSubtype="0" repeatCount="0" fill="hold" grpId="2" nodeType="withEffect">
                                  <p:stCondLst>
                                    <p:cond delay="600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par>
                                <p:cTn id="22" presetID="10" presetClass="entr" presetSubtype="0" fill="hold" nodeType="withEffect">
                                  <p:stCondLst>
                                    <p:cond delay="600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500"/>
                                        <p:tgtEl>
                                          <p:spTgt spid="37"/>
                                        </p:tgtEl>
                                      </p:cBhvr>
                                    </p:animEffect>
                                  </p:childTnLst>
                                </p:cTn>
                              </p:par>
                            </p:childTnLst>
                          </p:cTn>
                        </p:par>
                        <p:par>
                          <p:cTn id="25" fill="hold">
                            <p:stCondLst>
                              <p:cond delay="8855"/>
                            </p:stCondLst>
                            <p:childTnLst>
                              <p:par>
                                <p:cTn id="26" presetID="10" presetClass="entr" presetSubtype="0" fill="hold" nodeType="after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showWhenStopped="0">
                <p:cTn id="29" fill="hold" display="0">
                  <p:stCondLst>
                    <p:cond delay="indefinite"/>
                  </p:stCondLst>
                </p:cTn>
                <p:tgtEl>
                  <p:spTgt spid="4"/>
                </p:tgtEl>
              </p:cMediaNode>
            </p:video>
          </p:childTnLst>
        </p:cTn>
      </p:par>
    </p:tnLst>
    <p:bldLst>
      <p:bldP spid="8" grpId="0" animBg="1"/>
      <p:bldP spid="8" grpId="1" animBg="1"/>
      <p:bldP spid="34" grpId="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786C8-42AD-CE04-D03F-8667CCA0839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A2D861-69CD-6CD9-F511-B940E8A0837C}"/>
              </a:ext>
            </a:extLst>
          </p:cNvPr>
          <p:cNvSpPr txBox="1"/>
          <p:nvPr/>
        </p:nvSpPr>
        <p:spPr>
          <a:xfrm>
            <a:off x="548640" y="292212"/>
            <a:ext cx="7315200" cy="365760"/>
          </a:xfrm>
          <a:prstGeom prst="rect">
            <a:avLst/>
          </a:prstGeom>
          <a:noFill/>
          <a:ln/>
        </p:spPr>
        <p:txBody>
          <a:bodyPr wrap="square" lIns="0" tIns="0" rIns="0" bIns="0" rtlCol="0" anchor="ctr"/>
          <a:lstStyle/>
          <a:p>
            <a:pPr marL="0" indent="0">
              <a:buNone/>
            </a:pPr>
            <a:r>
              <a:rPr lang="en-US" sz="1400" b="1" kern="0" spc="200" dirty="0">
                <a:solidFill>
                  <a:srgbClr val="5B7A9D"/>
                </a:solidFill>
                <a:latin typeface="Calibri" pitchFamily="34" charset="0"/>
                <a:ea typeface="Calibri" pitchFamily="34" charset="-122"/>
                <a:cs typeface="Calibri" pitchFamily="34" charset="-120"/>
              </a:rPr>
              <a:t>THE IDEA</a:t>
            </a:r>
            <a:endParaRPr lang="en-US" sz="1400" dirty="0"/>
          </a:p>
        </p:txBody>
      </p:sp>
      <p:sp>
        <p:nvSpPr>
          <p:cNvPr id="3" name="Text 1">
            <a:extLst>
              <a:ext uri="{FF2B5EF4-FFF2-40B4-BE49-F238E27FC236}">
                <a16:creationId xmlns:a16="http://schemas.microsoft.com/office/drawing/2014/main" id="{AE0E6C3C-568A-16EE-286E-B9441B473314}"/>
              </a:ext>
            </a:extLst>
          </p:cNvPr>
          <p:cNvSpPr txBox="1"/>
          <p:nvPr/>
        </p:nvSpPr>
        <p:spPr>
          <a:xfrm>
            <a:off x="548640" y="478510"/>
            <a:ext cx="11064240" cy="822960"/>
          </a:xfrm>
          <a:prstGeom prst="rect">
            <a:avLst/>
          </a:prstGeom>
          <a:noFill/>
          <a:ln/>
        </p:spPr>
        <p:txBody>
          <a:bodyPr wrap="square" lIns="0" tIns="0" rIns="0" bIns="0" rtlCol="0" anchor="ctr"/>
          <a:lstStyle/>
          <a:p>
            <a:r>
              <a:rPr lang="en-US" altLang="zh-CN" sz="3200" b="1" dirty="0" err="1">
                <a:solidFill>
                  <a:srgbClr val="2D5695"/>
                </a:solidFill>
              </a:rPr>
              <a:t>LieOptics</a:t>
            </a:r>
            <a:r>
              <a:rPr lang="en-US" altLang="zh-CN" sz="3200" b="1" dirty="0">
                <a:solidFill>
                  <a:srgbClr val="2D5695"/>
                </a:solidFill>
              </a:rPr>
              <a:t> models the whole ray bundle</a:t>
            </a:r>
            <a:endParaRPr lang="en-US" sz="3200" b="1" dirty="0">
              <a:solidFill>
                <a:srgbClr val="2D5695"/>
              </a:solidFill>
            </a:endParaRPr>
          </a:p>
        </p:txBody>
      </p:sp>
      <p:grpSp>
        <p:nvGrpSpPr>
          <p:cNvPr id="4" name="组合 3">
            <a:extLst>
              <a:ext uri="{FF2B5EF4-FFF2-40B4-BE49-F238E27FC236}">
                <a16:creationId xmlns:a16="http://schemas.microsoft.com/office/drawing/2014/main" id="{470099BC-33D7-8EA7-B3BE-1B179CD620F4}"/>
              </a:ext>
            </a:extLst>
          </p:cNvPr>
          <p:cNvGrpSpPr/>
          <p:nvPr/>
        </p:nvGrpSpPr>
        <p:grpSpPr>
          <a:xfrm>
            <a:off x="211754" y="5034775"/>
            <a:ext cx="3710540" cy="1232262"/>
            <a:chOff x="548640" y="5034775"/>
            <a:chExt cx="3710540" cy="1232262"/>
          </a:xfrm>
        </p:grpSpPr>
        <p:sp>
          <p:nvSpPr>
            <p:cNvPr id="9" name="Shape 7">
              <a:extLst>
                <a:ext uri="{FF2B5EF4-FFF2-40B4-BE49-F238E27FC236}">
                  <a16:creationId xmlns:a16="http://schemas.microsoft.com/office/drawing/2014/main" id="{4036A149-FD6D-2331-5464-1AA8D50ED7B5}"/>
                </a:ext>
              </a:extLst>
            </p:cNvPr>
            <p:cNvSpPr/>
            <p:nvPr/>
          </p:nvSpPr>
          <p:spPr>
            <a:xfrm>
              <a:off x="646914" y="5063246"/>
              <a:ext cx="3612266" cy="1203791"/>
            </a:xfrm>
            <a:prstGeom prst="roundRect">
              <a:avLst>
                <a:gd name="adj" fmla="val 5668"/>
              </a:avLst>
            </a:prstGeom>
            <a:solidFill>
              <a:srgbClr val="E9EEF6"/>
            </a:solidFill>
            <a:ln/>
          </p:spPr>
          <p:txBody>
            <a:bodyPr/>
            <a:lstStyle/>
            <a:p>
              <a:endParaRPr lang="zh-CN" altLang="en-US" dirty="0"/>
            </a:p>
          </p:txBody>
        </p:sp>
        <p:sp>
          <p:nvSpPr>
            <p:cNvPr id="10" name="Shape 8">
              <a:extLst>
                <a:ext uri="{FF2B5EF4-FFF2-40B4-BE49-F238E27FC236}">
                  <a16:creationId xmlns:a16="http://schemas.microsoft.com/office/drawing/2014/main" id="{486881ED-5BED-F659-D7FA-0F6C7C37F737}"/>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11" name="Text 9">
              <a:extLst>
                <a:ext uri="{FF2B5EF4-FFF2-40B4-BE49-F238E27FC236}">
                  <a16:creationId xmlns:a16="http://schemas.microsoft.com/office/drawing/2014/main" id="{EBF64320-7F46-2FB0-D2F3-C95054795407}"/>
                </a:ext>
              </a:extLst>
            </p:cNvPr>
            <p:cNvSpPr txBox="1"/>
            <p:nvPr/>
          </p:nvSpPr>
          <p:spPr>
            <a:xfrm>
              <a:off x="548640" y="5034775"/>
              <a:ext cx="463290" cy="478835"/>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1</a:t>
              </a:r>
              <a:endParaRPr lang="en-US" sz="2000" dirty="0">
                <a:solidFill>
                  <a:schemeClr val="bg1"/>
                </a:solidFill>
              </a:endParaRPr>
            </a:p>
          </p:txBody>
        </p:sp>
        <mc:AlternateContent xmlns:mc="http://schemas.openxmlformats.org/markup-compatibility/2006" xmlns:a14="http://schemas.microsoft.com/office/drawing/2010/main">
          <mc:Choice Requires="a14">
            <p:sp>
              <p:nvSpPr>
                <p:cNvPr id="12" name="Text 10">
                  <a:extLst>
                    <a:ext uri="{FF2B5EF4-FFF2-40B4-BE49-F238E27FC236}">
                      <a16:creationId xmlns:a16="http://schemas.microsoft.com/office/drawing/2014/main" id="{F3BC50D2-F1DB-63E8-1DB1-EFC754F1EA7A}"/>
                    </a:ext>
                  </a:extLst>
                </p:cNvPr>
                <p:cNvSpPr txBox="1"/>
                <p:nvPr/>
              </p:nvSpPr>
              <p:spPr>
                <a:xfrm>
                  <a:off x="1110202" y="5091141"/>
                  <a:ext cx="3038823" cy="379513"/>
                </a:xfrm>
                <a:prstGeom prst="rect">
                  <a:avLst/>
                </a:prstGeom>
                <a:noFill/>
                <a:ln/>
              </p:spPr>
              <p:txBody>
                <a:bodyPr wrap="square" lIns="0" tIns="0" rIns="0" bIns="0" rtlCol="0" anchor="ctr"/>
                <a:lstStyle/>
                <a:p>
                  <a:r>
                    <a:rPr lang="en-US" altLang="zh-CN" b="1" dirty="0">
                      <a:solidFill>
                        <a:srgbClr val="13294B"/>
                      </a:solidFill>
                      <a:latin typeface="Georgia" panose="02040502050405020303" pitchFamily="18" charset="0"/>
                    </a:rPr>
                    <a:t>Element </a:t>
                  </a:r>
                  <a14:m>
                    <m:oMath xmlns:m="http://schemas.openxmlformats.org/officeDocument/2006/math">
                      <m:r>
                        <a:rPr lang="en-US" altLang="zh-CN" b="1" i="1" smtClean="0">
                          <a:solidFill>
                            <a:srgbClr val="13294B"/>
                          </a:solidFill>
                          <a:latin typeface="Cambria Math" panose="02040503050406030204" pitchFamily="18" charset="0"/>
                        </a:rPr>
                        <m:t>→</m:t>
                      </m:r>
                    </m:oMath>
                  </a14:m>
                  <a:r>
                    <a:rPr lang="en-US" b="1" dirty="0">
                      <a:solidFill>
                        <a:srgbClr val="13294B"/>
                      </a:solidFill>
                      <a:latin typeface="Georgia" panose="02040502050405020303" pitchFamily="18" charset="0"/>
                    </a:rPr>
                    <a:t> operator</a:t>
                  </a:r>
                </a:p>
              </p:txBody>
            </p:sp>
          </mc:Choice>
          <mc:Fallback xmlns="">
            <p:sp>
              <p:nvSpPr>
                <p:cNvPr id="12" name="Text 10">
                  <a:extLst>
                    <a:ext uri="{FF2B5EF4-FFF2-40B4-BE49-F238E27FC236}">
                      <a16:creationId xmlns:a16="http://schemas.microsoft.com/office/drawing/2014/main" id="{F3BC50D2-F1DB-63E8-1DB1-EFC754F1EA7A}"/>
                    </a:ext>
                  </a:extLst>
                </p:cNvPr>
                <p:cNvSpPr txBox="1">
                  <a:spLocks noRot="1" noChangeAspect="1" noMove="1" noResize="1" noEditPoints="1" noAdjustHandles="1" noChangeArrowheads="1" noChangeShapeType="1" noTextEdit="1"/>
                </p:cNvSpPr>
                <p:nvPr/>
              </p:nvSpPr>
              <p:spPr>
                <a:xfrm>
                  <a:off x="1110202" y="5091141"/>
                  <a:ext cx="3038823" cy="379513"/>
                </a:xfrm>
                <a:prstGeom prst="rect">
                  <a:avLst/>
                </a:prstGeom>
                <a:blipFill>
                  <a:blip r:embed="rId3"/>
                  <a:stretch>
                    <a:fillRect l="-4583" t="-3226" b="-22581"/>
                  </a:stretch>
                </a:blipFill>
                <a:ln/>
              </p:spPr>
              <p:txBody>
                <a:bodyPr/>
                <a:lstStyle/>
                <a:p>
                  <a:r>
                    <a:rPr lang="zh-CN" altLang="en-US">
                      <a:noFill/>
                    </a:rPr>
                    <a:t> </a:t>
                  </a:r>
                </a:p>
              </p:txBody>
            </p:sp>
          </mc:Fallback>
        </mc:AlternateContent>
        <p:sp>
          <p:nvSpPr>
            <p:cNvPr id="13" name="Text 11">
              <a:extLst>
                <a:ext uri="{FF2B5EF4-FFF2-40B4-BE49-F238E27FC236}">
                  <a16:creationId xmlns:a16="http://schemas.microsoft.com/office/drawing/2014/main" id="{801F2DB8-5493-5A05-3433-7A08F6FB8102}"/>
                </a:ext>
              </a:extLst>
            </p:cNvPr>
            <p:cNvSpPr txBox="1"/>
            <p:nvPr/>
          </p:nvSpPr>
          <p:spPr>
            <a:xfrm>
              <a:off x="1027960" y="5280897"/>
              <a:ext cx="3231219" cy="986140"/>
            </a:xfrm>
            <a:prstGeom prst="rect">
              <a:avLst/>
            </a:prstGeom>
            <a:noFill/>
            <a:ln/>
          </p:spPr>
          <p:txBody>
            <a:bodyPr wrap="square" lIns="0" tIns="0" rIns="0" bIns="0" rtlCol="0" anchor="ctr"/>
            <a:lstStyle/>
            <a:p>
              <a:pPr>
                <a:lnSpc>
                  <a:spcPct val="115000"/>
                </a:lnSpc>
              </a:pPr>
              <a:r>
                <a:rPr lang="en-US" altLang="zh-CN" dirty="0">
                  <a:solidFill>
                    <a:srgbClr val="1F3A63"/>
                  </a:solidFill>
                </a:rPr>
                <a:t>Each element is a Lie operator, acting directly on the ray bundle.</a:t>
              </a:r>
              <a:endParaRPr lang="en-US" sz="1600" dirty="0">
                <a:solidFill>
                  <a:srgbClr val="1F3A63"/>
                </a:solidFill>
              </a:endParaRPr>
            </a:p>
          </p:txBody>
        </p:sp>
      </p:grpSp>
      <p:sp>
        <p:nvSpPr>
          <p:cNvPr id="142" name="文本框 141">
            <a:extLst>
              <a:ext uri="{FF2B5EF4-FFF2-40B4-BE49-F238E27FC236}">
                <a16:creationId xmlns:a16="http://schemas.microsoft.com/office/drawing/2014/main" id="{7D016C07-CB67-AD1D-C1CE-D90B1DC128D6}"/>
              </a:ext>
            </a:extLst>
          </p:cNvPr>
          <p:cNvSpPr txBox="1"/>
          <p:nvPr/>
        </p:nvSpPr>
        <p:spPr>
          <a:xfrm>
            <a:off x="8916546" y="6446520"/>
            <a:ext cx="3287486" cy="276999"/>
          </a:xfrm>
          <a:prstGeom prst="rect">
            <a:avLst/>
          </a:prstGeom>
          <a:noFill/>
        </p:spPr>
        <p:txBody>
          <a:bodyPr wrap="square">
            <a:spAutoFit/>
          </a:bodyPr>
          <a:lstStyle/>
          <a:p>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Haosheng Shi, Praneeth </a:t>
            </a:r>
            <a:r>
              <a:rPr lang="en-US" altLang="zh-CN" sz="1200" dirty="0" err="1">
                <a:solidFill>
                  <a:srgbClr val="8A97A8"/>
                </a:solidFill>
                <a:latin typeface="Gill Sans" panose="020B0502020104020203" pitchFamily="34" charset="-79"/>
                <a:ea typeface="Calibri" pitchFamily="34" charset="-122"/>
                <a:cs typeface="Gill Sans" panose="020B0502020104020203" pitchFamily="34" charset="-79"/>
              </a:rPr>
              <a:t>Chakravarthula</a:t>
            </a:r>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  ·   3</a:t>
            </a:r>
            <a:endParaRPr lang="en-US" altLang="zh-CN" sz="1200" dirty="0">
              <a:solidFill>
                <a:srgbClr val="8A97A8"/>
              </a:solidFill>
              <a:latin typeface="Gill Sans" panose="020B0502020104020203" pitchFamily="34" charset="-79"/>
              <a:cs typeface="Gill Sans" panose="020B0502020104020203" pitchFamily="34" charset="-79"/>
            </a:endParaRPr>
          </a:p>
        </p:txBody>
      </p:sp>
      <p:grpSp>
        <p:nvGrpSpPr>
          <p:cNvPr id="5" name="组合 4">
            <a:extLst>
              <a:ext uri="{FF2B5EF4-FFF2-40B4-BE49-F238E27FC236}">
                <a16:creationId xmlns:a16="http://schemas.microsoft.com/office/drawing/2014/main" id="{F43D0E15-8444-F049-7C95-E4B949D54DFB}"/>
              </a:ext>
            </a:extLst>
          </p:cNvPr>
          <p:cNvGrpSpPr/>
          <p:nvPr/>
        </p:nvGrpSpPr>
        <p:grpSpPr>
          <a:xfrm>
            <a:off x="4178164" y="5041481"/>
            <a:ext cx="3661612" cy="1232262"/>
            <a:chOff x="548640" y="5034775"/>
            <a:chExt cx="3661612" cy="1232262"/>
          </a:xfrm>
        </p:grpSpPr>
        <p:sp>
          <p:nvSpPr>
            <p:cNvPr id="6" name="Shape 7">
              <a:extLst>
                <a:ext uri="{FF2B5EF4-FFF2-40B4-BE49-F238E27FC236}">
                  <a16:creationId xmlns:a16="http://schemas.microsoft.com/office/drawing/2014/main" id="{71D8DD31-7501-DD5C-F231-6951D93048AB}"/>
                </a:ext>
              </a:extLst>
            </p:cNvPr>
            <p:cNvSpPr/>
            <p:nvPr/>
          </p:nvSpPr>
          <p:spPr>
            <a:xfrm>
              <a:off x="646913" y="5063246"/>
              <a:ext cx="3563339" cy="1203791"/>
            </a:xfrm>
            <a:prstGeom prst="roundRect">
              <a:avLst>
                <a:gd name="adj" fmla="val 5668"/>
              </a:avLst>
            </a:prstGeom>
            <a:solidFill>
              <a:srgbClr val="E9EEF6"/>
            </a:solidFill>
            <a:ln/>
          </p:spPr>
          <p:txBody>
            <a:bodyPr/>
            <a:lstStyle/>
            <a:p>
              <a:endParaRPr lang="zh-CN" altLang="en-US" dirty="0"/>
            </a:p>
          </p:txBody>
        </p:sp>
        <p:sp>
          <p:nvSpPr>
            <p:cNvPr id="7" name="Shape 8">
              <a:extLst>
                <a:ext uri="{FF2B5EF4-FFF2-40B4-BE49-F238E27FC236}">
                  <a16:creationId xmlns:a16="http://schemas.microsoft.com/office/drawing/2014/main" id="{5A3113AF-12C2-69C1-5933-822923F9A0C6}"/>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8" name="Text 9">
              <a:extLst>
                <a:ext uri="{FF2B5EF4-FFF2-40B4-BE49-F238E27FC236}">
                  <a16:creationId xmlns:a16="http://schemas.microsoft.com/office/drawing/2014/main" id="{47857C80-CF9E-CE0D-D770-1F5CCAE17190}"/>
                </a:ext>
              </a:extLst>
            </p:cNvPr>
            <p:cNvSpPr txBox="1"/>
            <p:nvPr/>
          </p:nvSpPr>
          <p:spPr>
            <a:xfrm>
              <a:off x="548640" y="5034775"/>
              <a:ext cx="463290" cy="478835"/>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rPr>
                <a:t>2</a:t>
              </a:r>
              <a:endParaRPr lang="en-US" sz="2000" dirty="0">
                <a:solidFill>
                  <a:schemeClr val="bg1"/>
                </a:solidFill>
              </a:endParaRPr>
            </a:p>
          </p:txBody>
        </p:sp>
        <mc:AlternateContent xmlns:mc="http://schemas.openxmlformats.org/markup-compatibility/2006" xmlns:a14="http://schemas.microsoft.com/office/drawing/2010/main">
          <mc:Choice Requires="a14">
            <p:sp>
              <p:nvSpPr>
                <p:cNvPr id="14" name="Text 10">
                  <a:extLst>
                    <a:ext uri="{FF2B5EF4-FFF2-40B4-BE49-F238E27FC236}">
                      <a16:creationId xmlns:a16="http://schemas.microsoft.com/office/drawing/2014/main" id="{B1AC847E-5A9C-9477-610F-1A65A3FBC5A3}"/>
                    </a:ext>
                  </a:extLst>
                </p:cNvPr>
                <p:cNvSpPr txBox="1"/>
                <p:nvPr/>
              </p:nvSpPr>
              <p:spPr>
                <a:xfrm>
                  <a:off x="1110202" y="5091141"/>
                  <a:ext cx="3038823" cy="379513"/>
                </a:xfrm>
                <a:prstGeom prst="rect">
                  <a:avLst/>
                </a:prstGeom>
                <a:noFill/>
                <a:ln/>
              </p:spPr>
              <p:txBody>
                <a:bodyPr wrap="square" lIns="0" tIns="0" rIns="0" bIns="0" rtlCol="0" anchor="ctr"/>
                <a:lstStyle/>
                <a:p>
                  <a:r>
                    <a:rPr lang="en-US" altLang="zh-CN" b="1" dirty="0">
                      <a:solidFill>
                        <a:srgbClr val="13294B"/>
                      </a:solidFill>
                      <a:latin typeface="Georgia" panose="02040502050405020303" pitchFamily="18" charset="0"/>
                    </a:rPr>
                    <a:t>Compose </a:t>
                  </a:r>
                  <a14:m>
                    <m:oMath xmlns:m="http://schemas.openxmlformats.org/officeDocument/2006/math">
                      <m:r>
                        <a:rPr lang="en-US" altLang="zh-CN" b="1" i="1">
                          <a:solidFill>
                            <a:srgbClr val="13294B"/>
                          </a:solidFill>
                          <a:latin typeface="Cambria Math" panose="02040503050406030204" pitchFamily="18" charset="0"/>
                        </a:rPr>
                        <m:t>→</m:t>
                      </m:r>
                    </m:oMath>
                  </a14:m>
                  <a:r>
                    <a:rPr lang="en-US" b="1" dirty="0">
                      <a:solidFill>
                        <a:srgbClr val="13294B"/>
                      </a:solidFill>
                      <a:latin typeface="Georgia" panose="02040502050405020303" pitchFamily="18" charset="0"/>
                    </a:rPr>
                    <a:t> lens system</a:t>
                  </a:r>
                </a:p>
              </p:txBody>
            </p:sp>
          </mc:Choice>
          <mc:Fallback xmlns="">
            <p:sp>
              <p:nvSpPr>
                <p:cNvPr id="14" name="Text 10">
                  <a:extLst>
                    <a:ext uri="{FF2B5EF4-FFF2-40B4-BE49-F238E27FC236}">
                      <a16:creationId xmlns:a16="http://schemas.microsoft.com/office/drawing/2014/main" id="{B1AC847E-5A9C-9477-610F-1A65A3FBC5A3}"/>
                    </a:ext>
                  </a:extLst>
                </p:cNvPr>
                <p:cNvSpPr txBox="1">
                  <a:spLocks noRot="1" noChangeAspect="1" noMove="1" noResize="1" noEditPoints="1" noAdjustHandles="1" noChangeArrowheads="1" noChangeShapeType="1" noTextEdit="1"/>
                </p:cNvSpPr>
                <p:nvPr/>
              </p:nvSpPr>
              <p:spPr>
                <a:xfrm>
                  <a:off x="1110202" y="5091141"/>
                  <a:ext cx="3038823" cy="379513"/>
                </a:xfrm>
                <a:prstGeom prst="rect">
                  <a:avLst/>
                </a:prstGeom>
                <a:blipFill>
                  <a:blip r:embed="rId4"/>
                  <a:stretch>
                    <a:fillRect l="-5000" t="-6452" b="-19355"/>
                  </a:stretch>
                </a:blipFill>
                <a:ln/>
              </p:spPr>
              <p:txBody>
                <a:bodyPr/>
                <a:lstStyle/>
                <a:p>
                  <a:r>
                    <a:rPr lang="zh-CN" altLang="en-US">
                      <a:noFill/>
                    </a:rPr>
                    <a:t> </a:t>
                  </a:r>
                </a:p>
              </p:txBody>
            </p:sp>
          </mc:Fallback>
        </mc:AlternateContent>
        <p:sp>
          <p:nvSpPr>
            <p:cNvPr id="15" name="Text 11">
              <a:extLst>
                <a:ext uri="{FF2B5EF4-FFF2-40B4-BE49-F238E27FC236}">
                  <a16:creationId xmlns:a16="http://schemas.microsoft.com/office/drawing/2014/main" id="{4E6BE183-1DBD-2FEF-29DA-405D764BA071}"/>
                </a:ext>
              </a:extLst>
            </p:cNvPr>
            <p:cNvSpPr txBox="1"/>
            <p:nvPr/>
          </p:nvSpPr>
          <p:spPr>
            <a:xfrm>
              <a:off x="1027960" y="5280897"/>
              <a:ext cx="3121065" cy="986140"/>
            </a:xfrm>
            <a:prstGeom prst="rect">
              <a:avLst/>
            </a:prstGeom>
            <a:noFill/>
            <a:ln/>
          </p:spPr>
          <p:txBody>
            <a:bodyPr wrap="square" lIns="0" tIns="0" rIns="0" bIns="0" rtlCol="0" anchor="ctr"/>
            <a:lstStyle/>
            <a:p>
              <a:pPr>
                <a:lnSpc>
                  <a:spcPct val="115000"/>
                </a:lnSpc>
              </a:pPr>
              <a:r>
                <a:rPr lang="en-US" altLang="zh-CN" dirty="0">
                  <a:solidFill>
                    <a:srgbClr val="1F3A63"/>
                  </a:solidFill>
                </a:rPr>
                <a:t>Elements compose into a lens-system operator.</a:t>
              </a:r>
            </a:p>
          </p:txBody>
        </p:sp>
      </p:grpSp>
      <p:grpSp>
        <p:nvGrpSpPr>
          <p:cNvPr id="66" name="组合 65">
            <a:extLst>
              <a:ext uri="{FF2B5EF4-FFF2-40B4-BE49-F238E27FC236}">
                <a16:creationId xmlns:a16="http://schemas.microsoft.com/office/drawing/2014/main" id="{E6A2E087-C2D5-4766-C5A2-0D1F00D2A272}"/>
              </a:ext>
            </a:extLst>
          </p:cNvPr>
          <p:cNvGrpSpPr/>
          <p:nvPr/>
        </p:nvGrpSpPr>
        <p:grpSpPr>
          <a:xfrm>
            <a:off x="1972944" y="1253388"/>
            <a:ext cx="5231295" cy="3113195"/>
            <a:chOff x="1972944" y="1253388"/>
            <a:chExt cx="5231295" cy="3113195"/>
          </a:xfrm>
        </p:grpSpPr>
        <p:pic>
          <p:nvPicPr>
            <p:cNvPr id="24" name="图片 23">
              <a:extLst>
                <a:ext uri="{FF2B5EF4-FFF2-40B4-BE49-F238E27FC236}">
                  <a16:creationId xmlns:a16="http://schemas.microsoft.com/office/drawing/2014/main" id="{2A30C2ED-DD13-3A2F-DE22-82AF223214FA}"/>
                </a:ext>
              </a:extLst>
            </p:cNvPr>
            <p:cNvPicPr>
              <a:picLocks noChangeAspect="1"/>
            </p:cNvPicPr>
            <p:nvPr/>
          </p:nvPicPr>
          <p:blipFill>
            <a:blip r:embed="rId5"/>
            <a:stretch>
              <a:fillRect/>
            </a:stretch>
          </p:blipFill>
          <p:spPr>
            <a:xfrm>
              <a:off x="2110729" y="1476863"/>
              <a:ext cx="5093510" cy="2889720"/>
            </a:xfrm>
            <a:prstGeom prst="rect">
              <a:avLst/>
            </a:prstGeom>
          </p:spPr>
        </p:pic>
        <p:pic>
          <p:nvPicPr>
            <p:cNvPr id="25" name="图片 24">
              <a:extLst>
                <a:ext uri="{FF2B5EF4-FFF2-40B4-BE49-F238E27FC236}">
                  <a16:creationId xmlns:a16="http://schemas.microsoft.com/office/drawing/2014/main" id="{0741BF3C-A90C-6709-1114-411940DDA24D}"/>
                </a:ext>
              </a:extLst>
            </p:cNvPr>
            <p:cNvPicPr>
              <a:picLocks noChangeAspect="1"/>
            </p:cNvPicPr>
            <p:nvPr/>
          </p:nvPicPr>
          <p:blipFill>
            <a:blip r:embed="rId6"/>
            <a:srcRect/>
            <a:stretch>
              <a:fillRect/>
            </a:stretch>
          </p:blipFill>
          <p:spPr>
            <a:xfrm>
              <a:off x="2110729" y="1476863"/>
              <a:ext cx="5093510" cy="2889720"/>
            </a:xfrm>
            <a:custGeom>
              <a:avLst/>
              <a:gdLst>
                <a:gd name="csX0" fmla="*/ 7021704 w 7772400"/>
                <a:gd name="csY0" fmla="*/ 0 h 4384335"/>
                <a:gd name="csX1" fmla="*/ 7772400 w 7772400"/>
                <a:gd name="csY1" fmla="*/ 0 h 4384335"/>
                <a:gd name="csX2" fmla="*/ 7772400 w 7772400"/>
                <a:gd name="csY2" fmla="*/ 4384335 h 4384335"/>
                <a:gd name="csX3" fmla="*/ 0 w 7772400"/>
                <a:gd name="csY3" fmla="*/ 4384335 h 4384335"/>
                <a:gd name="csX4" fmla="*/ 0 w 7772400"/>
                <a:gd name="csY4" fmla="*/ 4133784 h 4384335"/>
              </a:gdLst>
              <a:ahLst/>
              <a:cxnLst>
                <a:cxn ang="0">
                  <a:pos x="csX0" y="csY0"/>
                </a:cxn>
                <a:cxn ang="0">
                  <a:pos x="csX1" y="csY1"/>
                </a:cxn>
                <a:cxn ang="0">
                  <a:pos x="csX2" y="csY2"/>
                </a:cxn>
                <a:cxn ang="0">
                  <a:pos x="csX3" y="csY3"/>
                </a:cxn>
                <a:cxn ang="0">
                  <a:pos x="csX4" y="csY4"/>
                </a:cxn>
              </a:cxnLst>
              <a:rect l="l" t="t" r="r" b="b"/>
              <a:pathLst>
                <a:path w="7772400" h="4384335">
                  <a:moveTo>
                    <a:pt x="7021704" y="0"/>
                  </a:moveTo>
                  <a:lnTo>
                    <a:pt x="7772400" y="0"/>
                  </a:lnTo>
                  <a:lnTo>
                    <a:pt x="7772400" y="4384335"/>
                  </a:lnTo>
                  <a:lnTo>
                    <a:pt x="0" y="4384335"/>
                  </a:lnTo>
                  <a:lnTo>
                    <a:pt x="0" y="4133784"/>
                  </a:lnTo>
                  <a:close/>
                </a:path>
              </a:pathLst>
            </a:custGeom>
          </p:spPr>
        </p:pic>
        <p:cxnSp>
          <p:nvCxnSpPr>
            <p:cNvPr id="26" name="直线连接符 25">
              <a:extLst>
                <a:ext uri="{FF2B5EF4-FFF2-40B4-BE49-F238E27FC236}">
                  <a16:creationId xmlns:a16="http://schemas.microsoft.com/office/drawing/2014/main" id="{C10187D5-A625-91DF-A1FB-F9917A8B87A2}"/>
                </a:ext>
              </a:extLst>
            </p:cNvPr>
            <p:cNvCxnSpPr>
              <a:cxnSpLocks/>
            </p:cNvCxnSpPr>
            <p:nvPr/>
          </p:nvCxnSpPr>
          <p:spPr>
            <a:xfrm flipH="1">
              <a:off x="1972944" y="1253388"/>
              <a:ext cx="5118291" cy="3031536"/>
            </a:xfrm>
            <a:prstGeom prst="line">
              <a:avLst/>
            </a:prstGeom>
            <a:ln w="28575">
              <a:solidFill>
                <a:srgbClr val="2D5695"/>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8E24D8E-335E-8D53-C606-11EDE25C510B}"/>
                    </a:ext>
                  </a:extLst>
                </p:cNvPr>
                <p:cNvSpPr txBox="1"/>
                <p:nvPr/>
              </p:nvSpPr>
              <p:spPr>
                <a:xfrm>
                  <a:off x="6243592" y="1767649"/>
                  <a:ext cx="583324" cy="1754326"/>
                </a:xfrm>
                <a:prstGeom prst="rect">
                  <a:avLst/>
                </a:prstGeom>
                <a:noFill/>
                <a:ln>
                  <a:noFill/>
                </a:ln>
              </p:spPr>
              <p:txBody>
                <a:bodyPr wrap="square" rtlCol="0">
                  <a:spAutoFit/>
                </a:bodyPr>
                <a:lstStyle/>
                <a:p>
                  <a:r>
                    <a:rPr kumimoji="1" lang="en-US" altLang="zh-CN" sz="1200" dirty="0">
                      <a:solidFill>
                        <a:schemeClr val="bg2">
                          <a:lumMod val="50000"/>
                        </a:schemeClr>
                      </a:solidFill>
                      <a:latin typeface="Times New Roman" panose="02020603050405020304" pitchFamily="18" charset="0"/>
                      <a:cs typeface="Times New Roman" panose="02020603050405020304" pitchFamily="18" charset="0"/>
                    </a:rPr>
                    <a:t>20</a:t>
                  </a:r>
                  <a14:m>
                    <m:oMath xmlns:m="http://schemas.openxmlformats.org/officeDocument/2006/math">
                      <m:r>
                        <a:rPr kumimoji="1" lang="en-US" altLang="zh-CN" sz="1200"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kumimoji="1" lang="en-US" altLang="zh-CN" sz="1200" dirty="0">
                    <a:solidFill>
                      <a:schemeClr val="bg2">
                        <a:lumMod val="50000"/>
                      </a:schemeClr>
                    </a:solidFill>
                    <a:latin typeface="Times New Roman" panose="02020603050405020304" pitchFamily="18" charset="0"/>
                    <a:ea typeface="Cambria Math" panose="02040503050406030204" pitchFamily="18" charset="0"/>
                    <a:cs typeface="Times New Roman" panose="02020603050405020304" pitchFamily="18" charset="0"/>
                  </a:endParaRPr>
                </a:p>
                <a:p>
                  <a:endParaRPr kumimoji="1" lang="en-US" altLang="zh-CN" sz="1200" dirty="0">
                    <a:solidFill>
                      <a:schemeClr val="bg2">
                        <a:lumMod val="50000"/>
                      </a:schemeClr>
                    </a:solidFill>
                    <a:latin typeface="Times New Roman" panose="02020603050405020304" pitchFamily="18" charset="0"/>
                    <a:cs typeface="Times New Roman" panose="02020603050405020304" pitchFamily="18" charset="0"/>
                  </a:endParaRPr>
                </a:p>
                <a:p>
                  <a:r>
                    <a:rPr kumimoji="1" lang="en-US" altLang="zh-CN" sz="1200" dirty="0">
                      <a:solidFill>
                        <a:schemeClr val="bg2">
                          <a:lumMod val="50000"/>
                        </a:schemeClr>
                      </a:solidFill>
                      <a:latin typeface="Times New Roman" panose="02020603050405020304" pitchFamily="18" charset="0"/>
                      <a:cs typeface="Times New Roman" panose="02020603050405020304" pitchFamily="18" charset="0"/>
                    </a:rPr>
                    <a:t>14</a:t>
                  </a:r>
                  <a14:m>
                    <m:oMath xmlns:m="http://schemas.openxmlformats.org/officeDocument/2006/math">
                      <m:r>
                        <a:rPr kumimoji="1" lang="en-US" altLang="zh-CN" sz="1200"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kumimoji="1" lang="en-US" altLang="zh-CN" sz="1200" dirty="0">
                    <a:solidFill>
                      <a:schemeClr val="bg2">
                        <a:lumMod val="50000"/>
                      </a:schemeClr>
                    </a:solidFill>
                    <a:latin typeface="Times New Roman" panose="02020603050405020304" pitchFamily="18" charset="0"/>
                    <a:ea typeface="Cambria Math" panose="02040503050406030204" pitchFamily="18" charset="0"/>
                    <a:cs typeface="Times New Roman" panose="02020603050405020304" pitchFamily="18" charset="0"/>
                  </a:endParaRPr>
                </a:p>
                <a:p>
                  <a:endParaRPr kumimoji="1" lang="en-US" altLang="zh-CN" sz="1200" dirty="0">
                    <a:solidFill>
                      <a:schemeClr val="bg2">
                        <a:lumMod val="50000"/>
                      </a:schemeClr>
                    </a:solidFill>
                    <a:latin typeface="Times New Roman" panose="02020603050405020304" pitchFamily="18" charset="0"/>
                    <a:cs typeface="Times New Roman" panose="02020603050405020304" pitchFamily="18" charset="0"/>
                  </a:endParaRPr>
                </a:p>
                <a:p>
                  <a:endParaRPr kumimoji="1" lang="en-US" altLang="zh-CN" sz="1200" dirty="0">
                    <a:solidFill>
                      <a:schemeClr val="bg2">
                        <a:lumMod val="50000"/>
                      </a:schemeClr>
                    </a:solidFill>
                    <a:latin typeface="Times New Roman" panose="02020603050405020304" pitchFamily="18" charset="0"/>
                    <a:cs typeface="Times New Roman" panose="02020603050405020304" pitchFamily="18" charset="0"/>
                  </a:endParaRPr>
                </a:p>
                <a:p>
                  <a:endParaRPr kumimoji="1" lang="en-US" altLang="zh-CN" sz="1200" dirty="0">
                    <a:solidFill>
                      <a:schemeClr val="bg2">
                        <a:lumMod val="50000"/>
                      </a:schemeClr>
                    </a:solidFill>
                    <a:latin typeface="Times New Roman" panose="02020603050405020304" pitchFamily="18" charset="0"/>
                    <a:cs typeface="Times New Roman" panose="02020603050405020304" pitchFamily="18" charset="0"/>
                  </a:endParaRPr>
                </a:p>
                <a:p>
                  <a:r>
                    <a:rPr kumimoji="1" lang="en-US" altLang="zh-CN" sz="1200" dirty="0">
                      <a:solidFill>
                        <a:schemeClr val="bg2">
                          <a:lumMod val="50000"/>
                        </a:schemeClr>
                      </a:solidFill>
                      <a:latin typeface="Times New Roman" panose="02020603050405020304" pitchFamily="18" charset="0"/>
                      <a:cs typeface="Times New Roman" panose="02020603050405020304" pitchFamily="18" charset="0"/>
                    </a:rPr>
                    <a:t> 0</a:t>
                  </a:r>
                  <a14:m>
                    <m:oMath xmlns:m="http://schemas.openxmlformats.org/officeDocument/2006/math">
                      <m:r>
                        <a:rPr kumimoji="1" lang="en-US" altLang="zh-CN" sz="1200"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kumimoji="1" lang="zh-CN" altLang="en-US" sz="1200" dirty="0">
                    <a:solidFill>
                      <a:schemeClr val="bg2">
                        <a:lumMod val="50000"/>
                      </a:schemeClr>
                    </a:solidFill>
                    <a:latin typeface="Times New Roman" panose="02020603050405020304" pitchFamily="18" charset="0"/>
                    <a:cs typeface="Times New Roman" panose="02020603050405020304" pitchFamily="18" charset="0"/>
                  </a:endParaRPr>
                </a:p>
                <a:p>
                  <a:endParaRPr kumimoji="1" lang="zh-CN" altLang="en-US" sz="1200" dirty="0">
                    <a:solidFill>
                      <a:schemeClr val="bg2">
                        <a:lumMod val="50000"/>
                      </a:schemeClr>
                    </a:solidFill>
                    <a:latin typeface="Times New Roman" panose="02020603050405020304" pitchFamily="18" charset="0"/>
                    <a:cs typeface="Times New Roman" panose="02020603050405020304" pitchFamily="18" charset="0"/>
                  </a:endParaRPr>
                </a:p>
                <a:p>
                  <a:endParaRPr kumimoji="1" lang="en-US" altLang="zh-CN" sz="1200" dirty="0">
                    <a:solidFill>
                      <a:schemeClr val="bg2">
                        <a:lumMod val="50000"/>
                      </a:schemeClr>
                    </a:solidFill>
                    <a:latin typeface="Times New Roman" panose="02020603050405020304" pitchFamily="18" charset="0"/>
                    <a:cs typeface="Times New Roman" panose="02020603050405020304" pitchFamily="18" charset="0"/>
                  </a:endParaRPr>
                </a:p>
              </p:txBody>
            </p:sp>
          </mc:Choice>
          <mc:Fallback xmlns="">
            <p:sp>
              <p:nvSpPr>
                <p:cNvPr id="28" name="文本框 27">
                  <a:extLst>
                    <a:ext uri="{FF2B5EF4-FFF2-40B4-BE49-F238E27FC236}">
                      <a16:creationId xmlns:a16="http://schemas.microsoft.com/office/drawing/2014/main" id="{58E24D8E-335E-8D53-C606-11EDE25C510B}"/>
                    </a:ext>
                  </a:extLst>
                </p:cNvPr>
                <p:cNvSpPr txBox="1">
                  <a:spLocks noRot="1" noChangeAspect="1" noMove="1" noResize="1" noEditPoints="1" noAdjustHandles="1" noChangeArrowheads="1" noChangeShapeType="1" noTextEdit="1"/>
                </p:cNvSpPr>
                <p:nvPr/>
              </p:nvSpPr>
              <p:spPr>
                <a:xfrm>
                  <a:off x="6243592" y="1767649"/>
                  <a:ext cx="583324" cy="1754326"/>
                </a:xfrm>
                <a:prstGeom prst="rect">
                  <a:avLst/>
                </a:prstGeom>
                <a:blipFill>
                  <a:blip r:embed="rId7"/>
                  <a:stretch>
                    <a:fillRect/>
                  </a:stretch>
                </a:blipFill>
                <a:ln>
                  <a:noFill/>
                </a:ln>
              </p:spPr>
              <p:txBody>
                <a:bodyPr/>
                <a:lstStyle/>
                <a:p>
                  <a:r>
                    <a:rPr lang="zh-CN" altLang="en-US">
                      <a:noFill/>
                    </a:rPr>
                    <a:t> </a:t>
                  </a:r>
                </a:p>
              </p:txBody>
            </p:sp>
          </mc:Fallback>
        </mc:AlternateContent>
        <p:sp>
          <p:nvSpPr>
            <p:cNvPr id="29" name="梯形 28">
              <a:extLst>
                <a:ext uri="{FF2B5EF4-FFF2-40B4-BE49-F238E27FC236}">
                  <a16:creationId xmlns:a16="http://schemas.microsoft.com/office/drawing/2014/main" id="{D2181268-53EA-977E-75A1-564E0A7216EF}"/>
                </a:ext>
              </a:extLst>
            </p:cNvPr>
            <p:cNvSpPr/>
            <p:nvPr/>
          </p:nvSpPr>
          <p:spPr>
            <a:xfrm rot="16200000">
              <a:off x="6516465" y="2920483"/>
              <a:ext cx="327546" cy="129552"/>
            </a:xfrm>
            <a:prstGeom prst="trapezoid">
              <a:avLst>
                <a:gd name="adj" fmla="val 39047"/>
              </a:avLst>
            </a:prstGeom>
            <a:noFill/>
            <a:ln w="12700">
              <a:solidFill>
                <a:srgbClr val="2D569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lumMod val="75000"/>
                  </a:schemeClr>
                </a:solidFill>
              </a:endParaRPr>
            </a:p>
          </p:txBody>
        </p:sp>
        <p:sp>
          <p:nvSpPr>
            <p:cNvPr id="33" name="矩形 32">
              <a:extLst>
                <a:ext uri="{FF2B5EF4-FFF2-40B4-BE49-F238E27FC236}">
                  <a16:creationId xmlns:a16="http://schemas.microsoft.com/office/drawing/2014/main" id="{EDB40799-7979-B9E2-B99C-D8AA09C947C5}"/>
                </a:ext>
              </a:extLst>
            </p:cNvPr>
            <p:cNvSpPr/>
            <p:nvPr/>
          </p:nvSpPr>
          <p:spPr>
            <a:xfrm>
              <a:off x="3869891" y="4048661"/>
              <a:ext cx="248242" cy="280216"/>
            </a:xfrm>
            <a:prstGeom prst="rect">
              <a:avLst/>
            </a:prstGeom>
            <a:solidFill>
              <a:srgbClr val="DDCAAC">
                <a:alpha val="49781"/>
              </a:srgbClr>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4" name="矩形 33">
              <a:extLst>
                <a:ext uri="{FF2B5EF4-FFF2-40B4-BE49-F238E27FC236}">
                  <a16:creationId xmlns:a16="http://schemas.microsoft.com/office/drawing/2014/main" id="{AAF637D6-AA38-A513-2379-F809FB650C15}"/>
                </a:ext>
              </a:extLst>
            </p:cNvPr>
            <p:cNvSpPr/>
            <p:nvPr/>
          </p:nvSpPr>
          <p:spPr>
            <a:xfrm>
              <a:off x="4155271" y="4048661"/>
              <a:ext cx="248242" cy="280216"/>
            </a:xfrm>
            <a:prstGeom prst="rect">
              <a:avLst/>
            </a:prstGeom>
            <a:solidFill>
              <a:srgbClr val="B1CDAA"/>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779AFB3-250C-2EA6-0D0D-3BF8D4DDA4D4}"/>
                </a:ext>
              </a:extLst>
            </p:cNvPr>
            <p:cNvSpPr/>
            <p:nvPr/>
          </p:nvSpPr>
          <p:spPr>
            <a:xfrm>
              <a:off x="4440651" y="4056408"/>
              <a:ext cx="248242" cy="280216"/>
            </a:xfrm>
            <a:prstGeom prst="rect">
              <a:avLst/>
            </a:prstGeom>
            <a:solidFill>
              <a:srgbClr val="B1CFE4"/>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911F337F-E47B-C302-99BC-BC97A82690B8}"/>
                    </a:ext>
                  </a:extLst>
                </p:cNvPr>
                <p:cNvSpPr txBox="1"/>
                <p:nvPr/>
              </p:nvSpPr>
              <p:spPr>
                <a:xfrm>
                  <a:off x="3872728" y="4083320"/>
                  <a:ext cx="224747" cy="2098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i="1" smtClean="0">
                                <a:solidFill>
                                  <a:schemeClr val="tx1">
                                    <a:lumMod val="75000"/>
                                    <a:lumOff val="25000"/>
                                  </a:schemeClr>
                                </a:solidFill>
                                <a:latin typeface="Cambria Math" panose="02040503050406030204" pitchFamily="18" charset="0"/>
                              </a:rPr>
                            </m:ctrlPr>
                          </m:sSubPr>
                          <m:e>
                            <m:r>
                              <a:rPr kumimoji="1" lang="en-US" altLang="zh-CN" sz="1200" b="0" i="1" smtClean="0">
                                <a:solidFill>
                                  <a:schemeClr val="tx1">
                                    <a:lumMod val="75000"/>
                                    <a:lumOff val="25000"/>
                                  </a:schemeClr>
                                </a:solidFill>
                                <a:latin typeface="Cambria Math" panose="02040503050406030204" pitchFamily="18" charset="0"/>
                              </a:rPr>
                              <m:t>𝐺</m:t>
                            </m:r>
                          </m:e>
                          <m:sub>
                            <m:r>
                              <a:rPr kumimoji="1" lang="en-US" altLang="zh-CN" sz="1200" b="0" i="1" smtClean="0">
                                <a:solidFill>
                                  <a:schemeClr val="tx1">
                                    <a:lumMod val="75000"/>
                                    <a:lumOff val="25000"/>
                                  </a:schemeClr>
                                </a:solidFill>
                                <a:latin typeface="Cambria Math" panose="02040503050406030204" pitchFamily="18" charset="0"/>
                              </a:rPr>
                              <m:t>4</m:t>
                            </m:r>
                          </m:sub>
                        </m:sSub>
                      </m:oMath>
                    </m:oMathPara>
                  </a14:m>
                  <a:endParaRPr kumimoji="1" lang="zh-CN" altLang="en-US" sz="12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xmlns="">
            <p:sp>
              <p:nvSpPr>
                <p:cNvPr id="36" name="文本框 35">
                  <a:extLst>
                    <a:ext uri="{FF2B5EF4-FFF2-40B4-BE49-F238E27FC236}">
                      <a16:creationId xmlns:a16="http://schemas.microsoft.com/office/drawing/2014/main" id="{911F337F-E47B-C302-99BC-BC97A82690B8}"/>
                    </a:ext>
                  </a:extLst>
                </p:cNvPr>
                <p:cNvSpPr txBox="1">
                  <a:spLocks noRot="1" noChangeAspect="1" noMove="1" noResize="1" noEditPoints="1" noAdjustHandles="1" noChangeArrowheads="1" noChangeShapeType="1" noTextEdit="1"/>
                </p:cNvSpPr>
                <p:nvPr/>
              </p:nvSpPr>
              <p:spPr>
                <a:xfrm>
                  <a:off x="3872728" y="4083320"/>
                  <a:ext cx="224747" cy="209881"/>
                </a:xfrm>
                <a:prstGeom prst="rect">
                  <a:avLst/>
                </a:prstGeom>
                <a:blipFill>
                  <a:blip r:embed="rId8"/>
                  <a:stretch>
                    <a:fillRect l="-5263" b="-117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1D569041-3829-F152-A616-F201D6CC138B}"/>
                    </a:ext>
                  </a:extLst>
                </p:cNvPr>
                <p:cNvSpPr txBox="1"/>
                <p:nvPr/>
              </p:nvSpPr>
              <p:spPr>
                <a:xfrm>
                  <a:off x="4165358" y="4093492"/>
                  <a:ext cx="229922" cy="2098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i="1" smtClean="0">
                                <a:solidFill>
                                  <a:schemeClr val="tx1">
                                    <a:lumMod val="75000"/>
                                    <a:lumOff val="25000"/>
                                  </a:schemeClr>
                                </a:solidFill>
                                <a:latin typeface="Cambria Math" panose="02040503050406030204" pitchFamily="18" charset="0"/>
                              </a:rPr>
                            </m:ctrlPr>
                          </m:sSubPr>
                          <m:e>
                            <m:r>
                              <a:rPr kumimoji="1" lang="en-US" altLang="zh-CN" sz="1200" b="0" i="1" smtClean="0">
                                <a:solidFill>
                                  <a:schemeClr val="tx1">
                                    <a:lumMod val="75000"/>
                                    <a:lumOff val="25000"/>
                                  </a:schemeClr>
                                </a:solidFill>
                                <a:latin typeface="Cambria Math" panose="02040503050406030204" pitchFamily="18" charset="0"/>
                              </a:rPr>
                              <m:t>𝐺</m:t>
                            </m:r>
                          </m:e>
                          <m:sub>
                            <m:r>
                              <a:rPr kumimoji="1" lang="en-US" altLang="zh-CN" sz="1200" b="0" i="1" smtClean="0">
                                <a:solidFill>
                                  <a:schemeClr val="tx1">
                                    <a:lumMod val="75000"/>
                                    <a:lumOff val="25000"/>
                                  </a:schemeClr>
                                </a:solidFill>
                                <a:latin typeface="Cambria Math" panose="02040503050406030204" pitchFamily="18" charset="0"/>
                              </a:rPr>
                              <m:t>5</m:t>
                            </m:r>
                          </m:sub>
                        </m:sSub>
                      </m:oMath>
                    </m:oMathPara>
                  </a14:m>
                  <a:endParaRPr kumimoji="1" lang="zh-CN" altLang="en-US" sz="12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xmlns="">
            <p:sp>
              <p:nvSpPr>
                <p:cNvPr id="37" name="文本框 36">
                  <a:extLst>
                    <a:ext uri="{FF2B5EF4-FFF2-40B4-BE49-F238E27FC236}">
                      <a16:creationId xmlns:a16="http://schemas.microsoft.com/office/drawing/2014/main" id="{1D569041-3829-F152-A616-F201D6CC138B}"/>
                    </a:ext>
                  </a:extLst>
                </p:cNvPr>
                <p:cNvSpPr txBox="1">
                  <a:spLocks noRot="1" noChangeAspect="1" noMove="1" noResize="1" noEditPoints="1" noAdjustHandles="1" noChangeArrowheads="1" noChangeShapeType="1" noTextEdit="1"/>
                </p:cNvSpPr>
                <p:nvPr/>
              </p:nvSpPr>
              <p:spPr>
                <a:xfrm>
                  <a:off x="4165358" y="4093492"/>
                  <a:ext cx="229922" cy="209881"/>
                </a:xfrm>
                <a:prstGeom prst="rect">
                  <a:avLst/>
                </a:prstGeom>
                <a:blipFill>
                  <a:blip r:embed="rId9"/>
                  <a:stretch>
                    <a:fillRect l="-5000"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1B20874B-EE57-E316-38F0-36515862A5CC}"/>
                    </a:ext>
                  </a:extLst>
                </p:cNvPr>
                <p:cNvSpPr txBox="1"/>
                <p:nvPr/>
              </p:nvSpPr>
              <p:spPr>
                <a:xfrm>
                  <a:off x="4448530" y="4097697"/>
                  <a:ext cx="229922" cy="2098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i="1" smtClean="0">
                                <a:solidFill>
                                  <a:schemeClr val="tx1">
                                    <a:lumMod val="75000"/>
                                    <a:lumOff val="25000"/>
                                  </a:schemeClr>
                                </a:solidFill>
                                <a:latin typeface="Cambria Math" panose="02040503050406030204" pitchFamily="18" charset="0"/>
                              </a:rPr>
                            </m:ctrlPr>
                          </m:sSubPr>
                          <m:e>
                            <m:r>
                              <a:rPr kumimoji="1" lang="en-US" altLang="zh-CN" sz="1200" b="0" i="1" smtClean="0">
                                <a:solidFill>
                                  <a:schemeClr val="tx1">
                                    <a:lumMod val="75000"/>
                                    <a:lumOff val="25000"/>
                                  </a:schemeClr>
                                </a:solidFill>
                                <a:latin typeface="Cambria Math" panose="02040503050406030204" pitchFamily="18" charset="0"/>
                              </a:rPr>
                              <m:t>𝐺</m:t>
                            </m:r>
                          </m:e>
                          <m:sub>
                            <m:r>
                              <a:rPr kumimoji="1" lang="en-US" altLang="zh-CN" sz="1200" b="0" i="1" smtClean="0">
                                <a:solidFill>
                                  <a:schemeClr val="tx1">
                                    <a:lumMod val="75000"/>
                                    <a:lumOff val="25000"/>
                                  </a:schemeClr>
                                </a:solidFill>
                                <a:latin typeface="Cambria Math" panose="02040503050406030204" pitchFamily="18" charset="0"/>
                              </a:rPr>
                              <m:t>6</m:t>
                            </m:r>
                          </m:sub>
                        </m:sSub>
                      </m:oMath>
                    </m:oMathPara>
                  </a14:m>
                  <a:endParaRPr kumimoji="1" lang="zh-CN" altLang="en-US" sz="12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xmlns="">
            <p:sp>
              <p:nvSpPr>
                <p:cNvPr id="38" name="文本框 37">
                  <a:extLst>
                    <a:ext uri="{FF2B5EF4-FFF2-40B4-BE49-F238E27FC236}">
                      <a16:creationId xmlns:a16="http://schemas.microsoft.com/office/drawing/2014/main" id="{1B20874B-EE57-E316-38F0-36515862A5CC}"/>
                    </a:ext>
                  </a:extLst>
                </p:cNvPr>
                <p:cNvSpPr txBox="1">
                  <a:spLocks noRot="1" noChangeAspect="1" noMove="1" noResize="1" noEditPoints="1" noAdjustHandles="1" noChangeArrowheads="1" noChangeShapeType="1" noTextEdit="1"/>
                </p:cNvSpPr>
                <p:nvPr/>
              </p:nvSpPr>
              <p:spPr>
                <a:xfrm>
                  <a:off x="4448530" y="4097697"/>
                  <a:ext cx="229922" cy="209881"/>
                </a:xfrm>
                <a:prstGeom prst="rect">
                  <a:avLst/>
                </a:prstGeom>
                <a:blipFill>
                  <a:blip r:embed="rId10"/>
                  <a:stretch>
                    <a:fillRect l="-10526" b="-5556"/>
                  </a:stretch>
                </a:blipFill>
              </p:spPr>
              <p:txBody>
                <a:bodyPr/>
                <a:lstStyle/>
                <a:p>
                  <a:r>
                    <a:rPr lang="zh-CN" altLang="en-US">
                      <a:noFill/>
                    </a:rPr>
                    <a:t> </a:t>
                  </a:r>
                </a:p>
              </p:txBody>
            </p:sp>
          </mc:Fallback>
        </mc:AlternateContent>
        <p:sp>
          <p:nvSpPr>
            <p:cNvPr id="39" name="矩形 38">
              <a:extLst>
                <a:ext uri="{FF2B5EF4-FFF2-40B4-BE49-F238E27FC236}">
                  <a16:creationId xmlns:a16="http://schemas.microsoft.com/office/drawing/2014/main" id="{8DC32E5A-0BB1-F11E-64EF-D14A6E1D0773}"/>
                </a:ext>
              </a:extLst>
            </p:cNvPr>
            <p:cNvSpPr/>
            <p:nvPr/>
          </p:nvSpPr>
          <p:spPr>
            <a:xfrm>
              <a:off x="6327686" y="3961553"/>
              <a:ext cx="683609" cy="405030"/>
            </a:xfrm>
            <a:prstGeom prst="rect">
              <a:avLst/>
            </a:prstGeom>
            <a:solidFill>
              <a:srgbClr val="7D91A3">
                <a:alpha val="31107"/>
              </a:srgbClr>
            </a:solidFill>
            <a:ln w="6350"/>
            <a:scene3d>
              <a:camera prst="isometricLeftDown">
                <a:rot lat="1200000" lon="24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21285DD2-E1C1-D82D-9D96-1A8E3B237B77}"/>
                    </a:ext>
                  </a:extLst>
                </p:cNvPr>
                <p:cNvSpPr txBox="1"/>
                <p:nvPr/>
              </p:nvSpPr>
              <p:spPr>
                <a:xfrm>
                  <a:off x="6463932" y="3980407"/>
                  <a:ext cx="20555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solidFill>
                              <a:schemeClr val="tx1">
                                <a:lumMod val="65000"/>
                                <a:lumOff val="35000"/>
                              </a:schemeClr>
                            </a:solidFill>
                            <a:latin typeface="Cambria Math" panose="02040503050406030204" pitchFamily="18" charset="0"/>
                            <a:cs typeface="Times New Roman" panose="02020603050405020304" pitchFamily="18" charset="0"/>
                          </a:rPr>
                          <m:t>𝐺</m:t>
                        </m:r>
                      </m:oMath>
                    </m:oMathPara>
                  </a14:m>
                  <a:endParaRPr kumimoji="1" lang="zh-CN" altLang="en-US" i="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mc:Choice>
          <mc:Fallback xmlns="">
            <p:sp>
              <p:nvSpPr>
                <p:cNvPr id="40" name="文本框 39">
                  <a:extLst>
                    <a:ext uri="{FF2B5EF4-FFF2-40B4-BE49-F238E27FC236}">
                      <a16:creationId xmlns:a16="http://schemas.microsoft.com/office/drawing/2014/main" id="{21285DD2-E1C1-D82D-9D96-1A8E3B237B77}"/>
                    </a:ext>
                  </a:extLst>
                </p:cNvPr>
                <p:cNvSpPr txBox="1">
                  <a:spLocks noRot="1" noChangeAspect="1" noMove="1" noResize="1" noEditPoints="1" noAdjustHandles="1" noChangeArrowheads="1" noChangeShapeType="1" noTextEdit="1"/>
                </p:cNvSpPr>
                <p:nvPr/>
              </p:nvSpPr>
              <p:spPr>
                <a:xfrm>
                  <a:off x="6463932" y="3980407"/>
                  <a:ext cx="205559" cy="276999"/>
                </a:xfrm>
                <a:prstGeom prst="rect">
                  <a:avLst/>
                </a:prstGeom>
                <a:blipFill>
                  <a:blip r:embed="rId11"/>
                  <a:stretch>
                    <a:fillRect l="-22222" r="-16667" b="-4348"/>
                  </a:stretch>
                </a:blipFill>
              </p:spPr>
              <p:txBody>
                <a:bodyPr/>
                <a:lstStyle/>
                <a:p>
                  <a:r>
                    <a:rPr lang="zh-CN" altLang="en-US">
                      <a:noFill/>
                    </a:rPr>
                    <a:t> </a:t>
                  </a:r>
                </a:p>
              </p:txBody>
            </p:sp>
          </mc:Fallback>
        </mc:AlternateContent>
        <p:cxnSp>
          <p:nvCxnSpPr>
            <p:cNvPr id="41" name="直线箭头连接符 40">
              <a:extLst>
                <a:ext uri="{FF2B5EF4-FFF2-40B4-BE49-F238E27FC236}">
                  <a16:creationId xmlns:a16="http://schemas.microsoft.com/office/drawing/2014/main" id="{B6935AC8-BBC1-DA6C-F68A-09DFF7ADA71F}"/>
                </a:ext>
              </a:extLst>
            </p:cNvPr>
            <p:cNvCxnSpPr/>
            <p:nvPr/>
          </p:nvCxnSpPr>
          <p:spPr>
            <a:xfrm>
              <a:off x="4908281" y="4253716"/>
              <a:ext cx="1272300" cy="0"/>
            </a:xfrm>
            <a:prstGeom prst="straightConnector1">
              <a:avLst/>
            </a:prstGeom>
            <a:ln w="15875">
              <a:solidFill>
                <a:srgbClr val="2D5695"/>
              </a:solidFill>
              <a:tailEnd type="stealt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24AF0955-B0B9-A1A4-B118-54F256298EFA}"/>
                    </a:ext>
                  </a:extLst>
                </p:cNvPr>
                <p:cNvSpPr txBox="1"/>
                <p:nvPr/>
              </p:nvSpPr>
              <p:spPr>
                <a:xfrm rot="1020559">
                  <a:off x="6483542" y="4075994"/>
                  <a:ext cx="471544"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1100" b="0" i="1" smtClean="0">
                            <a:solidFill>
                              <a:schemeClr val="tx1">
                                <a:lumMod val="65000"/>
                                <a:lumOff val="35000"/>
                              </a:schemeClr>
                            </a:solidFill>
                            <a:latin typeface="Cambria Math" panose="02040503050406030204" pitchFamily="18" charset="0"/>
                          </a:rPr>
                          <m:t>𝑠𝑦𝑠</m:t>
                        </m:r>
                      </m:oMath>
                    </m:oMathPara>
                  </a14:m>
                  <a:endParaRPr lang="zh-CN" altLang="en-US" sz="1100" dirty="0"/>
                </a:p>
              </p:txBody>
            </p:sp>
          </mc:Choice>
          <mc:Fallback xmlns="">
            <p:sp>
              <p:nvSpPr>
                <p:cNvPr id="43" name="文本框 42">
                  <a:extLst>
                    <a:ext uri="{FF2B5EF4-FFF2-40B4-BE49-F238E27FC236}">
                      <a16:creationId xmlns:a16="http://schemas.microsoft.com/office/drawing/2014/main" id="{24AF0955-B0B9-A1A4-B118-54F256298EFA}"/>
                    </a:ext>
                  </a:extLst>
                </p:cNvPr>
                <p:cNvSpPr txBox="1">
                  <a:spLocks noRot="1" noChangeAspect="1" noMove="1" noResize="1" noEditPoints="1" noAdjustHandles="1" noChangeArrowheads="1" noChangeShapeType="1" noTextEdit="1"/>
                </p:cNvSpPr>
                <p:nvPr/>
              </p:nvSpPr>
              <p:spPr>
                <a:xfrm rot="1020559">
                  <a:off x="6483542" y="4075994"/>
                  <a:ext cx="471544" cy="261610"/>
                </a:xfrm>
                <a:prstGeom prst="rect">
                  <a:avLst/>
                </a:prstGeom>
                <a:blipFill>
                  <a:blip r:embed="rId12"/>
                  <a:stretch>
                    <a:fillRect/>
                  </a:stretch>
                </a:blipFill>
              </p:spPr>
              <p:txBody>
                <a:bodyPr/>
                <a:lstStyle/>
                <a:p>
                  <a:r>
                    <a:rPr lang="zh-CN" altLang="en-US">
                      <a:noFill/>
                    </a:rPr>
                    <a:t> </a:t>
                  </a:r>
                </a:p>
              </p:txBody>
            </p:sp>
          </mc:Fallback>
        </mc:AlternateContent>
        <p:sp>
          <p:nvSpPr>
            <p:cNvPr id="44" name="文本框 43">
              <a:extLst>
                <a:ext uri="{FF2B5EF4-FFF2-40B4-BE49-F238E27FC236}">
                  <a16:creationId xmlns:a16="http://schemas.microsoft.com/office/drawing/2014/main" id="{C83C6AA6-D8E8-F49B-12D7-66CDFCDE6738}"/>
                </a:ext>
              </a:extLst>
            </p:cNvPr>
            <p:cNvSpPr txBox="1"/>
            <p:nvPr/>
          </p:nvSpPr>
          <p:spPr>
            <a:xfrm>
              <a:off x="4967041" y="3991812"/>
              <a:ext cx="1102307" cy="307777"/>
            </a:xfrm>
            <a:prstGeom prst="rect">
              <a:avLst/>
            </a:prstGeom>
            <a:noFill/>
          </p:spPr>
          <p:txBody>
            <a:bodyPr wrap="square" rtlCol="0">
              <a:spAutoFit/>
            </a:bodyPr>
            <a:lstStyle/>
            <a:p>
              <a:r>
                <a:rPr kumimoji="1" lang="en-US" altLang="zh-CN" sz="1400" i="1" dirty="0">
                  <a:solidFill>
                    <a:srgbClr val="2D5695"/>
                  </a:solidFill>
                  <a:latin typeface="Times New Roman" panose="02020603050405020304" pitchFamily="18" charset="0"/>
                  <a:cs typeface="Times New Roman" panose="02020603050405020304" pitchFamily="18" charset="0"/>
                </a:rPr>
                <a:t>Composition</a:t>
              </a:r>
            </a:p>
          </p:txBody>
        </p:sp>
        <p:sp>
          <p:nvSpPr>
            <p:cNvPr id="46" name="矩形 45">
              <a:extLst>
                <a:ext uri="{FF2B5EF4-FFF2-40B4-BE49-F238E27FC236}">
                  <a16:creationId xmlns:a16="http://schemas.microsoft.com/office/drawing/2014/main" id="{F2257DFE-4705-220B-2157-543C6CE59BD4}"/>
                </a:ext>
              </a:extLst>
            </p:cNvPr>
            <p:cNvSpPr/>
            <p:nvPr/>
          </p:nvSpPr>
          <p:spPr>
            <a:xfrm>
              <a:off x="2918366" y="4048661"/>
              <a:ext cx="245041" cy="276602"/>
            </a:xfrm>
            <a:prstGeom prst="rect">
              <a:avLst/>
            </a:prstGeom>
            <a:solidFill>
              <a:srgbClr val="B1CFE4"/>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7" name="矩形 46">
              <a:extLst>
                <a:ext uri="{FF2B5EF4-FFF2-40B4-BE49-F238E27FC236}">
                  <a16:creationId xmlns:a16="http://schemas.microsoft.com/office/drawing/2014/main" id="{B278EB50-1017-1977-62BD-826258389C58}"/>
                </a:ext>
              </a:extLst>
            </p:cNvPr>
            <p:cNvSpPr/>
            <p:nvPr/>
          </p:nvSpPr>
          <p:spPr>
            <a:xfrm>
              <a:off x="3200065" y="4048661"/>
              <a:ext cx="245041" cy="276602"/>
            </a:xfrm>
            <a:prstGeom prst="rect">
              <a:avLst/>
            </a:prstGeom>
            <a:solidFill>
              <a:srgbClr val="B1CDAA"/>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矩形 47">
              <a:extLst>
                <a:ext uri="{FF2B5EF4-FFF2-40B4-BE49-F238E27FC236}">
                  <a16:creationId xmlns:a16="http://schemas.microsoft.com/office/drawing/2014/main" id="{2CD2871E-5B3D-C5D5-249B-F3286855F1F6}"/>
                </a:ext>
              </a:extLst>
            </p:cNvPr>
            <p:cNvSpPr/>
            <p:nvPr/>
          </p:nvSpPr>
          <p:spPr>
            <a:xfrm>
              <a:off x="3481764" y="4056308"/>
              <a:ext cx="245041" cy="276602"/>
            </a:xfrm>
            <a:prstGeom prst="rect">
              <a:avLst/>
            </a:prstGeom>
            <a:solidFill>
              <a:srgbClr val="E5D2B0">
                <a:alpha val="50000"/>
              </a:srgbClr>
            </a:solidFill>
            <a:ln w="6350"/>
            <a:scene3d>
              <a:camera prst="isometricLeftDown">
                <a:rot lat="1200000" lon="1800000" rev="0"/>
              </a:camera>
              <a:lightRig rig="threePt" dir="t"/>
            </a:scene3d>
            <a:sp3d prstMaterial="plastic">
              <a:bevelT w="0" h="0"/>
              <a:bevelB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D143EB16-6FF9-A40F-4BB2-DF419CFE0A75}"/>
                    </a:ext>
                  </a:extLst>
                </p:cNvPr>
                <p:cNvSpPr txBox="1"/>
                <p:nvPr/>
              </p:nvSpPr>
              <p:spPr>
                <a:xfrm>
                  <a:off x="2921166" y="4082873"/>
                  <a:ext cx="221848" cy="207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i="1" smtClean="0">
                                <a:solidFill>
                                  <a:schemeClr val="tx1">
                                    <a:lumMod val="75000"/>
                                    <a:lumOff val="25000"/>
                                  </a:schemeClr>
                                </a:solidFill>
                                <a:latin typeface="Cambria Math" panose="02040503050406030204" pitchFamily="18" charset="0"/>
                              </a:rPr>
                            </m:ctrlPr>
                          </m:sSubPr>
                          <m:e>
                            <m:r>
                              <a:rPr kumimoji="1" lang="en-US" altLang="zh-CN" sz="1200" b="0" i="1" smtClean="0">
                                <a:solidFill>
                                  <a:schemeClr val="tx1">
                                    <a:lumMod val="75000"/>
                                    <a:lumOff val="25000"/>
                                  </a:schemeClr>
                                </a:solidFill>
                                <a:latin typeface="Cambria Math" panose="02040503050406030204" pitchFamily="18" charset="0"/>
                              </a:rPr>
                              <m:t>𝐺</m:t>
                            </m:r>
                          </m:e>
                          <m:sub>
                            <m:r>
                              <a:rPr kumimoji="1" lang="en-US" altLang="zh-CN" sz="1200" b="0" i="1" smtClean="0">
                                <a:solidFill>
                                  <a:schemeClr val="tx1">
                                    <a:lumMod val="75000"/>
                                    <a:lumOff val="25000"/>
                                  </a:schemeClr>
                                </a:solidFill>
                                <a:latin typeface="Cambria Math" panose="02040503050406030204" pitchFamily="18" charset="0"/>
                              </a:rPr>
                              <m:t>1</m:t>
                            </m:r>
                          </m:sub>
                        </m:sSub>
                      </m:oMath>
                    </m:oMathPara>
                  </a14:m>
                  <a:endParaRPr kumimoji="1" lang="zh-CN" altLang="en-US" sz="12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xmlns="">
            <p:sp>
              <p:nvSpPr>
                <p:cNvPr id="49" name="文本框 48">
                  <a:extLst>
                    <a:ext uri="{FF2B5EF4-FFF2-40B4-BE49-F238E27FC236}">
                      <a16:creationId xmlns:a16="http://schemas.microsoft.com/office/drawing/2014/main" id="{D143EB16-6FF9-A40F-4BB2-DF419CFE0A75}"/>
                    </a:ext>
                  </a:extLst>
                </p:cNvPr>
                <p:cNvSpPr txBox="1">
                  <a:spLocks noRot="1" noChangeAspect="1" noMove="1" noResize="1" noEditPoints="1" noAdjustHandles="1" noChangeArrowheads="1" noChangeShapeType="1" noTextEdit="1"/>
                </p:cNvSpPr>
                <p:nvPr/>
              </p:nvSpPr>
              <p:spPr>
                <a:xfrm>
                  <a:off x="2921166" y="4082873"/>
                  <a:ext cx="221848" cy="207174"/>
                </a:xfrm>
                <a:prstGeom prst="rect">
                  <a:avLst/>
                </a:prstGeom>
                <a:blipFill>
                  <a:blip r:embed="rId13"/>
                  <a:stretch>
                    <a:fillRect l="-5263" b="-117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68BF41FF-E8D3-520B-F9B7-991F1FE59FF8}"/>
                    </a:ext>
                  </a:extLst>
                </p:cNvPr>
                <p:cNvSpPr txBox="1"/>
                <p:nvPr/>
              </p:nvSpPr>
              <p:spPr>
                <a:xfrm>
                  <a:off x="3210023" y="4092914"/>
                  <a:ext cx="226956" cy="207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i="1" smtClean="0">
                                <a:solidFill>
                                  <a:schemeClr val="tx1">
                                    <a:lumMod val="75000"/>
                                    <a:lumOff val="25000"/>
                                  </a:schemeClr>
                                </a:solidFill>
                                <a:latin typeface="Cambria Math" panose="02040503050406030204" pitchFamily="18" charset="0"/>
                              </a:rPr>
                            </m:ctrlPr>
                          </m:sSubPr>
                          <m:e>
                            <m:r>
                              <a:rPr kumimoji="1" lang="en-US" altLang="zh-CN" sz="1200" b="0" i="1" smtClean="0">
                                <a:solidFill>
                                  <a:schemeClr val="tx1">
                                    <a:lumMod val="75000"/>
                                    <a:lumOff val="25000"/>
                                  </a:schemeClr>
                                </a:solidFill>
                                <a:latin typeface="Cambria Math" panose="02040503050406030204" pitchFamily="18" charset="0"/>
                              </a:rPr>
                              <m:t>𝐺</m:t>
                            </m:r>
                          </m:e>
                          <m:sub>
                            <m:r>
                              <a:rPr kumimoji="1" lang="en-US" altLang="zh-CN" sz="1200" b="0" i="1" smtClean="0">
                                <a:solidFill>
                                  <a:schemeClr val="tx1">
                                    <a:lumMod val="75000"/>
                                    <a:lumOff val="25000"/>
                                  </a:schemeClr>
                                </a:solidFill>
                                <a:latin typeface="Cambria Math" panose="02040503050406030204" pitchFamily="18" charset="0"/>
                              </a:rPr>
                              <m:t>2</m:t>
                            </m:r>
                          </m:sub>
                        </m:sSub>
                      </m:oMath>
                    </m:oMathPara>
                  </a14:m>
                  <a:endParaRPr kumimoji="1" lang="zh-CN" altLang="en-US" sz="12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xmlns="">
            <p:sp>
              <p:nvSpPr>
                <p:cNvPr id="50" name="文本框 49">
                  <a:extLst>
                    <a:ext uri="{FF2B5EF4-FFF2-40B4-BE49-F238E27FC236}">
                      <a16:creationId xmlns:a16="http://schemas.microsoft.com/office/drawing/2014/main" id="{68BF41FF-E8D3-520B-F9B7-991F1FE59FF8}"/>
                    </a:ext>
                  </a:extLst>
                </p:cNvPr>
                <p:cNvSpPr txBox="1">
                  <a:spLocks noRot="1" noChangeAspect="1" noMove="1" noResize="1" noEditPoints="1" noAdjustHandles="1" noChangeArrowheads="1" noChangeShapeType="1" noTextEdit="1"/>
                </p:cNvSpPr>
                <p:nvPr/>
              </p:nvSpPr>
              <p:spPr>
                <a:xfrm>
                  <a:off x="3210023" y="4092914"/>
                  <a:ext cx="226956" cy="207174"/>
                </a:xfrm>
                <a:prstGeom prst="rect">
                  <a:avLst/>
                </a:prstGeom>
                <a:blipFill>
                  <a:blip r:embed="rId14"/>
                  <a:stretch>
                    <a:fillRect l="-5263"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1DBF7296-C81A-EEAC-37D1-B2E32434BAC7}"/>
                    </a:ext>
                  </a:extLst>
                </p:cNvPr>
                <p:cNvSpPr txBox="1"/>
                <p:nvPr/>
              </p:nvSpPr>
              <p:spPr>
                <a:xfrm>
                  <a:off x="3489542" y="4097065"/>
                  <a:ext cx="226955" cy="207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i="1" smtClean="0">
                                <a:solidFill>
                                  <a:schemeClr val="tx1">
                                    <a:lumMod val="75000"/>
                                    <a:lumOff val="25000"/>
                                  </a:schemeClr>
                                </a:solidFill>
                                <a:latin typeface="Cambria Math" panose="02040503050406030204" pitchFamily="18" charset="0"/>
                              </a:rPr>
                            </m:ctrlPr>
                          </m:sSubPr>
                          <m:e>
                            <m:r>
                              <a:rPr kumimoji="1" lang="en-US" altLang="zh-CN" sz="1200" b="0" i="1" smtClean="0">
                                <a:solidFill>
                                  <a:schemeClr val="tx1">
                                    <a:lumMod val="75000"/>
                                    <a:lumOff val="25000"/>
                                  </a:schemeClr>
                                </a:solidFill>
                                <a:latin typeface="Cambria Math" panose="02040503050406030204" pitchFamily="18" charset="0"/>
                              </a:rPr>
                              <m:t>𝐺</m:t>
                            </m:r>
                          </m:e>
                          <m:sub>
                            <m:r>
                              <a:rPr kumimoji="1" lang="en-US" altLang="zh-CN" sz="1200" b="0" i="1" smtClean="0">
                                <a:solidFill>
                                  <a:schemeClr val="tx1">
                                    <a:lumMod val="75000"/>
                                    <a:lumOff val="25000"/>
                                  </a:schemeClr>
                                </a:solidFill>
                                <a:latin typeface="Cambria Math" panose="02040503050406030204" pitchFamily="18" charset="0"/>
                              </a:rPr>
                              <m:t>3</m:t>
                            </m:r>
                          </m:sub>
                        </m:sSub>
                      </m:oMath>
                    </m:oMathPara>
                  </a14:m>
                  <a:endParaRPr kumimoji="1" lang="zh-CN" altLang="en-US" sz="1200" i="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xmlns="">
            <p:sp>
              <p:nvSpPr>
                <p:cNvPr id="51" name="文本框 50">
                  <a:extLst>
                    <a:ext uri="{FF2B5EF4-FFF2-40B4-BE49-F238E27FC236}">
                      <a16:creationId xmlns:a16="http://schemas.microsoft.com/office/drawing/2014/main" id="{1DBF7296-C81A-EEAC-37D1-B2E32434BAC7}"/>
                    </a:ext>
                  </a:extLst>
                </p:cNvPr>
                <p:cNvSpPr txBox="1">
                  <a:spLocks noRot="1" noChangeAspect="1" noMove="1" noResize="1" noEditPoints="1" noAdjustHandles="1" noChangeArrowheads="1" noChangeShapeType="1" noTextEdit="1"/>
                </p:cNvSpPr>
                <p:nvPr/>
              </p:nvSpPr>
              <p:spPr>
                <a:xfrm>
                  <a:off x="3489542" y="4097065"/>
                  <a:ext cx="226955" cy="207174"/>
                </a:xfrm>
                <a:prstGeom prst="rect">
                  <a:avLst/>
                </a:prstGeom>
                <a:blipFill>
                  <a:blip r:embed="rId15"/>
                  <a:stretch>
                    <a:fillRect l="-5263" b="-11765"/>
                  </a:stretch>
                </a:blipFill>
              </p:spPr>
              <p:txBody>
                <a:bodyPr/>
                <a:lstStyle/>
                <a:p>
                  <a:r>
                    <a:rPr lang="zh-CN" altLang="en-US">
                      <a:noFill/>
                    </a:rPr>
                    <a:t> </a:t>
                  </a:r>
                </a:p>
              </p:txBody>
            </p:sp>
          </mc:Fallback>
        </mc:AlternateContent>
        <p:sp>
          <p:nvSpPr>
            <p:cNvPr id="52" name="文本框 51">
              <a:extLst>
                <a:ext uri="{FF2B5EF4-FFF2-40B4-BE49-F238E27FC236}">
                  <a16:creationId xmlns:a16="http://schemas.microsoft.com/office/drawing/2014/main" id="{C85D7949-1BA2-98D9-4D13-EEE2FA38FB2F}"/>
                </a:ext>
              </a:extLst>
            </p:cNvPr>
            <p:cNvSpPr txBox="1"/>
            <p:nvPr/>
          </p:nvSpPr>
          <p:spPr>
            <a:xfrm>
              <a:off x="2178971" y="1550006"/>
              <a:ext cx="1437497" cy="369332"/>
            </a:xfrm>
            <a:prstGeom prst="rect">
              <a:avLst/>
            </a:prstGeom>
            <a:noFill/>
            <a:ln>
              <a:noFill/>
            </a:ln>
          </p:spPr>
          <p:txBody>
            <a:bodyPr wrap="square">
              <a:spAutoFit/>
            </a:bodyPr>
            <a:lstStyle/>
            <a:p>
              <a:r>
                <a:rPr kumimoji="1" lang="en-US" altLang="zh-CN" sz="1800" dirty="0">
                  <a:solidFill>
                    <a:srgbClr val="2D5695"/>
                  </a:solidFill>
                  <a:latin typeface="Times New Roman" panose="02020603050405020304" pitchFamily="18" charset="0"/>
                  <a:cs typeface="Times New Roman" panose="02020603050405020304" pitchFamily="18" charset="0"/>
                </a:rPr>
                <a:t>Ray Tracing </a:t>
              </a:r>
              <a:endParaRPr lang="zh-CN" altLang="en-US" dirty="0">
                <a:solidFill>
                  <a:srgbClr val="2D5695"/>
                </a:solidFill>
              </a:endParaRPr>
            </a:p>
          </p:txBody>
        </p:sp>
        <p:sp>
          <p:nvSpPr>
            <p:cNvPr id="53" name="文本框 52">
              <a:extLst>
                <a:ext uri="{FF2B5EF4-FFF2-40B4-BE49-F238E27FC236}">
                  <a16:creationId xmlns:a16="http://schemas.microsoft.com/office/drawing/2014/main" id="{80F6F826-A6BB-5321-48E4-C91C916023CF}"/>
                </a:ext>
              </a:extLst>
            </p:cNvPr>
            <p:cNvSpPr txBox="1"/>
            <p:nvPr/>
          </p:nvSpPr>
          <p:spPr>
            <a:xfrm>
              <a:off x="5272090" y="3408863"/>
              <a:ext cx="1220474" cy="369332"/>
            </a:xfrm>
            <a:prstGeom prst="rect">
              <a:avLst/>
            </a:prstGeom>
            <a:noFill/>
          </p:spPr>
          <p:txBody>
            <a:bodyPr wrap="square">
              <a:spAutoFit/>
            </a:bodyPr>
            <a:lstStyle/>
            <a:p>
              <a:r>
                <a:rPr kumimoji="1" lang="en-US" altLang="zh-CN" sz="1800" dirty="0" err="1">
                  <a:solidFill>
                    <a:srgbClr val="2D5695"/>
                  </a:solidFill>
                  <a:latin typeface="Times New Roman" panose="02020603050405020304" pitchFamily="18" charset="0"/>
                  <a:cs typeface="Times New Roman" panose="02020603050405020304" pitchFamily="18" charset="0"/>
                </a:rPr>
                <a:t>LieOptics</a:t>
              </a:r>
              <a:r>
                <a:rPr kumimoji="1" lang="en-US" altLang="zh-CN" sz="1800" dirty="0">
                  <a:solidFill>
                    <a:srgbClr val="2D5695"/>
                  </a:solidFill>
                  <a:latin typeface="Times New Roman" panose="02020603050405020304" pitchFamily="18" charset="0"/>
                  <a:cs typeface="Times New Roman" panose="02020603050405020304" pitchFamily="18" charset="0"/>
                </a:rPr>
                <a:t> </a:t>
              </a:r>
              <a:endParaRPr lang="zh-CN" altLang="en-US" dirty="0">
                <a:solidFill>
                  <a:srgbClr val="2D5695"/>
                </a:solidFill>
              </a:endParaRPr>
            </a:p>
          </p:txBody>
        </p:sp>
        <p:cxnSp>
          <p:nvCxnSpPr>
            <p:cNvPr id="58" name="直线箭头连接符 57">
              <a:extLst>
                <a:ext uri="{FF2B5EF4-FFF2-40B4-BE49-F238E27FC236}">
                  <a16:creationId xmlns:a16="http://schemas.microsoft.com/office/drawing/2014/main" id="{5EE428F0-4FB3-D85D-E49A-99B4A6F76738}"/>
                </a:ext>
              </a:extLst>
            </p:cNvPr>
            <p:cNvCxnSpPr>
              <a:cxnSpLocks/>
            </p:cNvCxnSpPr>
            <p:nvPr/>
          </p:nvCxnSpPr>
          <p:spPr>
            <a:xfrm>
              <a:off x="3332345" y="3720615"/>
              <a:ext cx="0" cy="271197"/>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9" name="直线箭头连接符 58">
              <a:extLst>
                <a:ext uri="{FF2B5EF4-FFF2-40B4-BE49-F238E27FC236}">
                  <a16:creationId xmlns:a16="http://schemas.microsoft.com/office/drawing/2014/main" id="{466B26EC-C22B-F730-F855-0BAF47E73C5F}"/>
                </a:ext>
              </a:extLst>
            </p:cNvPr>
            <p:cNvCxnSpPr>
              <a:cxnSpLocks/>
            </p:cNvCxnSpPr>
            <p:nvPr/>
          </p:nvCxnSpPr>
          <p:spPr>
            <a:xfrm>
              <a:off x="3143014" y="3720614"/>
              <a:ext cx="0" cy="271197"/>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0" name="直线箭头连接符 59">
              <a:extLst>
                <a:ext uri="{FF2B5EF4-FFF2-40B4-BE49-F238E27FC236}">
                  <a16:creationId xmlns:a16="http://schemas.microsoft.com/office/drawing/2014/main" id="{18389877-FB64-20EC-9E1D-A3B0D2781D46}"/>
                </a:ext>
              </a:extLst>
            </p:cNvPr>
            <p:cNvCxnSpPr>
              <a:cxnSpLocks/>
            </p:cNvCxnSpPr>
            <p:nvPr/>
          </p:nvCxnSpPr>
          <p:spPr>
            <a:xfrm>
              <a:off x="3525126" y="3720613"/>
              <a:ext cx="0" cy="271197"/>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1" name="直线箭头连接符 60">
              <a:extLst>
                <a:ext uri="{FF2B5EF4-FFF2-40B4-BE49-F238E27FC236}">
                  <a16:creationId xmlns:a16="http://schemas.microsoft.com/office/drawing/2014/main" id="{1008A50B-2C5E-F7C8-9F1A-5E4889792CCA}"/>
                </a:ext>
              </a:extLst>
            </p:cNvPr>
            <p:cNvCxnSpPr>
              <a:cxnSpLocks/>
            </p:cNvCxnSpPr>
            <p:nvPr/>
          </p:nvCxnSpPr>
          <p:spPr>
            <a:xfrm>
              <a:off x="4070114" y="3720612"/>
              <a:ext cx="0" cy="271197"/>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2" name="直线箭头连接符 61">
              <a:extLst>
                <a:ext uri="{FF2B5EF4-FFF2-40B4-BE49-F238E27FC236}">
                  <a16:creationId xmlns:a16="http://schemas.microsoft.com/office/drawing/2014/main" id="{D790505F-0824-A47F-A77A-C57FBAB56DE5}"/>
                </a:ext>
              </a:extLst>
            </p:cNvPr>
            <p:cNvCxnSpPr>
              <a:cxnSpLocks/>
            </p:cNvCxnSpPr>
            <p:nvPr/>
          </p:nvCxnSpPr>
          <p:spPr>
            <a:xfrm>
              <a:off x="4260262" y="3720610"/>
              <a:ext cx="0" cy="271197"/>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3" name="直线箭头连接符 62">
              <a:extLst>
                <a:ext uri="{FF2B5EF4-FFF2-40B4-BE49-F238E27FC236}">
                  <a16:creationId xmlns:a16="http://schemas.microsoft.com/office/drawing/2014/main" id="{DB7A0B78-0575-AC38-342F-34EDF5B2EB2B}"/>
                </a:ext>
              </a:extLst>
            </p:cNvPr>
            <p:cNvCxnSpPr>
              <a:cxnSpLocks/>
            </p:cNvCxnSpPr>
            <p:nvPr/>
          </p:nvCxnSpPr>
          <p:spPr>
            <a:xfrm>
              <a:off x="4461158" y="3720610"/>
              <a:ext cx="0" cy="271197"/>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8" name="组合 67">
            <a:extLst>
              <a:ext uri="{FF2B5EF4-FFF2-40B4-BE49-F238E27FC236}">
                <a16:creationId xmlns:a16="http://schemas.microsoft.com/office/drawing/2014/main" id="{5AE37934-5AC1-C6F2-412C-E5E0991184E9}"/>
              </a:ext>
            </a:extLst>
          </p:cNvPr>
          <p:cNvGrpSpPr/>
          <p:nvPr/>
        </p:nvGrpSpPr>
        <p:grpSpPr>
          <a:xfrm>
            <a:off x="6989043" y="1525501"/>
            <a:ext cx="1916522" cy="2780204"/>
            <a:chOff x="6989043" y="1525501"/>
            <a:chExt cx="1916522" cy="2780204"/>
          </a:xfrm>
        </p:grpSpPr>
        <p:sp>
          <p:nvSpPr>
            <p:cNvPr id="30" name="圆角矩形 29">
              <a:extLst>
                <a:ext uri="{FF2B5EF4-FFF2-40B4-BE49-F238E27FC236}">
                  <a16:creationId xmlns:a16="http://schemas.microsoft.com/office/drawing/2014/main" id="{AC3C3644-B03D-A61D-DE42-7BD66E6496DB}"/>
                </a:ext>
              </a:extLst>
            </p:cNvPr>
            <p:cNvSpPr/>
            <p:nvPr/>
          </p:nvSpPr>
          <p:spPr>
            <a:xfrm>
              <a:off x="7130843" y="1525501"/>
              <a:ext cx="1774722" cy="2780204"/>
            </a:xfrm>
            <a:prstGeom prst="roundRect">
              <a:avLst>
                <a:gd name="adj" fmla="val 5015"/>
              </a:avLst>
            </a:prstGeom>
            <a:solidFill>
              <a:schemeClr val="bg1"/>
            </a:solidFill>
            <a:ln w="12700">
              <a:solidFill>
                <a:srgbClr val="2D569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1" name="图片 30">
              <a:extLst>
                <a:ext uri="{FF2B5EF4-FFF2-40B4-BE49-F238E27FC236}">
                  <a16:creationId xmlns:a16="http://schemas.microsoft.com/office/drawing/2014/main" id="{0DB6D6C4-8094-30A2-3165-C4DB24A3B0A9}"/>
                </a:ext>
              </a:extLst>
            </p:cNvPr>
            <p:cNvPicPr>
              <a:picLocks noChangeAspect="1"/>
            </p:cNvPicPr>
            <p:nvPr/>
          </p:nvPicPr>
          <p:blipFill>
            <a:blip r:embed="rId16"/>
            <a:srcRect l="23933" t="9399" r="6839" b="13660"/>
            <a:stretch>
              <a:fillRect/>
            </a:stretch>
          </p:blipFill>
          <p:spPr>
            <a:xfrm>
              <a:off x="7326938" y="2092290"/>
              <a:ext cx="1487704" cy="1539848"/>
            </a:xfrm>
            <a:prstGeom prst="rect">
              <a:avLst/>
            </a:prstGeom>
          </p:spPr>
        </p:pic>
        <p:sp>
          <p:nvSpPr>
            <p:cNvPr id="32" name="右箭头 31">
              <a:extLst>
                <a:ext uri="{FF2B5EF4-FFF2-40B4-BE49-F238E27FC236}">
                  <a16:creationId xmlns:a16="http://schemas.microsoft.com/office/drawing/2014/main" id="{4D262E40-5419-6E9E-3E9F-B1B0D87A4BA6}"/>
                </a:ext>
              </a:extLst>
            </p:cNvPr>
            <p:cNvSpPr/>
            <p:nvPr/>
          </p:nvSpPr>
          <p:spPr>
            <a:xfrm>
              <a:off x="6989043" y="2751738"/>
              <a:ext cx="289828" cy="238994"/>
            </a:xfrm>
            <a:prstGeom prst="rightArrow">
              <a:avLst/>
            </a:prstGeom>
            <a:solidFill>
              <a:schemeClr val="bg1"/>
            </a:solidFill>
            <a:ln w="12700">
              <a:solidFill>
                <a:srgbClr val="2D56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3" name="组合 72">
            <a:extLst>
              <a:ext uri="{FF2B5EF4-FFF2-40B4-BE49-F238E27FC236}">
                <a16:creationId xmlns:a16="http://schemas.microsoft.com/office/drawing/2014/main" id="{AB2D33FB-3661-AE6E-5CED-085D9D04E352}"/>
              </a:ext>
            </a:extLst>
          </p:cNvPr>
          <p:cNvGrpSpPr/>
          <p:nvPr/>
        </p:nvGrpSpPr>
        <p:grpSpPr>
          <a:xfrm>
            <a:off x="7252846" y="1102167"/>
            <a:ext cx="3418427" cy="4300912"/>
            <a:chOff x="7067789" y="1102167"/>
            <a:chExt cx="3418427" cy="4300912"/>
          </a:xfrm>
        </p:grpSpPr>
        <p:sp>
          <p:nvSpPr>
            <p:cNvPr id="74" name="文本框 73">
              <a:extLst>
                <a:ext uri="{FF2B5EF4-FFF2-40B4-BE49-F238E27FC236}">
                  <a16:creationId xmlns:a16="http://schemas.microsoft.com/office/drawing/2014/main" id="{79CE97E1-DE2D-F224-51C4-6EEE093A2346}"/>
                </a:ext>
              </a:extLst>
            </p:cNvPr>
            <p:cNvSpPr txBox="1"/>
            <p:nvPr/>
          </p:nvSpPr>
          <p:spPr>
            <a:xfrm>
              <a:off x="7067789" y="1102167"/>
              <a:ext cx="3418427" cy="307777"/>
            </a:xfrm>
            <a:prstGeom prst="rect">
              <a:avLst/>
            </a:prstGeom>
            <a:noFill/>
            <a:ln>
              <a:noFill/>
            </a:ln>
          </p:spPr>
          <p:txBody>
            <a:bodyPr wrap="square" rtlCol="0">
              <a:spAutoFit/>
            </a:bodyPr>
            <a:lstStyle/>
            <a:p>
              <a:r>
                <a:rPr kumimoji="1" lang="en-US" altLang="zh-CN" sz="1400" dirty="0">
                  <a:solidFill>
                    <a:srgbClr val="2D5695"/>
                  </a:solidFill>
                  <a:latin typeface="Times New Roman" panose="02020603050405020304" pitchFamily="18" charset="0"/>
                  <a:cs typeface="Times New Roman" panose="02020603050405020304" pitchFamily="18" charset="0"/>
                </a:rPr>
                <a:t>Analytical Aberration  and Characterization</a:t>
              </a:r>
              <a:endParaRPr kumimoji="1" lang="zh-CN" altLang="en-US" sz="1400" dirty="0">
                <a:solidFill>
                  <a:srgbClr val="2D5695"/>
                </a:solidFill>
                <a:latin typeface="Times New Roman" panose="02020603050405020304" pitchFamily="18" charset="0"/>
                <a:cs typeface="Times New Roman" panose="02020603050405020304" pitchFamily="18" charset="0"/>
              </a:endParaRPr>
            </a:p>
          </p:txBody>
        </p:sp>
        <p:pic>
          <p:nvPicPr>
            <p:cNvPr id="75" name="图片 74">
              <a:extLst>
                <a:ext uri="{FF2B5EF4-FFF2-40B4-BE49-F238E27FC236}">
                  <a16:creationId xmlns:a16="http://schemas.microsoft.com/office/drawing/2014/main" id="{EA53DB86-7A5E-887E-0B66-F7B74582521A}"/>
                </a:ext>
              </a:extLst>
            </p:cNvPr>
            <p:cNvPicPr>
              <a:picLocks noChangeAspect="1"/>
            </p:cNvPicPr>
            <p:nvPr/>
          </p:nvPicPr>
          <p:blipFill>
            <a:blip r:embed="rId17"/>
            <a:stretch>
              <a:fillRect/>
            </a:stretch>
          </p:blipFill>
          <p:spPr>
            <a:xfrm>
              <a:off x="8800448" y="1448319"/>
              <a:ext cx="1575090" cy="3579750"/>
            </a:xfrm>
            <a:prstGeom prst="rect">
              <a:avLst/>
            </a:prstGeom>
          </p:spPr>
        </p:pic>
        <p:sp>
          <p:nvSpPr>
            <p:cNvPr id="76" name="右箭头 75">
              <a:extLst>
                <a:ext uri="{FF2B5EF4-FFF2-40B4-BE49-F238E27FC236}">
                  <a16:creationId xmlns:a16="http://schemas.microsoft.com/office/drawing/2014/main" id="{8FA88F2D-353E-9DDB-6A71-6F0A8CC601C8}"/>
                </a:ext>
              </a:extLst>
            </p:cNvPr>
            <p:cNvSpPr/>
            <p:nvPr/>
          </p:nvSpPr>
          <p:spPr>
            <a:xfrm>
              <a:off x="8610073" y="2731832"/>
              <a:ext cx="289828" cy="238994"/>
            </a:xfrm>
            <a:prstGeom prst="rightArrow">
              <a:avLst/>
            </a:prstGeom>
            <a:solidFill>
              <a:schemeClr val="bg1"/>
            </a:solidFill>
            <a:ln w="127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6">
                    <a:lumMod val="75000"/>
                  </a:schemeClr>
                </a:solidFill>
              </a:endParaRPr>
            </a:p>
          </p:txBody>
        </p:sp>
        <p:sp>
          <p:nvSpPr>
            <p:cNvPr id="77" name="矩形 76">
              <a:extLst>
                <a:ext uri="{FF2B5EF4-FFF2-40B4-BE49-F238E27FC236}">
                  <a16:creationId xmlns:a16="http://schemas.microsoft.com/office/drawing/2014/main" id="{28B564F4-4B48-1B63-DD83-31745EB0DAFE}"/>
                </a:ext>
              </a:extLst>
            </p:cNvPr>
            <p:cNvSpPr/>
            <p:nvPr/>
          </p:nvSpPr>
          <p:spPr>
            <a:xfrm>
              <a:off x="8783606" y="3522842"/>
              <a:ext cx="1624131" cy="1880237"/>
            </a:xfrm>
            <a:prstGeom prst="rect">
              <a:avLst/>
            </a:prstGeom>
            <a:gradFill flip="none" rotWithShape="1">
              <a:gsLst>
                <a:gs pos="0">
                  <a:schemeClr val="bg1"/>
                </a:gs>
                <a:gs pos="49000">
                  <a:schemeClr val="bg1">
                    <a:lumMod val="100000"/>
                  </a:schemeClr>
                </a:gs>
                <a:gs pos="100000">
                  <a:schemeClr val="accent1">
                    <a:tint val="23500"/>
                    <a:satMod val="160000"/>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C35C19D6-E4F9-6C6D-D6E9-86AE65E0402A}"/>
                    </a:ext>
                  </a:extLst>
                </p:cNvPr>
                <p:cNvSpPr txBox="1"/>
                <p:nvPr/>
              </p:nvSpPr>
              <p:spPr>
                <a:xfrm>
                  <a:off x="9395412" y="4332910"/>
                  <a:ext cx="4055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0" smtClean="0">
                            <a:latin typeface="Cambria Math" panose="02040503050406030204" pitchFamily="18" charset="0"/>
                          </a:rPr>
                          <m:t>⋯</m:t>
                        </m:r>
                      </m:oMath>
                    </m:oMathPara>
                  </a14:m>
                  <a:endParaRPr kumimoji="1" lang="zh-CN" altLang="en-US" dirty="0"/>
                </a:p>
              </p:txBody>
            </p:sp>
          </mc:Choice>
          <mc:Fallback xmlns="">
            <p:sp>
              <p:nvSpPr>
                <p:cNvPr id="78" name="文本框 77">
                  <a:extLst>
                    <a:ext uri="{FF2B5EF4-FFF2-40B4-BE49-F238E27FC236}">
                      <a16:creationId xmlns:a16="http://schemas.microsoft.com/office/drawing/2014/main" id="{C35C19D6-E4F9-6C6D-D6E9-86AE65E0402A}"/>
                    </a:ext>
                  </a:extLst>
                </p:cNvPr>
                <p:cNvSpPr txBox="1">
                  <a:spLocks noRot="1" noChangeAspect="1" noMove="1" noResize="1" noEditPoints="1" noAdjustHandles="1" noChangeArrowheads="1" noChangeShapeType="1" noTextEdit="1"/>
                </p:cNvSpPr>
                <p:nvPr/>
              </p:nvSpPr>
              <p:spPr>
                <a:xfrm>
                  <a:off x="9395412" y="4332910"/>
                  <a:ext cx="405559" cy="430887"/>
                </a:xfrm>
                <a:prstGeom prst="rect">
                  <a:avLst/>
                </a:prstGeom>
                <a:blipFill>
                  <a:blip r:embed="rId18"/>
                  <a:stretch>
                    <a:fillRect l="-3030" r="-3030"/>
                  </a:stretch>
                </a:blipFill>
              </p:spPr>
              <p:txBody>
                <a:bodyPr/>
                <a:lstStyle/>
                <a:p>
                  <a:r>
                    <a:rPr lang="zh-CN" altLang="en-US">
                      <a:noFill/>
                    </a:rPr>
                    <a:t> </a:t>
                  </a:r>
                </a:p>
              </p:txBody>
            </p:sp>
          </mc:Fallback>
        </mc:AlternateContent>
      </p:grpSp>
      <p:grpSp>
        <p:nvGrpSpPr>
          <p:cNvPr id="16" name="组合 15">
            <a:extLst>
              <a:ext uri="{FF2B5EF4-FFF2-40B4-BE49-F238E27FC236}">
                <a16:creationId xmlns:a16="http://schemas.microsoft.com/office/drawing/2014/main" id="{DDC2378E-7247-7DBA-4F09-53874FC22ACF}"/>
              </a:ext>
            </a:extLst>
          </p:cNvPr>
          <p:cNvGrpSpPr/>
          <p:nvPr/>
        </p:nvGrpSpPr>
        <p:grpSpPr>
          <a:xfrm>
            <a:off x="8084414" y="5034775"/>
            <a:ext cx="3794760" cy="1232262"/>
            <a:chOff x="548640" y="5034775"/>
            <a:chExt cx="3794760" cy="1232262"/>
          </a:xfrm>
        </p:grpSpPr>
        <p:sp>
          <p:nvSpPr>
            <p:cNvPr id="17" name="Shape 7">
              <a:extLst>
                <a:ext uri="{FF2B5EF4-FFF2-40B4-BE49-F238E27FC236}">
                  <a16:creationId xmlns:a16="http://schemas.microsoft.com/office/drawing/2014/main" id="{2117A45A-D834-FF2C-E14D-C7674C423483}"/>
                </a:ext>
              </a:extLst>
            </p:cNvPr>
            <p:cNvSpPr/>
            <p:nvPr/>
          </p:nvSpPr>
          <p:spPr>
            <a:xfrm>
              <a:off x="646913" y="5063246"/>
              <a:ext cx="3696487" cy="1203791"/>
            </a:xfrm>
            <a:prstGeom prst="roundRect">
              <a:avLst>
                <a:gd name="adj" fmla="val 5668"/>
              </a:avLst>
            </a:prstGeom>
            <a:solidFill>
              <a:srgbClr val="E9EEF6"/>
            </a:solidFill>
            <a:ln/>
          </p:spPr>
          <p:txBody>
            <a:bodyPr/>
            <a:lstStyle/>
            <a:p>
              <a:endParaRPr lang="zh-CN" altLang="en-US" dirty="0"/>
            </a:p>
          </p:txBody>
        </p:sp>
        <p:sp>
          <p:nvSpPr>
            <p:cNvPr id="18" name="Shape 8">
              <a:extLst>
                <a:ext uri="{FF2B5EF4-FFF2-40B4-BE49-F238E27FC236}">
                  <a16:creationId xmlns:a16="http://schemas.microsoft.com/office/drawing/2014/main" id="{68DFAE6A-FD3A-E025-D3AD-39F6ECE3FC83}"/>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19" name="Text 9">
              <a:extLst>
                <a:ext uri="{FF2B5EF4-FFF2-40B4-BE49-F238E27FC236}">
                  <a16:creationId xmlns:a16="http://schemas.microsoft.com/office/drawing/2014/main" id="{7922BB22-86C3-A385-2E68-C8F11021E804}"/>
                </a:ext>
              </a:extLst>
            </p:cNvPr>
            <p:cNvSpPr txBox="1"/>
            <p:nvPr/>
          </p:nvSpPr>
          <p:spPr>
            <a:xfrm>
              <a:off x="548640" y="5034775"/>
              <a:ext cx="463290" cy="478835"/>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rPr>
                <a:t>3</a:t>
              </a:r>
              <a:endParaRPr lang="en-US" sz="2000" dirty="0">
                <a:solidFill>
                  <a:schemeClr val="bg1"/>
                </a:solidFill>
              </a:endParaRPr>
            </a:p>
          </p:txBody>
        </p:sp>
        <mc:AlternateContent xmlns:mc="http://schemas.openxmlformats.org/markup-compatibility/2006" xmlns:a14="http://schemas.microsoft.com/office/drawing/2010/main">
          <mc:Choice Requires="a14">
            <p:sp>
              <p:nvSpPr>
                <p:cNvPr id="20" name="Text 10">
                  <a:extLst>
                    <a:ext uri="{FF2B5EF4-FFF2-40B4-BE49-F238E27FC236}">
                      <a16:creationId xmlns:a16="http://schemas.microsoft.com/office/drawing/2014/main" id="{4858F6F5-87E4-F05C-953B-9086A9E7EAD2}"/>
                    </a:ext>
                  </a:extLst>
                </p:cNvPr>
                <p:cNvSpPr txBox="1"/>
                <p:nvPr/>
              </p:nvSpPr>
              <p:spPr>
                <a:xfrm>
                  <a:off x="1110202" y="5091141"/>
                  <a:ext cx="3038823" cy="379513"/>
                </a:xfrm>
                <a:prstGeom prst="rect">
                  <a:avLst/>
                </a:prstGeom>
                <a:noFill/>
                <a:ln/>
              </p:spPr>
              <p:txBody>
                <a:bodyPr wrap="square" lIns="0" tIns="0" rIns="0" bIns="0" rtlCol="0" anchor="ctr"/>
                <a:lstStyle/>
                <a:p>
                  <a:r>
                    <a:rPr lang="en-US" altLang="zh-CN" b="1" dirty="0">
                      <a:solidFill>
                        <a:srgbClr val="13294B"/>
                      </a:solidFill>
                      <a:latin typeface="Georgia" panose="02040502050405020303" pitchFamily="18" charset="0"/>
                    </a:rPr>
                    <a:t>Operator </a:t>
                  </a:r>
                  <a14:m>
                    <m:oMath xmlns:m="http://schemas.openxmlformats.org/officeDocument/2006/math">
                      <m:r>
                        <a:rPr lang="en-US" altLang="zh-CN" b="1" i="1" smtClean="0">
                          <a:solidFill>
                            <a:srgbClr val="13294B"/>
                          </a:solidFill>
                          <a:latin typeface="Cambria Math" panose="02040503050406030204" pitchFamily="18" charset="0"/>
                        </a:rPr>
                        <m:t>→</m:t>
                      </m:r>
                    </m:oMath>
                  </a14:m>
                  <a:r>
                    <a:rPr lang="en-US" b="1" dirty="0">
                      <a:solidFill>
                        <a:srgbClr val="13294B"/>
                      </a:solidFill>
                      <a:latin typeface="Georgia" panose="02040502050405020303" pitchFamily="18" charset="0"/>
                    </a:rPr>
                    <a:t> aberration</a:t>
                  </a:r>
                </a:p>
              </p:txBody>
            </p:sp>
          </mc:Choice>
          <mc:Fallback xmlns="">
            <p:sp>
              <p:nvSpPr>
                <p:cNvPr id="20" name="Text 10">
                  <a:extLst>
                    <a:ext uri="{FF2B5EF4-FFF2-40B4-BE49-F238E27FC236}">
                      <a16:creationId xmlns:a16="http://schemas.microsoft.com/office/drawing/2014/main" id="{4858F6F5-87E4-F05C-953B-9086A9E7EAD2}"/>
                    </a:ext>
                  </a:extLst>
                </p:cNvPr>
                <p:cNvSpPr txBox="1">
                  <a:spLocks noRot="1" noChangeAspect="1" noMove="1" noResize="1" noEditPoints="1" noAdjustHandles="1" noChangeArrowheads="1" noChangeShapeType="1" noTextEdit="1"/>
                </p:cNvSpPr>
                <p:nvPr/>
              </p:nvSpPr>
              <p:spPr>
                <a:xfrm>
                  <a:off x="1110202" y="5091141"/>
                  <a:ext cx="3038823" cy="379513"/>
                </a:xfrm>
                <a:prstGeom prst="rect">
                  <a:avLst/>
                </a:prstGeom>
                <a:blipFill>
                  <a:blip r:embed="rId19"/>
                  <a:stretch>
                    <a:fillRect l="-4564" t="-3226" b="-22581"/>
                  </a:stretch>
                </a:blipFill>
                <a:ln/>
              </p:spPr>
              <p:txBody>
                <a:bodyPr/>
                <a:lstStyle/>
                <a:p>
                  <a:r>
                    <a:rPr lang="zh-CN" altLang="en-US">
                      <a:noFill/>
                    </a:rPr>
                    <a:t> </a:t>
                  </a:r>
                </a:p>
              </p:txBody>
            </p:sp>
          </mc:Fallback>
        </mc:AlternateContent>
        <p:sp>
          <p:nvSpPr>
            <p:cNvPr id="21" name="Text 11">
              <a:extLst>
                <a:ext uri="{FF2B5EF4-FFF2-40B4-BE49-F238E27FC236}">
                  <a16:creationId xmlns:a16="http://schemas.microsoft.com/office/drawing/2014/main" id="{E649D560-00B3-120A-73D0-6722C997E80F}"/>
                </a:ext>
              </a:extLst>
            </p:cNvPr>
            <p:cNvSpPr txBox="1"/>
            <p:nvPr/>
          </p:nvSpPr>
          <p:spPr>
            <a:xfrm>
              <a:off x="1027960" y="5280897"/>
              <a:ext cx="3231219" cy="986140"/>
            </a:xfrm>
            <a:prstGeom prst="rect">
              <a:avLst/>
            </a:prstGeom>
            <a:noFill/>
            <a:ln/>
          </p:spPr>
          <p:txBody>
            <a:bodyPr wrap="square" lIns="0" tIns="0" rIns="0" bIns="0" rtlCol="0" anchor="ctr"/>
            <a:lstStyle/>
            <a:p>
              <a:pPr>
                <a:lnSpc>
                  <a:spcPct val="115000"/>
                </a:lnSpc>
              </a:pPr>
              <a:r>
                <a:rPr lang="en-US" altLang="zh-CN" dirty="0">
                  <a:solidFill>
                    <a:srgbClr val="1F3A63"/>
                  </a:solidFill>
                </a:rPr>
                <a:t>Lens operator yields the full aberration structure.</a:t>
              </a:r>
              <a:endParaRPr lang="en-US" sz="1600" dirty="0">
                <a:solidFill>
                  <a:srgbClr val="1F3A63"/>
                </a:solidFill>
              </a:endParaRPr>
            </a:p>
          </p:txBody>
        </p:sp>
      </p:grpSp>
    </p:spTree>
    <p:extLst>
      <p:ext uri="{BB962C8B-B14F-4D97-AF65-F5344CB8AC3E}">
        <p14:creationId xmlns:p14="http://schemas.microsoft.com/office/powerpoint/2010/main" val="3040296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fill="hold"/>
                                        <p:tgtEl>
                                          <p:spTgt spid="66"/>
                                        </p:tgtEl>
                                        <p:attrNameLst>
                                          <p:attrName>ppt_x</p:attrName>
                                        </p:attrNameLst>
                                      </p:cBhvr>
                                      <p:tavLst>
                                        <p:tav tm="0">
                                          <p:val>
                                            <p:strVal val="0-#ppt_w/2"/>
                                          </p:val>
                                        </p:tav>
                                        <p:tav tm="100000">
                                          <p:val>
                                            <p:strVal val="#ppt_x"/>
                                          </p:val>
                                        </p:tav>
                                      </p:tavLst>
                                    </p:anim>
                                    <p:anim calcmode="lin" valueType="num">
                                      <p:cBhvr additive="base">
                                        <p:cTn id="8" dur="500" fill="hold"/>
                                        <p:tgtEl>
                                          <p:spTgt spid="6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500" fill="hold"/>
                                        <p:tgtEl>
                                          <p:spTgt spid="68"/>
                                        </p:tgtEl>
                                        <p:attrNameLst>
                                          <p:attrName>ppt_x</p:attrName>
                                        </p:attrNameLst>
                                      </p:cBhvr>
                                      <p:tavLst>
                                        <p:tav tm="0">
                                          <p:val>
                                            <p:strVal val="0-#ppt_w/2"/>
                                          </p:val>
                                        </p:tav>
                                        <p:tav tm="100000">
                                          <p:val>
                                            <p:strVal val="#ppt_x"/>
                                          </p:val>
                                        </p:tav>
                                      </p:tavLst>
                                    </p:anim>
                                    <p:anim calcmode="lin" valueType="num">
                                      <p:cBhvr additive="base">
                                        <p:cTn id="18" dur="500" fill="hold"/>
                                        <p:tgtEl>
                                          <p:spTgt spid="6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0-#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fade">
                                      <p:cBhvr>
                                        <p:cTn id="27" dur="500"/>
                                        <p:tgtEl>
                                          <p:spTgt spid="73"/>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5E860-B1C1-C517-4EBD-BBB68D67A33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5121464-F6B0-6269-1209-0E46E4824031}"/>
              </a:ext>
            </a:extLst>
          </p:cNvPr>
          <p:cNvSpPr txBox="1"/>
          <p:nvPr/>
        </p:nvSpPr>
        <p:spPr>
          <a:xfrm>
            <a:off x="548640" y="292212"/>
            <a:ext cx="7315200" cy="365760"/>
          </a:xfrm>
          <a:prstGeom prst="rect">
            <a:avLst/>
          </a:prstGeom>
          <a:noFill/>
          <a:ln/>
        </p:spPr>
        <p:txBody>
          <a:bodyPr wrap="square" lIns="0" tIns="0" rIns="0" bIns="0" rtlCol="0" anchor="ctr"/>
          <a:lstStyle/>
          <a:p>
            <a:r>
              <a:rPr lang="en-US" altLang="zh-CN" sz="1400" b="1" kern="0" spc="200" dirty="0">
                <a:solidFill>
                  <a:srgbClr val="5B7A9D"/>
                </a:solidFill>
                <a:latin typeface="Calibri" pitchFamily="34" charset="0"/>
                <a:ea typeface="Calibri" pitchFamily="34" charset="-122"/>
                <a:cs typeface="Calibri" pitchFamily="34" charset="-120"/>
              </a:rPr>
              <a:t>FORMULATION</a:t>
            </a:r>
            <a:endParaRPr lang="en-US" altLang="zh-CN" sz="1400" dirty="0"/>
          </a:p>
        </p:txBody>
      </p:sp>
      <p:sp>
        <p:nvSpPr>
          <p:cNvPr id="3" name="Text 1">
            <a:extLst>
              <a:ext uri="{FF2B5EF4-FFF2-40B4-BE49-F238E27FC236}">
                <a16:creationId xmlns:a16="http://schemas.microsoft.com/office/drawing/2014/main" id="{C17FDC69-6B47-C967-2773-CE69C8373EDD}"/>
              </a:ext>
            </a:extLst>
          </p:cNvPr>
          <p:cNvSpPr txBox="1"/>
          <p:nvPr/>
        </p:nvSpPr>
        <p:spPr>
          <a:xfrm>
            <a:off x="548640" y="478510"/>
            <a:ext cx="11064240" cy="822960"/>
          </a:xfrm>
          <a:prstGeom prst="rect">
            <a:avLst/>
          </a:prstGeom>
          <a:noFill/>
          <a:ln/>
        </p:spPr>
        <p:txBody>
          <a:bodyPr wrap="square" lIns="0" tIns="0" rIns="0" bIns="0" rtlCol="0" anchor="ctr"/>
          <a:lstStyle/>
          <a:p>
            <a:r>
              <a:rPr lang="en-US" altLang="zh-CN" sz="3200" b="1" dirty="0">
                <a:solidFill>
                  <a:srgbClr val="2D5695"/>
                </a:solidFill>
              </a:rPr>
              <a:t>Hamiltonian evolution gives structured aberrations</a:t>
            </a:r>
            <a:endParaRPr lang="en-US" sz="3200" b="1" dirty="0">
              <a:solidFill>
                <a:srgbClr val="2D5695"/>
              </a:solidFill>
            </a:endParaRPr>
          </a:p>
        </p:txBody>
      </p:sp>
      <p:grpSp>
        <p:nvGrpSpPr>
          <p:cNvPr id="4" name="组合 3">
            <a:extLst>
              <a:ext uri="{FF2B5EF4-FFF2-40B4-BE49-F238E27FC236}">
                <a16:creationId xmlns:a16="http://schemas.microsoft.com/office/drawing/2014/main" id="{D69E2658-6C12-7147-346F-22CC2BE07353}"/>
              </a:ext>
            </a:extLst>
          </p:cNvPr>
          <p:cNvGrpSpPr/>
          <p:nvPr/>
        </p:nvGrpSpPr>
        <p:grpSpPr>
          <a:xfrm>
            <a:off x="565897" y="1543522"/>
            <a:ext cx="4004986" cy="1318887"/>
            <a:chOff x="548640" y="5034775"/>
            <a:chExt cx="4004986" cy="1318887"/>
          </a:xfrm>
        </p:grpSpPr>
        <p:sp>
          <p:nvSpPr>
            <p:cNvPr id="9" name="Shape 7">
              <a:extLst>
                <a:ext uri="{FF2B5EF4-FFF2-40B4-BE49-F238E27FC236}">
                  <a16:creationId xmlns:a16="http://schemas.microsoft.com/office/drawing/2014/main" id="{12313B4D-6BAD-0830-C318-203BB584D38F}"/>
                </a:ext>
              </a:extLst>
            </p:cNvPr>
            <p:cNvSpPr/>
            <p:nvPr/>
          </p:nvSpPr>
          <p:spPr>
            <a:xfrm>
              <a:off x="646914" y="5063246"/>
              <a:ext cx="3612265" cy="1203791"/>
            </a:xfrm>
            <a:prstGeom prst="roundRect">
              <a:avLst>
                <a:gd name="adj" fmla="val 5668"/>
              </a:avLst>
            </a:prstGeom>
            <a:solidFill>
              <a:srgbClr val="E9EEF6"/>
            </a:solidFill>
            <a:ln/>
          </p:spPr>
          <p:txBody>
            <a:bodyPr/>
            <a:lstStyle/>
            <a:p>
              <a:endParaRPr lang="zh-CN" altLang="en-US" dirty="0"/>
            </a:p>
          </p:txBody>
        </p:sp>
        <p:sp>
          <p:nvSpPr>
            <p:cNvPr id="10" name="Shape 8">
              <a:extLst>
                <a:ext uri="{FF2B5EF4-FFF2-40B4-BE49-F238E27FC236}">
                  <a16:creationId xmlns:a16="http://schemas.microsoft.com/office/drawing/2014/main" id="{34E3776F-7E9B-10EA-F0D9-3230BF94CDED}"/>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11" name="Text 9">
              <a:extLst>
                <a:ext uri="{FF2B5EF4-FFF2-40B4-BE49-F238E27FC236}">
                  <a16:creationId xmlns:a16="http://schemas.microsoft.com/office/drawing/2014/main" id="{25133F0D-D519-AC5F-6E3F-AF883C2081F9}"/>
                </a:ext>
              </a:extLst>
            </p:cNvPr>
            <p:cNvSpPr txBox="1"/>
            <p:nvPr/>
          </p:nvSpPr>
          <p:spPr>
            <a:xfrm>
              <a:off x="548640" y="5034775"/>
              <a:ext cx="463290" cy="478835"/>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1</a:t>
              </a:r>
              <a:endParaRPr lang="en-US" sz="2000" dirty="0">
                <a:solidFill>
                  <a:schemeClr val="bg1"/>
                </a:solidFill>
              </a:endParaRPr>
            </a:p>
          </p:txBody>
        </p:sp>
        <mc:AlternateContent xmlns:mc="http://schemas.openxmlformats.org/markup-compatibility/2006" xmlns:a14="http://schemas.microsoft.com/office/drawing/2010/main">
          <mc:Choice Requires="a14">
            <p:sp>
              <p:nvSpPr>
                <p:cNvPr id="12" name="Text 10">
                  <a:extLst>
                    <a:ext uri="{FF2B5EF4-FFF2-40B4-BE49-F238E27FC236}">
                      <a16:creationId xmlns:a16="http://schemas.microsoft.com/office/drawing/2014/main" id="{0DEEDF65-68EF-80DF-4D78-2A9ABD1E7221}"/>
                    </a:ext>
                  </a:extLst>
                </p:cNvPr>
                <p:cNvSpPr txBox="1"/>
                <p:nvPr/>
              </p:nvSpPr>
              <p:spPr>
                <a:xfrm>
                  <a:off x="1110202" y="5129641"/>
                  <a:ext cx="3443424" cy="379513"/>
                </a:xfrm>
                <a:prstGeom prst="rect">
                  <a:avLst/>
                </a:prstGeom>
                <a:noFill/>
                <a:ln/>
              </p:spPr>
              <p:txBody>
                <a:bodyPr wrap="square" lIns="0" tIns="0" rIns="0" bIns="0" rtlCol="0" anchor="ctr"/>
                <a:lstStyle/>
                <a:p>
                  <a:r>
                    <a:rPr lang="en-US" altLang="zh-CN" sz="1600" b="1" dirty="0">
                      <a:solidFill>
                        <a:srgbClr val="13294B"/>
                      </a:solidFill>
                      <a:latin typeface="Georgia" panose="02040502050405020303" pitchFamily="18" charset="0"/>
                    </a:rPr>
                    <a:t>Hamiltonian </a:t>
                  </a:r>
                  <a14:m>
                    <m:oMath xmlns:m="http://schemas.openxmlformats.org/officeDocument/2006/math">
                      <m:r>
                        <a:rPr lang="en-US" altLang="zh-CN" sz="1600" b="1" i="1" smtClean="0">
                          <a:solidFill>
                            <a:srgbClr val="13294B"/>
                          </a:solidFill>
                          <a:latin typeface="Cambria Math" panose="02040503050406030204" pitchFamily="18" charset="0"/>
                        </a:rPr>
                        <m:t>→</m:t>
                      </m:r>
                    </m:oMath>
                  </a14:m>
                  <a:r>
                    <a:rPr lang="en-US" sz="1600" b="1" dirty="0">
                      <a:solidFill>
                        <a:srgbClr val="13294B"/>
                      </a:solidFill>
                      <a:latin typeface="Georgia" panose="02040502050405020303" pitchFamily="18" charset="0"/>
                    </a:rPr>
                    <a:t> operator</a:t>
                  </a:r>
                </a:p>
                <a:p>
                  <a:r>
                    <a:rPr lang="en-US" altLang="zh-CN" sz="1200" b="1" i="1" dirty="0">
                      <a:solidFill>
                        <a:srgbClr val="1F3A63"/>
                      </a:solidFill>
                      <a:latin typeface="Palatino" pitchFamily="2" charset="0"/>
                      <a:ea typeface="Palatino" pitchFamily="2" charset="0"/>
                    </a:rPr>
                    <a:t>(single element)</a:t>
                  </a:r>
                  <a:endParaRPr lang="en-US" sz="1200" b="1" i="1" dirty="0">
                    <a:solidFill>
                      <a:srgbClr val="1F3A63"/>
                    </a:solidFill>
                    <a:latin typeface="Palatino" pitchFamily="2" charset="0"/>
                    <a:ea typeface="Palatino" pitchFamily="2" charset="0"/>
                  </a:endParaRPr>
                </a:p>
              </p:txBody>
            </p:sp>
          </mc:Choice>
          <mc:Fallback xmlns="">
            <p:sp>
              <p:nvSpPr>
                <p:cNvPr id="12" name="Text 10">
                  <a:extLst>
                    <a:ext uri="{FF2B5EF4-FFF2-40B4-BE49-F238E27FC236}">
                      <a16:creationId xmlns:a16="http://schemas.microsoft.com/office/drawing/2014/main" id="{0DEEDF65-68EF-80DF-4D78-2A9ABD1E7221}"/>
                    </a:ext>
                  </a:extLst>
                </p:cNvPr>
                <p:cNvSpPr txBox="1">
                  <a:spLocks noRot="1" noChangeAspect="1" noMove="1" noResize="1" noEditPoints="1" noAdjustHandles="1" noChangeArrowheads="1" noChangeShapeType="1" noTextEdit="1"/>
                </p:cNvSpPr>
                <p:nvPr/>
              </p:nvSpPr>
              <p:spPr>
                <a:xfrm>
                  <a:off x="1110202" y="5129641"/>
                  <a:ext cx="3443424" cy="379513"/>
                </a:xfrm>
                <a:prstGeom prst="rect">
                  <a:avLst/>
                </a:prstGeom>
                <a:blipFill>
                  <a:blip r:embed="rId3"/>
                  <a:stretch>
                    <a:fillRect l="-3309" t="-26667" b="-33333"/>
                  </a:stretch>
                </a:blipFill>
                <a:ln/>
              </p:spPr>
              <p:txBody>
                <a:bodyPr/>
                <a:lstStyle/>
                <a:p>
                  <a:r>
                    <a:rPr lang="zh-CN" altLang="en-US">
                      <a:noFill/>
                    </a:rPr>
                    <a:t> </a:t>
                  </a:r>
                </a:p>
              </p:txBody>
            </p:sp>
          </mc:Fallback>
        </mc:AlternateContent>
        <p:sp>
          <p:nvSpPr>
            <p:cNvPr id="13" name="Text 11">
              <a:extLst>
                <a:ext uri="{FF2B5EF4-FFF2-40B4-BE49-F238E27FC236}">
                  <a16:creationId xmlns:a16="http://schemas.microsoft.com/office/drawing/2014/main" id="{44EA05F9-6345-F23B-A1B7-B3B91B49890D}"/>
                </a:ext>
              </a:extLst>
            </p:cNvPr>
            <p:cNvSpPr txBox="1"/>
            <p:nvPr/>
          </p:nvSpPr>
          <p:spPr>
            <a:xfrm>
              <a:off x="1027960" y="5367522"/>
              <a:ext cx="3329491" cy="986140"/>
            </a:xfrm>
            <a:prstGeom prst="rect">
              <a:avLst/>
            </a:prstGeom>
            <a:noFill/>
            <a:ln/>
          </p:spPr>
          <p:txBody>
            <a:bodyPr wrap="square" lIns="0" tIns="0" rIns="0" bIns="0" rtlCol="0" anchor="ctr"/>
            <a:lstStyle/>
            <a:p>
              <a:pPr>
                <a:lnSpc>
                  <a:spcPct val="115000"/>
                </a:lnSpc>
              </a:pPr>
              <a:r>
                <a:rPr lang="en-US" altLang="zh-CN" dirty="0">
                  <a:solidFill>
                    <a:srgbClr val="1F3A63"/>
                  </a:solidFill>
                </a:rPr>
                <a:t>The Hamiltonian of each element generates the evolution.</a:t>
              </a:r>
              <a:endParaRPr lang="en-US" dirty="0">
                <a:solidFill>
                  <a:srgbClr val="1F3A63"/>
                </a:solidFill>
              </a:endParaRPr>
            </a:p>
          </p:txBody>
        </p:sp>
      </p:grpSp>
      <p:sp>
        <p:nvSpPr>
          <p:cNvPr id="142" name="文本框 141">
            <a:extLst>
              <a:ext uri="{FF2B5EF4-FFF2-40B4-BE49-F238E27FC236}">
                <a16:creationId xmlns:a16="http://schemas.microsoft.com/office/drawing/2014/main" id="{3560E8B5-1225-D04E-D80A-A10E14BBA23A}"/>
              </a:ext>
            </a:extLst>
          </p:cNvPr>
          <p:cNvSpPr txBox="1"/>
          <p:nvPr/>
        </p:nvSpPr>
        <p:spPr>
          <a:xfrm>
            <a:off x="8916546" y="6446520"/>
            <a:ext cx="3287486" cy="276999"/>
          </a:xfrm>
          <a:prstGeom prst="rect">
            <a:avLst/>
          </a:prstGeom>
          <a:noFill/>
        </p:spPr>
        <p:txBody>
          <a:bodyPr wrap="square">
            <a:spAutoFit/>
          </a:bodyPr>
          <a:lstStyle/>
          <a:p>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Haosheng Shi, Praneeth </a:t>
            </a:r>
            <a:r>
              <a:rPr lang="en-US" altLang="zh-CN" sz="1200" dirty="0" err="1">
                <a:solidFill>
                  <a:srgbClr val="8A97A8"/>
                </a:solidFill>
                <a:latin typeface="Gill Sans" panose="020B0502020104020203" pitchFamily="34" charset="-79"/>
                <a:ea typeface="Calibri" pitchFamily="34" charset="-122"/>
                <a:cs typeface="Gill Sans" panose="020B0502020104020203" pitchFamily="34" charset="-79"/>
              </a:rPr>
              <a:t>Chakravarthula</a:t>
            </a:r>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  ·   4</a:t>
            </a:r>
            <a:endParaRPr lang="en-US" altLang="zh-CN" sz="1200" dirty="0">
              <a:solidFill>
                <a:srgbClr val="8A97A8"/>
              </a:solidFill>
              <a:latin typeface="Gill Sans" panose="020B0502020104020203" pitchFamily="34" charset="-79"/>
              <a:cs typeface="Gill Sans" panose="020B0502020104020203" pitchFamily="34" charset="-79"/>
            </a:endParaRPr>
          </a:p>
        </p:txBody>
      </p:sp>
      <p:grpSp>
        <p:nvGrpSpPr>
          <p:cNvPr id="5" name="组合 4">
            <a:extLst>
              <a:ext uri="{FF2B5EF4-FFF2-40B4-BE49-F238E27FC236}">
                <a16:creationId xmlns:a16="http://schemas.microsoft.com/office/drawing/2014/main" id="{190622EF-FAFA-6D15-0828-300ADD8E14F4}"/>
              </a:ext>
            </a:extLst>
          </p:cNvPr>
          <p:cNvGrpSpPr/>
          <p:nvPr/>
        </p:nvGrpSpPr>
        <p:grpSpPr>
          <a:xfrm>
            <a:off x="544628" y="3046307"/>
            <a:ext cx="3731808" cy="1232262"/>
            <a:chOff x="548640" y="5034775"/>
            <a:chExt cx="3731808" cy="1232262"/>
          </a:xfrm>
        </p:grpSpPr>
        <p:sp>
          <p:nvSpPr>
            <p:cNvPr id="6" name="Shape 7">
              <a:extLst>
                <a:ext uri="{FF2B5EF4-FFF2-40B4-BE49-F238E27FC236}">
                  <a16:creationId xmlns:a16="http://schemas.microsoft.com/office/drawing/2014/main" id="{24F19D1E-5340-E893-1514-51153950A5BE}"/>
                </a:ext>
              </a:extLst>
            </p:cNvPr>
            <p:cNvSpPr/>
            <p:nvPr/>
          </p:nvSpPr>
          <p:spPr>
            <a:xfrm>
              <a:off x="646913" y="5063246"/>
              <a:ext cx="3633535" cy="1203791"/>
            </a:xfrm>
            <a:prstGeom prst="roundRect">
              <a:avLst>
                <a:gd name="adj" fmla="val 5668"/>
              </a:avLst>
            </a:prstGeom>
            <a:solidFill>
              <a:srgbClr val="E9EEF6"/>
            </a:solidFill>
            <a:ln/>
          </p:spPr>
          <p:txBody>
            <a:bodyPr/>
            <a:lstStyle/>
            <a:p>
              <a:endParaRPr lang="zh-CN" altLang="en-US" dirty="0"/>
            </a:p>
          </p:txBody>
        </p:sp>
        <p:sp>
          <p:nvSpPr>
            <p:cNvPr id="7" name="Shape 8">
              <a:extLst>
                <a:ext uri="{FF2B5EF4-FFF2-40B4-BE49-F238E27FC236}">
                  <a16:creationId xmlns:a16="http://schemas.microsoft.com/office/drawing/2014/main" id="{9BC7AF28-2401-6A7B-2A3E-1C74C1B7AF3B}"/>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8" name="Text 9">
              <a:extLst>
                <a:ext uri="{FF2B5EF4-FFF2-40B4-BE49-F238E27FC236}">
                  <a16:creationId xmlns:a16="http://schemas.microsoft.com/office/drawing/2014/main" id="{0AC2CF10-3B6C-DDD6-0C42-4E7A054D971E}"/>
                </a:ext>
              </a:extLst>
            </p:cNvPr>
            <p:cNvSpPr txBox="1"/>
            <p:nvPr/>
          </p:nvSpPr>
          <p:spPr>
            <a:xfrm>
              <a:off x="548640" y="5034775"/>
              <a:ext cx="463290" cy="478835"/>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rPr>
                <a:t>2</a:t>
              </a:r>
              <a:endParaRPr lang="en-US" sz="2000" dirty="0">
                <a:solidFill>
                  <a:schemeClr val="bg1"/>
                </a:solidFill>
              </a:endParaRPr>
            </a:p>
          </p:txBody>
        </p:sp>
        <p:sp>
          <p:nvSpPr>
            <p:cNvPr id="14" name="Text 10">
              <a:extLst>
                <a:ext uri="{FF2B5EF4-FFF2-40B4-BE49-F238E27FC236}">
                  <a16:creationId xmlns:a16="http://schemas.microsoft.com/office/drawing/2014/main" id="{710A2509-DCA8-210B-9B50-247C51638E84}"/>
                </a:ext>
              </a:extLst>
            </p:cNvPr>
            <p:cNvSpPr txBox="1"/>
            <p:nvPr/>
          </p:nvSpPr>
          <p:spPr>
            <a:xfrm>
              <a:off x="1110202" y="5091141"/>
              <a:ext cx="3038823" cy="379513"/>
            </a:xfrm>
            <a:prstGeom prst="rect">
              <a:avLst/>
            </a:prstGeom>
            <a:noFill/>
            <a:ln/>
          </p:spPr>
          <p:txBody>
            <a:bodyPr wrap="square" lIns="0" tIns="0" rIns="0" bIns="0" rtlCol="0" anchor="ctr"/>
            <a:lstStyle/>
            <a:p>
              <a:r>
                <a:rPr lang="en-US" altLang="zh-CN" sz="1600" b="1" dirty="0">
                  <a:solidFill>
                    <a:srgbClr val="13294B"/>
                  </a:solidFill>
                  <a:latin typeface="Georgia" panose="02040502050405020303" pitchFamily="18" charset="0"/>
                </a:rPr>
                <a:t>Dragt–Finn Factorization </a:t>
              </a:r>
              <a:endParaRPr lang="en-US" sz="1600" b="1" dirty="0">
                <a:solidFill>
                  <a:srgbClr val="13294B"/>
                </a:solidFill>
                <a:latin typeface="Georgia" panose="02040502050405020303" pitchFamily="18" charset="0"/>
              </a:endParaRPr>
            </a:p>
          </p:txBody>
        </p:sp>
        <p:sp>
          <p:nvSpPr>
            <p:cNvPr id="15" name="Text 11">
              <a:extLst>
                <a:ext uri="{FF2B5EF4-FFF2-40B4-BE49-F238E27FC236}">
                  <a16:creationId xmlns:a16="http://schemas.microsoft.com/office/drawing/2014/main" id="{DD635FFA-5E20-102E-EEF1-C2F2EF313767}"/>
                </a:ext>
              </a:extLst>
            </p:cNvPr>
            <p:cNvSpPr txBox="1"/>
            <p:nvPr/>
          </p:nvSpPr>
          <p:spPr>
            <a:xfrm>
              <a:off x="1027960" y="5280897"/>
              <a:ext cx="3121065" cy="986140"/>
            </a:xfrm>
            <a:prstGeom prst="rect">
              <a:avLst/>
            </a:prstGeom>
            <a:noFill/>
            <a:ln/>
          </p:spPr>
          <p:txBody>
            <a:bodyPr wrap="square" lIns="0" tIns="0" rIns="0" bIns="0" rtlCol="0" anchor="ctr"/>
            <a:lstStyle/>
            <a:p>
              <a:pPr>
                <a:lnSpc>
                  <a:spcPct val="115000"/>
                </a:lnSpc>
              </a:pPr>
              <a:r>
                <a:rPr lang="en-US" altLang="zh-CN" dirty="0">
                  <a:solidFill>
                    <a:srgbClr val="1F3A63"/>
                  </a:solidFill>
                </a:rPr>
                <a:t>Identifies the aberration structure.</a:t>
              </a:r>
            </a:p>
          </p:txBody>
        </p:sp>
      </p:grpSp>
      <p:grpSp>
        <p:nvGrpSpPr>
          <p:cNvPr id="16" name="组合 15">
            <a:extLst>
              <a:ext uri="{FF2B5EF4-FFF2-40B4-BE49-F238E27FC236}">
                <a16:creationId xmlns:a16="http://schemas.microsoft.com/office/drawing/2014/main" id="{73F3EAE8-7E5D-3BB3-F553-DD5CABE8007C}"/>
              </a:ext>
            </a:extLst>
          </p:cNvPr>
          <p:cNvGrpSpPr/>
          <p:nvPr/>
        </p:nvGrpSpPr>
        <p:grpSpPr>
          <a:xfrm>
            <a:off x="544628" y="4577563"/>
            <a:ext cx="3716945" cy="1232262"/>
            <a:chOff x="548640" y="5034775"/>
            <a:chExt cx="3716945" cy="1232262"/>
          </a:xfrm>
        </p:grpSpPr>
        <p:sp>
          <p:nvSpPr>
            <p:cNvPr id="17" name="Shape 7">
              <a:extLst>
                <a:ext uri="{FF2B5EF4-FFF2-40B4-BE49-F238E27FC236}">
                  <a16:creationId xmlns:a16="http://schemas.microsoft.com/office/drawing/2014/main" id="{8B4280E7-58DC-F524-CF3B-1DD35720E752}"/>
                </a:ext>
              </a:extLst>
            </p:cNvPr>
            <p:cNvSpPr/>
            <p:nvPr/>
          </p:nvSpPr>
          <p:spPr>
            <a:xfrm>
              <a:off x="646914" y="5063246"/>
              <a:ext cx="3612266" cy="1203791"/>
            </a:xfrm>
            <a:prstGeom prst="roundRect">
              <a:avLst>
                <a:gd name="adj" fmla="val 5668"/>
              </a:avLst>
            </a:prstGeom>
            <a:solidFill>
              <a:srgbClr val="E9EEF6"/>
            </a:solidFill>
            <a:ln/>
          </p:spPr>
          <p:txBody>
            <a:bodyPr/>
            <a:lstStyle/>
            <a:p>
              <a:endParaRPr lang="zh-CN" altLang="en-US" dirty="0"/>
            </a:p>
          </p:txBody>
        </p:sp>
        <p:sp>
          <p:nvSpPr>
            <p:cNvPr id="18" name="Shape 8">
              <a:extLst>
                <a:ext uri="{FF2B5EF4-FFF2-40B4-BE49-F238E27FC236}">
                  <a16:creationId xmlns:a16="http://schemas.microsoft.com/office/drawing/2014/main" id="{4175A4D9-9424-6D6B-893F-4B4F8531CF16}"/>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19" name="Text 9">
              <a:extLst>
                <a:ext uri="{FF2B5EF4-FFF2-40B4-BE49-F238E27FC236}">
                  <a16:creationId xmlns:a16="http://schemas.microsoft.com/office/drawing/2014/main" id="{AD20549E-4B56-07BA-84E1-3E4730E5A77C}"/>
                </a:ext>
              </a:extLst>
            </p:cNvPr>
            <p:cNvSpPr txBox="1"/>
            <p:nvPr/>
          </p:nvSpPr>
          <p:spPr>
            <a:xfrm>
              <a:off x="548640" y="5034775"/>
              <a:ext cx="463290" cy="478835"/>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rPr>
                <a:t>3</a:t>
              </a:r>
              <a:endParaRPr lang="en-US" sz="2000" dirty="0">
                <a:solidFill>
                  <a:schemeClr val="bg1"/>
                </a:solidFill>
              </a:endParaRPr>
            </a:p>
          </p:txBody>
        </p:sp>
        <mc:AlternateContent xmlns:mc="http://schemas.openxmlformats.org/markup-compatibility/2006" xmlns:a14="http://schemas.microsoft.com/office/drawing/2010/main">
          <mc:Choice Requires="a14">
            <p:sp>
              <p:nvSpPr>
                <p:cNvPr id="20" name="Text 10">
                  <a:extLst>
                    <a:ext uri="{FF2B5EF4-FFF2-40B4-BE49-F238E27FC236}">
                      <a16:creationId xmlns:a16="http://schemas.microsoft.com/office/drawing/2014/main" id="{A8C49693-59C4-DE1F-37F1-9C48FDB8EA53}"/>
                    </a:ext>
                  </a:extLst>
                </p:cNvPr>
                <p:cNvSpPr txBox="1"/>
                <p:nvPr/>
              </p:nvSpPr>
              <p:spPr>
                <a:xfrm>
                  <a:off x="1100577" y="5091141"/>
                  <a:ext cx="3165008" cy="379513"/>
                </a:xfrm>
                <a:prstGeom prst="rect">
                  <a:avLst/>
                </a:prstGeom>
                <a:noFill/>
                <a:ln/>
              </p:spPr>
              <p:txBody>
                <a:bodyPr wrap="square" lIns="0" tIns="0" rIns="0" bIns="0" rtlCol="0" anchor="ctr"/>
                <a:lstStyle/>
                <a:p>
                  <a:r>
                    <a:rPr lang="en-US" altLang="zh-CN" sz="1500" b="1" dirty="0">
                      <a:solidFill>
                        <a:srgbClr val="13294B"/>
                      </a:solidFill>
                      <a:latin typeface="Georgia" panose="02040502050405020303" pitchFamily="18" charset="0"/>
                    </a:rPr>
                    <a:t>Composition </a:t>
                  </a:r>
                  <a14:m>
                    <m:oMath xmlns:m="http://schemas.openxmlformats.org/officeDocument/2006/math">
                      <m:r>
                        <a:rPr lang="en-US" altLang="zh-CN" sz="1500" b="1" i="1">
                          <a:solidFill>
                            <a:srgbClr val="13294B"/>
                          </a:solidFill>
                          <a:latin typeface="Cambria Math" panose="02040503050406030204" pitchFamily="18" charset="0"/>
                        </a:rPr>
                        <m:t>→</m:t>
                      </m:r>
                    </m:oMath>
                  </a14:m>
                  <a:r>
                    <a:rPr lang="en-US" altLang="zh-CN" sz="1500" b="1" dirty="0">
                      <a:solidFill>
                        <a:srgbClr val="13294B"/>
                      </a:solidFill>
                      <a:latin typeface="Georgia" panose="02040502050405020303" pitchFamily="18" charset="0"/>
                    </a:rPr>
                    <a:t> system operator </a:t>
                  </a:r>
                  <a:endParaRPr lang="en-US" sz="1500" b="1" dirty="0">
                    <a:solidFill>
                      <a:srgbClr val="13294B"/>
                    </a:solidFill>
                    <a:latin typeface="Georgia" panose="02040502050405020303" pitchFamily="18" charset="0"/>
                  </a:endParaRPr>
                </a:p>
              </p:txBody>
            </p:sp>
          </mc:Choice>
          <mc:Fallback xmlns="">
            <p:sp>
              <p:nvSpPr>
                <p:cNvPr id="20" name="Text 10">
                  <a:extLst>
                    <a:ext uri="{FF2B5EF4-FFF2-40B4-BE49-F238E27FC236}">
                      <a16:creationId xmlns:a16="http://schemas.microsoft.com/office/drawing/2014/main" id="{A8C49693-59C4-DE1F-37F1-9C48FDB8EA53}"/>
                    </a:ext>
                  </a:extLst>
                </p:cNvPr>
                <p:cNvSpPr txBox="1">
                  <a:spLocks noRot="1" noChangeAspect="1" noMove="1" noResize="1" noEditPoints="1" noAdjustHandles="1" noChangeArrowheads="1" noChangeShapeType="1" noTextEdit="1"/>
                </p:cNvSpPr>
                <p:nvPr/>
              </p:nvSpPr>
              <p:spPr>
                <a:xfrm>
                  <a:off x="1100577" y="5091141"/>
                  <a:ext cx="3165008" cy="379513"/>
                </a:xfrm>
                <a:prstGeom prst="rect">
                  <a:avLst/>
                </a:prstGeom>
                <a:blipFill>
                  <a:blip r:embed="rId5"/>
                  <a:stretch>
                    <a:fillRect l="-3600" r="-3200" b="-9677"/>
                  </a:stretch>
                </a:blipFill>
                <a:ln/>
              </p:spPr>
              <p:txBody>
                <a:bodyPr/>
                <a:lstStyle/>
                <a:p>
                  <a:r>
                    <a:rPr lang="zh-CN" altLang="en-US">
                      <a:noFill/>
                    </a:rPr>
                    <a:t> </a:t>
                  </a:r>
                </a:p>
              </p:txBody>
            </p:sp>
          </mc:Fallback>
        </mc:AlternateContent>
        <p:sp>
          <p:nvSpPr>
            <p:cNvPr id="21" name="Text 11">
              <a:extLst>
                <a:ext uri="{FF2B5EF4-FFF2-40B4-BE49-F238E27FC236}">
                  <a16:creationId xmlns:a16="http://schemas.microsoft.com/office/drawing/2014/main" id="{B931334C-7977-33E1-62E6-33988DF713FE}"/>
                </a:ext>
              </a:extLst>
            </p:cNvPr>
            <p:cNvSpPr txBox="1"/>
            <p:nvPr/>
          </p:nvSpPr>
          <p:spPr>
            <a:xfrm>
              <a:off x="1027960" y="5280897"/>
              <a:ext cx="3121065" cy="986140"/>
            </a:xfrm>
            <a:prstGeom prst="rect">
              <a:avLst/>
            </a:prstGeom>
            <a:noFill/>
            <a:ln/>
          </p:spPr>
          <p:txBody>
            <a:bodyPr wrap="square" lIns="0" tIns="0" rIns="0" bIns="0" rtlCol="0" anchor="ctr"/>
            <a:lstStyle/>
            <a:p>
              <a:pPr>
                <a:lnSpc>
                  <a:spcPct val="115000"/>
                </a:lnSpc>
              </a:pPr>
              <a:r>
                <a:rPr lang="en-US" altLang="zh-CN" sz="1600" dirty="0">
                  <a:solidFill>
                    <a:srgbClr val="1F3A63"/>
                  </a:solidFill>
                </a:rPr>
                <a:t>Composing element operators encodes the full aberration structure.</a:t>
              </a:r>
              <a:endParaRPr lang="en-US" sz="1400" dirty="0">
                <a:solidFill>
                  <a:srgbClr val="1F3A63"/>
                </a:solidFill>
              </a:endParaRPr>
            </a:p>
          </p:txBody>
        </p:sp>
      </p:grpSp>
      <p:sp>
        <p:nvSpPr>
          <p:cNvPr id="24" name="文本框 23">
            <a:extLst>
              <a:ext uri="{FF2B5EF4-FFF2-40B4-BE49-F238E27FC236}">
                <a16:creationId xmlns:a16="http://schemas.microsoft.com/office/drawing/2014/main" id="{F9F2BF18-2977-7981-3999-8897CDA0EEAE}"/>
              </a:ext>
            </a:extLst>
          </p:cNvPr>
          <p:cNvSpPr txBox="1"/>
          <p:nvPr/>
        </p:nvSpPr>
        <p:spPr>
          <a:xfrm>
            <a:off x="544628" y="6137290"/>
            <a:ext cx="6102626" cy="338554"/>
          </a:xfrm>
          <a:prstGeom prst="rect">
            <a:avLst/>
          </a:prstGeom>
          <a:noFill/>
        </p:spPr>
        <p:txBody>
          <a:bodyPr wrap="square">
            <a:spAutoFit/>
          </a:bodyPr>
          <a:lstStyle/>
          <a:p>
            <a:pPr marL="0" indent="0">
              <a:buNone/>
            </a:pPr>
            <a:r>
              <a:rPr lang="en-US" altLang="zh-CN" sz="1600" i="1" dirty="0">
                <a:solidFill>
                  <a:srgbClr val="8A97A8"/>
                </a:solidFill>
                <a:latin typeface="Calibri" pitchFamily="34" charset="0"/>
                <a:ea typeface="Calibri" pitchFamily="34" charset="-122"/>
                <a:cs typeface="Calibri" pitchFamily="34" charset="-120"/>
              </a:rPr>
              <a:t>Full derivations: paper §3.1–3.3 and Supplementary Material.</a:t>
            </a:r>
            <a:endParaRPr lang="en-US" altLang="zh-CN" sz="1600" dirty="0"/>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010D26C-1DCB-2B03-68E5-60F50340F426}"/>
                  </a:ext>
                </a:extLst>
              </p:cNvPr>
              <p:cNvSpPr txBox="1"/>
              <p:nvPr/>
            </p:nvSpPr>
            <p:spPr>
              <a:xfrm>
                <a:off x="4639708" y="1722753"/>
                <a:ext cx="6604591" cy="504241"/>
              </a:xfrm>
              <a:prstGeom prst="rect">
                <a:avLst/>
              </a:prstGeom>
              <a:noFill/>
            </p:spPr>
            <p:txBody>
              <a:bodyPr wrap="square">
                <a:spAutoFit/>
              </a:bodyPr>
              <a:lstStyle/>
              <a:p>
                <a:pPr>
                  <a:lnSpc>
                    <a:spcPct val="150000"/>
                  </a:lnSpc>
                </a:pPr>
                <a14:m>
                  <m:oMath xmlns:m="http://schemas.openxmlformats.org/officeDocument/2006/math">
                    <m:sSub>
                      <m:sSubPr>
                        <m:ctrlPr>
                          <a:rPr lang="en-US" altLang="zh-CN" b="0" i="1" smtClean="0">
                            <a:solidFill>
                              <a:srgbClr val="1F3A63"/>
                            </a:solidFill>
                            <a:latin typeface="Cambria Math" panose="02040503050406030204" pitchFamily="18" charset="0"/>
                          </a:rPr>
                        </m:ctrlPr>
                      </m:sSubPr>
                      <m:e>
                        <m:r>
                          <a:rPr lang="en-US" altLang="zh-CN" b="0" i="1" smtClean="0">
                            <a:solidFill>
                              <a:srgbClr val="1F3A63"/>
                            </a:solidFill>
                            <a:latin typeface="Cambria Math" panose="02040503050406030204" pitchFamily="18" charset="0"/>
                          </a:rPr>
                          <m:t>𝑢</m:t>
                        </m:r>
                      </m:e>
                      <m:sub>
                        <m:r>
                          <a:rPr lang="en-US" altLang="zh-CN" b="0" i="1" smtClean="0">
                            <a:solidFill>
                              <a:srgbClr val="1F3A63"/>
                            </a:solidFill>
                            <a:latin typeface="Cambria Math" panose="02040503050406030204" pitchFamily="18" charset="0"/>
                          </a:rPr>
                          <m:t>𝑖𝑚𝑎𝑔𝑒</m:t>
                        </m:r>
                      </m:sub>
                    </m:sSub>
                    <m:r>
                      <a:rPr lang="en-US" altLang="zh-CN" b="0" i="1" smtClean="0">
                        <a:solidFill>
                          <a:srgbClr val="1F3A63"/>
                        </a:solidFill>
                        <a:latin typeface="Cambria Math" panose="02040503050406030204" pitchFamily="18" charset="0"/>
                      </a:rPr>
                      <m:t>=</m:t>
                    </m:r>
                    <m:r>
                      <a:rPr lang="en-US" altLang="zh-CN" i="1">
                        <a:solidFill>
                          <a:srgbClr val="1F3A63"/>
                        </a:solidFill>
                        <a:latin typeface="Cambria Math" panose="02040503050406030204" pitchFamily="18" charset="0"/>
                      </a:rPr>
                      <m:t>𝐺</m:t>
                    </m:r>
                    <m:d>
                      <m:dPr>
                        <m:ctrlPr>
                          <a:rPr lang="en-US" altLang="zh-CN" i="1">
                            <a:solidFill>
                              <a:srgbClr val="1F3A63"/>
                            </a:solidFill>
                            <a:latin typeface="Cambria Math" panose="02040503050406030204" pitchFamily="18" charset="0"/>
                          </a:rPr>
                        </m:ctrlPr>
                      </m:dPr>
                      <m:e>
                        <m:r>
                          <a:rPr lang="en-US" altLang="zh-CN" i="1">
                            <a:solidFill>
                              <a:srgbClr val="1F3A63"/>
                            </a:solidFill>
                            <a:latin typeface="Cambria Math" panose="02040503050406030204" pitchFamily="18" charset="0"/>
                          </a:rPr>
                          <m:t>𝐻</m:t>
                        </m:r>
                      </m:e>
                    </m:d>
                    <m:r>
                      <a:rPr lang="en-US" altLang="zh-CN" b="0" i="1" smtClean="0">
                        <a:solidFill>
                          <a:srgbClr val="1F3A63"/>
                        </a:solidFill>
                        <a:latin typeface="Cambria Math" panose="02040503050406030204" pitchFamily="18" charset="0"/>
                      </a:rPr>
                      <m:t>⋅</m:t>
                    </m:r>
                    <m:sSub>
                      <m:sSubPr>
                        <m:ctrlPr>
                          <a:rPr lang="en-US" altLang="zh-CN" b="0" i="1" smtClean="0">
                            <a:solidFill>
                              <a:srgbClr val="1F3A63"/>
                            </a:solidFill>
                            <a:latin typeface="Cambria Math" panose="02040503050406030204" pitchFamily="18" charset="0"/>
                          </a:rPr>
                        </m:ctrlPr>
                      </m:sSubPr>
                      <m:e>
                        <m:r>
                          <a:rPr lang="en-US" altLang="zh-CN" b="0" i="1" smtClean="0">
                            <a:solidFill>
                              <a:srgbClr val="1F3A63"/>
                            </a:solidFill>
                            <a:latin typeface="Cambria Math" panose="02040503050406030204" pitchFamily="18" charset="0"/>
                          </a:rPr>
                          <m:t>𝑢</m:t>
                        </m:r>
                      </m:e>
                      <m:sub>
                        <m:r>
                          <a:rPr lang="en-US" altLang="zh-CN" b="0" i="1" smtClean="0">
                            <a:solidFill>
                              <a:srgbClr val="1F3A63"/>
                            </a:solidFill>
                            <a:latin typeface="Cambria Math" panose="02040503050406030204" pitchFamily="18" charset="0"/>
                          </a:rPr>
                          <m:t>𝑜𝑏𝑗𝑒𝑐𝑡</m:t>
                        </m:r>
                      </m:sub>
                    </m:sSub>
                  </m:oMath>
                </a14:m>
                <a:r>
                  <a:rPr lang="en-US" altLang="zh-CN" dirty="0">
                    <a:solidFill>
                      <a:srgbClr val="1F3A63"/>
                    </a:solidFill>
                  </a:rPr>
                  <a:t>	each </a:t>
                </a:r>
                <a14:m>
                  <m:oMath xmlns:m="http://schemas.openxmlformats.org/officeDocument/2006/math">
                    <m:r>
                      <a:rPr lang="en-US" altLang="zh-CN" i="1">
                        <a:solidFill>
                          <a:srgbClr val="1F3A63"/>
                        </a:solidFill>
                        <a:latin typeface="Cambria Math" panose="02040503050406030204" pitchFamily="18" charset="0"/>
                      </a:rPr>
                      <m:t>𝐻</m:t>
                    </m:r>
                  </m:oMath>
                </a14:m>
                <a:r>
                  <a:rPr lang="en-US" altLang="zh-CN" dirty="0">
                    <a:solidFill>
                      <a:srgbClr val="1F3A63"/>
                    </a:solidFill>
                  </a:rPr>
                  <a:t> characterize a lens/medium.  </a:t>
                </a:r>
                <a:endParaRPr lang="zh-CN" altLang="en-US" dirty="0">
                  <a:solidFill>
                    <a:srgbClr val="1F3A63"/>
                  </a:solidFill>
                </a:endParaRPr>
              </a:p>
            </p:txBody>
          </p:sp>
        </mc:Choice>
        <mc:Fallback xmlns="">
          <p:sp>
            <p:nvSpPr>
              <p:cNvPr id="26" name="文本框 25">
                <a:extLst>
                  <a:ext uri="{FF2B5EF4-FFF2-40B4-BE49-F238E27FC236}">
                    <a16:creationId xmlns:a16="http://schemas.microsoft.com/office/drawing/2014/main" id="{0010D26C-1DCB-2B03-68E5-60F50340F426}"/>
                  </a:ext>
                </a:extLst>
              </p:cNvPr>
              <p:cNvSpPr txBox="1">
                <a:spLocks noRot="1" noChangeAspect="1" noMove="1" noResize="1" noEditPoints="1" noAdjustHandles="1" noChangeArrowheads="1" noChangeShapeType="1" noTextEdit="1"/>
              </p:cNvSpPr>
              <p:nvPr/>
            </p:nvSpPr>
            <p:spPr>
              <a:xfrm>
                <a:off x="4639708" y="1722753"/>
                <a:ext cx="6604591" cy="504241"/>
              </a:xfrm>
              <a:prstGeom prst="rect">
                <a:avLst/>
              </a:prstGeom>
              <a:blipFill>
                <a:blip r:embed="rId6"/>
                <a:stretch>
                  <a:fillRect b="-146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4C4CD645-6E0E-B686-CECC-881EDDDCD2AE}"/>
                  </a:ext>
                </a:extLst>
              </p:cNvPr>
              <p:cNvSpPr txBox="1"/>
              <p:nvPr/>
            </p:nvSpPr>
            <p:spPr>
              <a:xfrm>
                <a:off x="4517787" y="3155810"/>
                <a:ext cx="660459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rgbClr val="1F3A63"/>
                          </a:solidFill>
                          <a:latin typeface="Cambria Math" panose="02040503050406030204" pitchFamily="18" charset="0"/>
                        </a:rPr>
                        <m:t>𝐻</m:t>
                      </m:r>
                      <m:r>
                        <a:rPr lang="en-US" altLang="zh-CN" i="1" smtClean="0">
                          <a:solidFill>
                            <a:srgbClr val="1F3A63"/>
                          </a:solidFill>
                          <a:latin typeface="Cambria Math" panose="02040503050406030204" pitchFamily="18" charset="0"/>
                        </a:rPr>
                        <m:t> =</m:t>
                      </m:r>
                      <m:sSub>
                        <m:sSubPr>
                          <m:ctrlPr>
                            <a:rPr lang="zh-CN" altLang="zh-CN" i="1">
                              <a:solidFill>
                                <a:srgbClr val="1F3A63"/>
                              </a:solidFill>
                              <a:latin typeface="Cambria Math" panose="02040503050406030204" pitchFamily="18" charset="0"/>
                            </a:rPr>
                          </m:ctrlPr>
                        </m:sSubPr>
                        <m:e>
                          <m:r>
                            <a:rPr lang="en-US" altLang="zh-CN" i="1">
                              <a:solidFill>
                                <a:srgbClr val="1F3A63"/>
                              </a:solidFill>
                              <a:latin typeface="Cambria Math" panose="02040503050406030204" pitchFamily="18" charset="0"/>
                            </a:rPr>
                            <m:t>𝐻</m:t>
                          </m:r>
                        </m:e>
                        <m:sub>
                          <m:r>
                            <a:rPr lang="en-US" altLang="zh-CN" i="1">
                              <a:solidFill>
                                <a:srgbClr val="1F3A63"/>
                              </a:solidFill>
                              <a:latin typeface="Cambria Math" panose="02040503050406030204" pitchFamily="18" charset="0"/>
                            </a:rPr>
                            <m:t>1</m:t>
                          </m:r>
                        </m:sub>
                      </m:sSub>
                      <m:r>
                        <a:rPr lang="en-US" altLang="zh-CN" i="1">
                          <a:solidFill>
                            <a:srgbClr val="1F3A63"/>
                          </a:solidFill>
                          <a:latin typeface="Cambria Math" panose="02040503050406030204" pitchFamily="18" charset="0"/>
                        </a:rPr>
                        <m:t>+</m:t>
                      </m:r>
                      <m:sSub>
                        <m:sSubPr>
                          <m:ctrlPr>
                            <a:rPr lang="zh-CN" altLang="zh-CN" i="1">
                              <a:solidFill>
                                <a:srgbClr val="1F3A63"/>
                              </a:solidFill>
                              <a:latin typeface="Cambria Math" panose="02040503050406030204" pitchFamily="18" charset="0"/>
                            </a:rPr>
                          </m:ctrlPr>
                        </m:sSubPr>
                        <m:e>
                          <m:r>
                            <a:rPr lang="en-US" altLang="zh-CN" i="1">
                              <a:solidFill>
                                <a:srgbClr val="1F3A63"/>
                              </a:solidFill>
                              <a:latin typeface="Cambria Math" panose="02040503050406030204" pitchFamily="18" charset="0"/>
                            </a:rPr>
                            <m:t>𝐻</m:t>
                          </m:r>
                        </m:e>
                        <m:sub>
                          <m:r>
                            <a:rPr lang="en-US" altLang="zh-CN" i="1">
                              <a:solidFill>
                                <a:srgbClr val="1F3A63"/>
                              </a:solidFill>
                              <a:latin typeface="Cambria Math" panose="02040503050406030204" pitchFamily="18" charset="0"/>
                            </a:rPr>
                            <m:t>2</m:t>
                          </m:r>
                        </m:sub>
                      </m:sSub>
                      <m:r>
                        <a:rPr lang="en-US" altLang="zh-CN" i="1">
                          <a:solidFill>
                            <a:srgbClr val="1F3A63"/>
                          </a:solidFill>
                          <a:latin typeface="Cambria Math" panose="02040503050406030204" pitchFamily="18" charset="0"/>
                        </a:rPr>
                        <m:t>+</m:t>
                      </m:r>
                      <m:sSub>
                        <m:sSubPr>
                          <m:ctrlPr>
                            <a:rPr lang="zh-CN" altLang="zh-CN" i="1">
                              <a:solidFill>
                                <a:srgbClr val="1F3A63"/>
                              </a:solidFill>
                              <a:latin typeface="Cambria Math" panose="02040503050406030204" pitchFamily="18" charset="0"/>
                            </a:rPr>
                          </m:ctrlPr>
                        </m:sSubPr>
                        <m:e>
                          <m:r>
                            <a:rPr lang="en-US" altLang="zh-CN" i="1">
                              <a:solidFill>
                                <a:srgbClr val="1F3A63"/>
                              </a:solidFill>
                              <a:latin typeface="Cambria Math" panose="02040503050406030204" pitchFamily="18" charset="0"/>
                            </a:rPr>
                            <m:t>𝐻</m:t>
                          </m:r>
                        </m:e>
                        <m:sub>
                          <m:r>
                            <a:rPr lang="en-US" altLang="zh-CN" i="1">
                              <a:solidFill>
                                <a:srgbClr val="1F3A63"/>
                              </a:solidFill>
                              <a:latin typeface="Cambria Math" panose="02040503050406030204" pitchFamily="18" charset="0"/>
                            </a:rPr>
                            <m:t>3</m:t>
                          </m:r>
                        </m:sub>
                      </m:sSub>
                      <m:r>
                        <a:rPr lang="en-US" altLang="zh-CN" i="1">
                          <a:solidFill>
                            <a:srgbClr val="1F3A63"/>
                          </a:solidFill>
                          <a:latin typeface="Cambria Math" panose="02040503050406030204" pitchFamily="18" charset="0"/>
                        </a:rPr>
                        <m:t>+⋯, </m:t>
                      </m:r>
                      <m:r>
                        <a:rPr lang="en-US" altLang="zh-CN" b="0" i="1" smtClean="0">
                          <a:solidFill>
                            <a:srgbClr val="1F3A63"/>
                          </a:solidFill>
                          <a:latin typeface="Cambria Math" panose="02040503050406030204" pitchFamily="18" charset="0"/>
                        </a:rPr>
                        <m:t>  </m:t>
                      </m:r>
                      <m:r>
                        <a:rPr lang="en-US" altLang="zh-CN" i="1">
                          <a:solidFill>
                            <a:srgbClr val="1F3A63"/>
                          </a:solidFill>
                          <a:latin typeface="Cambria Math" panose="02040503050406030204" pitchFamily="18" charset="0"/>
                        </a:rPr>
                        <m:t>𝐺</m:t>
                      </m:r>
                      <m:d>
                        <m:dPr>
                          <m:ctrlPr>
                            <a:rPr lang="en-US" altLang="zh-CN" i="1">
                              <a:solidFill>
                                <a:srgbClr val="1F3A63"/>
                              </a:solidFill>
                              <a:latin typeface="Cambria Math" panose="02040503050406030204" pitchFamily="18" charset="0"/>
                            </a:rPr>
                          </m:ctrlPr>
                        </m:dPr>
                        <m:e>
                          <m:r>
                            <a:rPr lang="en-US" altLang="zh-CN" i="1">
                              <a:solidFill>
                                <a:srgbClr val="1F3A63"/>
                              </a:solidFill>
                              <a:latin typeface="Cambria Math" panose="02040503050406030204" pitchFamily="18" charset="0"/>
                            </a:rPr>
                            <m:t>𝐻</m:t>
                          </m:r>
                        </m:e>
                      </m:d>
                      <m:r>
                        <a:rPr lang="en-US" altLang="zh-CN" i="1">
                          <a:solidFill>
                            <a:srgbClr val="1F3A63"/>
                          </a:solidFill>
                          <a:latin typeface="Cambria Math" panose="02040503050406030204" pitchFamily="18" charset="0"/>
                        </a:rPr>
                        <m:t>=</m:t>
                      </m:r>
                      <m:r>
                        <a:rPr lang="en-US" altLang="zh-CN" b="0" i="1" smtClean="0">
                          <a:solidFill>
                            <a:srgbClr val="1F3A63"/>
                          </a:solidFill>
                          <a:latin typeface="Cambria Math" panose="02040503050406030204" pitchFamily="18" charset="0"/>
                        </a:rPr>
                        <m:t>⋯</m:t>
                      </m:r>
                      <m:r>
                        <a:rPr lang="en-US" altLang="zh-CN" i="1">
                          <a:solidFill>
                            <a:srgbClr val="1F3A63"/>
                          </a:solidFill>
                          <a:latin typeface="Cambria Math" panose="02040503050406030204" pitchFamily="18" charset="0"/>
                        </a:rPr>
                        <m:t>𝐺</m:t>
                      </m:r>
                      <m:r>
                        <a:rPr lang="en-US" altLang="zh-CN" i="1">
                          <a:solidFill>
                            <a:srgbClr val="1F3A63"/>
                          </a:solidFill>
                          <a:latin typeface="Cambria Math" panose="02040503050406030204" pitchFamily="18" charset="0"/>
                        </a:rPr>
                        <m:t>(</m:t>
                      </m:r>
                      <m:sSub>
                        <m:sSubPr>
                          <m:ctrlPr>
                            <a:rPr lang="en-US" altLang="zh-CN" b="0" i="1" smtClean="0">
                              <a:solidFill>
                                <a:srgbClr val="1F3A63"/>
                              </a:solidFill>
                              <a:latin typeface="Cambria Math" panose="02040503050406030204" pitchFamily="18" charset="0"/>
                            </a:rPr>
                          </m:ctrlPr>
                        </m:sSubPr>
                        <m:e>
                          <m:r>
                            <a:rPr lang="en-US" altLang="zh-CN" i="1">
                              <a:solidFill>
                                <a:srgbClr val="1F3A63"/>
                              </a:solidFill>
                              <a:latin typeface="Cambria Math" panose="02040503050406030204" pitchFamily="18" charset="0"/>
                            </a:rPr>
                            <m:t>𝐻</m:t>
                          </m:r>
                        </m:e>
                        <m:sub>
                          <m:r>
                            <a:rPr lang="en-US" altLang="zh-CN" b="0" i="1" smtClean="0">
                              <a:solidFill>
                                <a:srgbClr val="1F3A63"/>
                              </a:solidFill>
                              <a:latin typeface="Cambria Math" panose="02040503050406030204" pitchFamily="18" charset="0"/>
                            </a:rPr>
                            <m:t>3</m:t>
                          </m:r>
                        </m:sub>
                      </m:sSub>
                      <m:r>
                        <a:rPr lang="en-US" altLang="zh-CN" i="1">
                          <a:solidFill>
                            <a:srgbClr val="1F3A63"/>
                          </a:solidFill>
                          <a:latin typeface="Cambria Math" panose="02040503050406030204" pitchFamily="18" charset="0"/>
                        </a:rPr>
                        <m:t>)·</m:t>
                      </m:r>
                      <m:r>
                        <a:rPr lang="en-US" altLang="zh-CN" i="1">
                          <a:solidFill>
                            <a:srgbClr val="1F3A63"/>
                          </a:solidFill>
                          <a:latin typeface="Cambria Math" panose="02040503050406030204" pitchFamily="18" charset="0"/>
                        </a:rPr>
                        <m:t>𝐺</m:t>
                      </m:r>
                      <m:r>
                        <a:rPr lang="en-US" altLang="zh-CN" i="1">
                          <a:solidFill>
                            <a:srgbClr val="1F3A63"/>
                          </a:solidFill>
                          <a:latin typeface="Cambria Math" panose="02040503050406030204" pitchFamily="18" charset="0"/>
                        </a:rPr>
                        <m:t>(</m:t>
                      </m:r>
                      <m:sSub>
                        <m:sSubPr>
                          <m:ctrlPr>
                            <a:rPr lang="en-US" altLang="zh-CN" b="0" i="1" smtClean="0">
                              <a:solidFill>
                                <a:srgbClr val="1F3A63"/>
                              </a:solidFill>
                              <a:latin typeface="Cambria Math" panose="02040503050406030204" pitchFamily="18" charset="0"/>
                            </a:rPr>
                          </m:ctrlPr>
                        </m:sSubPr>
                        <m:e>
                          <m:r>
                            <a:rPr lang="en-US" altLang="zh-CN" i="1">
                              <a:solidFill>
                                <a:srgbClr val="1F3A63"/>
                              </a:solidFill>
                              <a:latin typeface="Cambria Math" panose="02040503050406030204" pitchFamily="18" charset="0"/>
                            </a:rPr>
                            <m:t>𝐻</m:t>
                          </m:r>
                        </m:e>
                        <m:sub>
                          <m:r>
                            <a:rPr lang="en-US" altLang="zh-CN" b="0" i="1" smtClean="0">
                              <a:solidFill>
                                <a:srgbClr val="1F3A63"/>
                              </a:solidFill>
                              <a:latin typeface="Cambria Math" panose="02040503050406030204" pitchFamily="18" charset="0"/>
                            </a:rPr>
                            <m:t>2</m:t>
                          </m:r>
                        </m:sub>
                      </m:sSub>
                      <m:r>
                        <a:rPr lang="en-US" altLang="zh-CN" i="1">
                          <a:solidFill>
                            <a:srgbClr val="1F3A63"/>
                          </a:solidFill>
                          <a:latin typeface="Cambria Math" panose="02040503050406030204" pitchFamily="18" charset="0"/>
                        </a:rPr>
                        <m:t>)·</m:t>
                      </m:r>
                      <m:r>
                        <a:rPr lang="en-US" altLang="zh-CN" i="1">
                          <a:solidFill>
                            <a:srgbClr val="1F3A63"/>
                          </a:solidFill>
                          <a:latin typeface="Cambria Math" panose="02040503050406030204" pitchFamily="18" charset="0"/>
                        </a:rPr>
                        <m:t>𝐺</m:t>
                      </m:r>
                      <m:r>
                        <a:rPr lang="en-US" altLang="zh-CN" i="1">
                          <a:solidFill>
                            <a:srgbClr val="1F3A63"/>
                          </a:solidFill>
                          <a:latin typeface="Cambria Math" panose="02040503050406030204" pitchFamily="18" charset="0"/>
                        </a:rPr>
                        <m:t>(</m:t>
                      </m:r>
                      <m:sSub>
                        <m:sSubPr>
                          <m:ctrlPr>
                            <a:rPr lang="en-US" altLang="zh-CN" b="0" i="1" smtClean="0">
                              <a:solidFill>
                                <a:srgbClr val="1F3A63"/>
                              </a:solidFill>
                              <a:latin typeface="Cambria Math" panose="02040503050406030204" pitchFamily="18" charset="0"/>
                            </a:rPr>
                          </m:ctrlPr>
                        </m:sSubPr>
                        <m:e>
                          <m:r>
                            <a:rPr lang="en-US" altLang="zh-CN" i="1">
                              <a:solidFill>
                                <a:srgbClr val="1F3A63"/>
                              </a:solidFill>
                              <a:latin typeface="Cambria Math" panose="02040503050406030204" pitchFamily="18" charset="0"/>
                            </a:rPr>
                            <m:t>𝐻</m:t>
                          </m:r>
                        </m:e>
                        <m:sub>
                          <m:r>
                            <a:rPr lang="en-US" altLang="zh-CN" b="0" i="1" smtClean="0">
                              <a:solidFill>
                                <a:srgbClr val="1F3A63"/>
                              </a:solidFill>
                              <a:latin typeface="Cambria Math" panose="02040503050406030204" pitchFamily="18" charset="0"/>
                            </a:rPr>
                            <m:t>1</m:t>
                          </m:r>
                        </m:sub>
                      </m:sSub>
                      <m:r>
                        <a:rPr lang="en-US" altLang="zh-CN" i="1">
                          <a:solidFill>
                            <a:srgbClr val="1F3A63"/>
                          </a:solidFill>
                          <a:latin typeface="Cambria Math" panose="02040503050406030204" pitchFamily="18" charset="0"/>
                        </a:rPr>
                        <m:t>)</m:t>
                      </m:r>
                    </m:oMath>
                  </m:oMathPara>
                </a14:m>
                <a:endParaRPr lang="zh-CN" altLang="zh-CN" dirty="0">
                  <a:solidFill>
                    <a:srgbClr val="1F3A63"/>
                  </a:solidFill>
                </a:endParaRPr>
              </a:p>
            </p:txBody>
          </p:sp>
        </mc:Choice>
        <mc:Fallback xmlns="">
          <p:sp>
            <p:nvSpPr>
              <p:cNvPr id="30" name="文本框 29">
                <a:extLst>
                  <a:ext uri="{FF2B5EF4-FFF2-40B4-BE49-F238E27FC236}">
                    <a16:creationId xmlns:a16="http://schemas.microsoft.com/office/drawing/2014/main" id="{4C4CD645-6E0E-B686-CECC-881EDDDCD2AE}"/>
                  </a:ext>
                </a:extLst>
              </p:cNvPr>
              <p:cNvSpPr txBox="1">
                <a:spLocks noRot="1" noChangeAspect="1" noMove="1" noResize="1" noEditPoints="1" noAdjustHandles="1" noChangeArrowheads="1" noChangeShapeType="1" noTextEdit="1"/>
              </p:cNvSpPr>
              <p:nvPr/>
            </p:nvSpPr>
            <p:spPr>
              <a:xfrm>
                <a:off x="4517787" y="3155810"/>
                <a:ext cx="6604591" cy="369332"/>
              </a:xfrm>
              <a:prstGeom prst="rect">
                <a:avLst/>
              </a:prstGeom>
              <a:blipFill>
                <a:blip r:embed="rId7"/>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F86717F-66DB-A8E2-EEDD-4CCAA4F9E336}"/>
                  </a:ext>
                </a:extLst>
              </p:cNvPr>
              <p:cNvSpPr txBox="1"/>
              <p:nvPr/>
            </p:nvSpPr>
            <p:spPr>
              <a:xfrm>
                <a:off x="4639708" y="3641252"/>
                <a:ext cx="7217012" cy="369332"/>
              </a:xfrm>
              <a:prstGeom prst="rect">
                <a:avLst/>
              </a:prstGeom>
              <a:noFill/>
            </p:spPr>
            <p:txBody>
              <a:bodyPr wrap="square">
                <a:spAutoFit/>
              </a:bodyPr>
              <a:lstStyle/>
              <a:p>
                <a14:m>
                  <m:oMath xmlns:m="http://schemas.openxmlformats.org/officeDocument/2006/math">
                    <m:sSub>
                      <m:sSubPr>
                        <m:ctrlPr>
                          <a:rPr lang="zh-CN" altLang="zh-CN" i="1" smtClean="0">
                            <a:solidFill>
                              <a:srgbClr val="1F3A63"/>
                            </a:solidFill>
                            <a:latin typeface="Cambria Math" panose="02040503050406030204" pitchFamily="18" charset="0"/>
                          </a:rPr>
                        </m:ctrlPr>
                      </m:sSubPr>
                      <m:e>
                        <m:r>
                          <a:rPr lang="en-US" altLang="zh-CN" i="1">
                            <a:solidFill>
                              <a:srgbClr val="1F3A63"/>
                            </a:solidFill>
                            <a:latin typeface="Cambria Math" panose="02040503050406030204" pitchFamily="18" charset="0"/>
                          </a:rPr>
                          <m:t>𝐻</m:t>
                        </m:r>
                      </m:e>
                      <m:sub>
                        <m:r>
                          <a:rPr lang="en-US" altLang="zh-CN" i="1">
                            <a:solidFill>
                              <a:srgbClr val="1F3A63"/>
                            </a:solidFill>
                            <a:latin typeface="Cambria Math" panose="02040503050406030204" pitchFamily="18" charset="0"/>
                          </a:rPr>
                          <m:t>1</m:t>
                        </m:r>
                      </m:sub>
                    </m:sSub>
                  </m:oMath>
                </a14:m>
                <a:r>
                  <a:rPr lang="en-US" altLang="zh-CN" dirty="0">
                    <a:solidFill>
                      <a:srgbClr val="1F3A63"/>
                    </a:solidFill>
                  </a:rPr>
                  <a:t> generates the linear (ABCD) transfer; </a:t>
                </a:r>
                <a14:m>
                  <m:oMath xmlns:m="http://schemas.openxmlformats.org/officeDocument/2006/math">
                    <m:sSub>
                      <m:sSubPr>
                        <m:ctrlPr>
                          <a:rPr lang="zh-CN" altLang="zh-CN" i="1">
                            <a:solidFill>
                              <a:srgbClr val="1F3A63"/>
                            </a:solidFill>
                            <a:latin typeface="Cambria Math" panose="02040503050406030204" pitchFamily="18" charset="0"/>
                          </a:rPr>
                        </m:ctrlPr>
                      </m:sSubPr>
                      <m:e>
                        <m:r>
                          <a:rPr lang="en-US" altLang="zh-CN" i="1">
                            <a:solidFill>
                              <a:srgbClr val="1F3A63"/>
                            </a:solidFill>
                            <a:latin typeface="Cambria Math" panose="02040503050406030204" pitchFamily="18" charset="0"/>
                          </a:rPr>
                          <m:t>𝐻</m:t>
                        </m:r>
                      </m:e>
                      <m:sub>
                        <m:r>
                          <a:rPr lang="en-US" altLang="zh-CN" b="0" i="1" smtClean="0">
                            <a:solidFill>
                              <a:srgbClr val="1F3A63"/>
                            </a:solidFill>
                            <a:latin typeface="Cambria Math" panose="02040503050406030204" pitchFamily="18" charset="0"/>
                          </a:rPr>
                          <m:t>𝑘</m:t>
                        </m:r>
                      </m:sub>
                    </m:sSub>
                  </m:oMath>
                </a14:m>
                <a:r>
                  <a:rPr lang="en-US" altLang="zh-CN" dirty="0">
                    <a:solidFill>
                      <a:srgbClr val="1F3A63"/>
                    </a:solidFill>
                  </a:rPr>
                  <a:t> the aberration order </a:t>
                </a:r>
                <a14:m>
                  <m:oMath xmlns:m="http://schemas.openxmlformats.org/officeDocument/2006/math">
                    <m:r>
                      <a:rPr lang="en-US" altLang="zh-CN" b="0" i="1" smtClean="0">
                        <a:solidFill>
                          <a:srgbClr val="1F3A63"/>
                        </a:solidFill>
                        <a:latin typeface="Cambria Math" panose="02040503050406030204" pitchFamily="18" charset="0"/>
                      </a:rPr>
                      <m:t>2</m:t>
                    </m:r>
                    <m:r>
                      <a:rPr lang="en-US" altLang="zh-CN" b="0" i="1" smtClean="0">
                        <a:solidFill>
                          <a:srgbClr val="1F3A63"/>
                        </a:solidFill>
                        <a:latin typeface="Cambria Math" panose="02040503050406030204" pitchFamily="18" charset="0"/>
                      </a:rPr>
                      <m:t>𝑘</m:t>
                    </m:r>
                    <m:r>
                      <a:rPr lang="en-US" altLang="zh-CN" b="0" i="1" smtClean="0">
                        <a:solidFill>
                          <a:srgbClr val="1F3A63"/>
                        </a:solidFill>
                        <a:latin typeface="Cambria Math" panose="02040503050406030204" pitchFamily="18" charset="0"/>
                      </a:rPr>
                      <m:t>−1</m:t>
                    </m:r>
                  </m:oMath>
                </a14:m>
                <a:r>
                  <a:rPr lang="en-US" altLang="zh-CN" dirty="0">
                    <a:solidFill>
                      <a:srgbClr val="1F3A63"/>
                    </a:solidFill>
                  </a:rPr>
                  <a:t>.</a:t>
                </a:r>
                <a:endParaRPr lang="zh-CN" altLang="en-US" dirty="0">
                  <a:solidFill>
                    <a:srgbClr val="1F3A63"/>
                  </a:solidFill>
                </a:endParaRPr>
              </a:p>
            </p:txBody>
          </p:sp>
        </mc:Choice>
        <mc:Fallback xmlns="">
          <p:sp>
            <p:nvSpPr>
              <p:cNvPr id="32" name="文本框 31">
                <a:extLst>
                  <a:ext uri="{FF2B5EF4-FFF2-40B4-BE49-F238E27FC236}">
                    <a16:creationId xmlns:a16="http://schemas.microsoft.com/office/drawing/2014/main" id="{1F86717F-66DB-A8E2-EEDD-4CCAA4F9E336}"/>
                  </a:ext>
                </a:extLst>
              </p:cNvPr>
              <p:cNvSpPr txBox="1">
                <a:spLocks noRot="1" noChangeAspect="1" noMove="1" noResize="1" noEditPoints="1" noAdjustHandles="1" noChangeArrowheads="1" noChangeShapeType="1" noTextEdit="1"/>
              </p:cNvSpPr>
              <p:nvPr/>
            </p:nvSpPr>
            <p:spPr>
              <a:xfrm>
                <a:off x="4639708" y="3641252"/>
                <a:ext cx="7217012" cy="369332"/>
              </a:xfrm>
              <a:prstGeom prst="rect">
                <a:avLst/>
              </a:prstGeom>
              <a:blipFill>
                <a:blip r:embed="rId8"/>
                <a:stretch>
                  <a:fillRect t="-666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E581D452-CAB2-0225-8E93-05D857039869}"/>
                  </a:ext>
                </a:extLst>
              </p:cNvPr>
              <p:cNvSpPr txBox="1"/>
              <p:nvPr/>
            </p:nvSpPr>
            <p:spPr>
              <a:xfrm>
                <a:off x="4748849" y="4868789"/>
                <a:ext cx="6001451" cy="318998"/>
              </a:xfrm>
              <a:prstGeom prst="rect">
                <a:avLst/>
              </a:prstGeom>
              <a:noFill/>
            </p:spPr>
            <p:txBody>
              <a:bodyPr wrap="none" lIns="0" tIns="0" rIns="0" bIns="0" rtlCol="0">
                <a:spAutoFit/>
              </a:bodyPr>
              <a:lstStyle/>
              <a:p>
                <a14:m>
                  <m:oMath xmlns:m="http://schemas.openxmlformats.org/officeDocument/2006/math">
                    <m:sSub>
                      <m:sSubPr>
                        <m:ctrlPr>
                          <a:rPr kumimoji="1" lang="en-US" altLang="zh-CN" b="0" i="1" smtClean="0">
                            <a:solidFill>
                              <a:srgbClr val="1F3A63"/>
                            </a:solidFill>
                            <a:latin typeface="Cambria Math" panose="02040503050406030204" pitchFamily="18" charset="0"/>
                          </a:rPr>
                        </m:ctrlPr>
                      </m:sSubPr>
                      <m:e>
                        <m:r>
                          <a:rPr kumimoji="1" lang="en-US" altLang="zh-CN" b="0" i="1" smtClean="0">
                            <a:solidFill>
                              <a:srgbClr val="1F3A63"/>
                            </a:solidFill>
                            <a:latin typeface="Cambria Math" panose="02040503050406030204" pitchFamily="18" charset="0"/>
                          </a:rPr>
                          <m:t>h</m:t>
                        </m:r>
                      </m:e>
                      <m:sub>
                        <m:r>
                          <a:rPr kumimoji="1" lang="en-US" altLang="zh-CN" b="0" i="1" smtClean="0">
                            <a:solidFill>
                              <a:srgbClr val="1F3A63"/>
                            </a:solidFill>
                            <a:latin typeface="Cambria Math" panose="02040503050406030204" pitchFamily="18" charset="0"/>
                          </a:rPr>
                          <m:t>𝑐𝑜𝑚𝑝𝑜𝑠𝑒𝑑</m:t>
                        </m:r>
                      </m:sub>
                    </m:sSub>
                    <m:r>
                      <a:rPr kumimoji="1" lang="en-US" altLang="zh-CN" b="0" i="1" smtClean="0">
                        <a:solidFill>
                          <a:srgbClr val="1F3A63"/>
                        </a:solidFill>
                        <a:latin typeface="Cambria Math" panose="02040503050406030204" pitchFamily="18" charset="0"/>
                      </a:rPr>
                      <m:t>=</m:t>
                    </m:r>
                    <m:r>
                      <a:rPr kumimoji="1" lang="en-US" altLang="zh-CN" b="0" i="1" smtClean="0">
                        <a:solidFill>
                          <a:srgbClr val="1F3A63"/>
                        </a:solidFill>
                        <a:latin typeface="Cambria Math" panose="02040503050406030204" pitchFamily="18" charset="0"/>
                        <a:ea typeface="Cambria Math" panose="02040503050406030204" pitchFamily="18" charset="0"/>
                      </a:rPr>
                      <m:t>ℱ</m:t>
                    </m:r>
                    <m:d>
                      <m:dPr>
                        <m:ctrlPr>
                          <a:rPr kumimoji="1" lang="en-US" altLang="zh-CN" b="0" i="1" smtClean="0">
                            <a:solidFill>
                              <a:srgbClr val="1F3A63"/>
                            </a:solidFill>
                            <a:latin typeface="Cambria Math" panose="02040503050406030204" pitchFamily="18" charset="0"/>
                            <a:ea typeface="Cambria Math" panose="02040503050406030204" pitchFamily="18" charset="0"/>
                          </a:rPr>
                        </m:ctrlPr>
                      </m:dPr>
                      <m:e>
                        <m:sSub>
                          <m:sSubPr>
                            <m:ctrlPr>
                              <a:rPr kumimoji="1" lang="en-US" altLang="zh-CN" i="1">
                                <a:solidFill>
                                  <a:srgbClr val="1F3A63"/>
                                </a:solidFill>
                                <a:latin typeface="Cambria Math" panose="02040503050406030204" pitchFamily="18" charset="0"/>
                              </a:rPr>
                            </m:ctrlPr>
                          </m:sSubPr>
                          <m:e>
                            <m:r>
                              <a:rPr kumimoji="1" lang="en-US" altLang="zh-CN" i="1">
                                <a:solidFill>
                                  <a:srgbClr val="1F3A63"/>
                                </a:solidFill>
                                <a:latin typeface="Cambria Math" panose="02040503050406030204" pitchFamily="18" charset="0"/>
                              </a:rPr>
                              <m:t>h</m:t>
                            </m:r>
                          </m:e>
                          <m:sub>
                            <m:r>
                              <a:rPr kumimoji="1" lang="en-US" altLang="zh-CN" b="0" i="1" smtClean="0">
                                <a:solidFill>
                                  <a:srgbClr val="1F3A63"/>
                                </a:solidFill>
                                <a:latin typeface="Cambria Math" panose="02040503050406030204" pitchFamily="18" charset="0"/>
                              </a:rPr>
                              <m:t>𝑓𝑟𝑜𝑛𝑡</m:t>
                            </m:r>
                          </m:sub>
                        </m:sSub>
                        <m:r>
                          <a:rPr kumimoji="1" lang="en-US" altLang="zh-CN" b="0" i="1" smtClean="0">
                            <a:solidFill>
                              <a:srgbClr val="1F3A63"/>
                            </a:solidFill>
                            <a:latin typeface="Cambria Math" panose="02040503050406030204" pitchFamily="18" charset="0"/>
                          </a:rPr>
                          <m:t>,</m:t>
                        </m:r>
                        <m:sSub>
                          <m:sSubPr>
                            <m:ctrlPr>
                              <a:rPr kumimoji="1" lang="en-US" altLang="zh-CN" i="1">
                                <a:solidFill>
                                  <a:srgbClr val="1F3A63"/>
                                </a:solidFill>
                                <a:latin typeface="Cambria Math" panose="02040503050406030204" pitchFamily="18" charset="0"/>
                              </a:rPr>
                            </m:ctrlPr>
                          </m:sSubPr>
                          <m:e>
                            <m:r>
                              <a:rPr kumimoji="1" lang="en-US" altLang="zh-CN" i="1">
                                <a:solidFill>
                                  <a:srgbClr val="1F3A63"/>
                                </a:solidFill>
                                <a:latin typeface="Cambria Math" panose="02040503050406030204" pitchFamily="18" charset="0"/>
                              </a:rPr>
                              <m:t>h</m:t>
                            </m:r>
                          </m:e>
                          <m:sub>
                            <m:r>
                              <a:rPr kumimoji="1" lang="en-US" altLang="zh-CN" b="0" i="1" smtClean="0">
                                <a:solidFill>
                                  <a:srgbClr val="1F3A63"/>
                                </a:solidFill>
                                <a:latin typeface="Cambria Math" panose="02040503050406030204" pitchFamily="18" charset="0"/>
                              </a:rPr>
                              <m:t>𝑟𝑒𝑎𝑟</m:t>
                            </m:r>
                          </m:sub>
                        </m:sSub>
                      </m:e>
                    </m:d>
                  </m:oMath>
                </a14:m>
                <a:r>
                  <a:rPr kumimoji="1" lang="en-US" altLang="zh-CN" dirty="0">
                    <a:solidFill>
                      <a:srgbClr val="1F3A63"/>
                    </a:solidFill>
                  </a:rPr>
                  <a:t>	</a:t>
                </a:r>
                <a14:m>
                  <m:oMath xmlns:m="http://schemas.openxmlformats.org/officeDocument/2006/math">
                    <m:r>
                      <a:rPr kumimoji="1" lang="en-US" altLang="zh-CN" i="1">
                        <a:solidFill>
                          <a:srgbClr val="1F3A63"/>
                        </a:solidFill>
                        <a:latin typeface="Cambria Math" panose="02040503050406030204" pitchFamily="18" charset="0"/>
                      </a:rPr>
                      <m:t>h</m:t>
                    </m:r>
                  </m:oMath>
                </a14:m>
                <a:r>
                  <a:rPr lang="en-US" altLang="zh-CN" dirty="0">
                    <a:solidFill>
                      <a:srgbClr val="1F3A63"/>
                    </a:solidFill>
                  </a:rPr>
                  <a:t>: coefficients of Hamiltonian</a:t>
                </a:r>
              </a:p>
            </p:txBody>
          </p:sp>
        </mc:Choice>
        <mc:Fallback xmlns="">
          <p:sp>
            <p:nvSpPr>
              <p:cNvPr id="33" name="文本框 32">
                <a:extLst>
                  <a:ext uri="{FF2B5EF4-FFF2-40B4-BE49-F238E27FC236}">
                    <a16:creationId xmlns:a16="http://schemas.microsoft.com/office/drawing/2014/main" id="{E581D452-CAB2-0225-8E93-05D857039869}"/>
                  </a:ext>
                </a:extLst>
              </p:cNvPr>
              <p:cNvSpPr txBox="1">
                <a:spLocks noRot="1" noChangeAspect="1" noMove="1" noResize="1" noEditPoints="1" noAdjustHandles="1" noChangeArrowheads="1" noChangeShapeType="1" noTextEdit="1"/>
              </p:cNvSpPr>
              <p:nvPr/>
            </p:nvSpPr>
            <p:spPr>
              <a:xfrm>
                <a:off x="4748849" y="4868789"/>
                <a:ext cx="6001451" cy="318998"/>
              </a:xfrm>
              <a:prstGeom prst="rect">
                <a:avLst/>
              </a:prstGeom>
              <a:blipFill>
                <a:blip r:embed="rId9"/>
                <a:stretch>
                  <a:fillRect l="-1266" t="-15385" r="-1266" b="-3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6F781DBC-A05A-2B21-AFA1-D5E44F16092E}"/>
                  </a:ext>
                </a:extLst>
              </p:cNvPr>
              <p:cNvSpPr txBox="1"/>
              <p:nvPr/>
            </p:nvSpPr>
            <p:spPr>
              <a:xfrm>
                <a:off x="7863840" y="5263155"/>
                <a:ext cx="3612266" cy="369332"/>
              </a:xfrm>
              <a:prstGeom prst="rect">
                <a:avLst/>
              </a:prstGeom>
              <a:noFill/>
            </p:spPr>
            <p:txBody>
              <a:bodyPr wrap="square">
                <a:spAutoFit/>
              </a:bodyPr>
              <a:lstStyle/>
              <a:p>
                <a14:m>
                  <m:oMath xmlns:m="http://schemas.openxmlformats.org/officeDocument/2006/math">
                    <m:r>
                      <a:rPr kumimoji="1" lang="en-US" altLang="zh-CN" i="1">
                        <a:solidFill>
                          <a:srgbClr val="1F3A63"/>
                        </a:solidFill>
                        <a:latin typeface="Cambria Math" panose="02040503050406030204" pitchFamily="18" charset="0"/>
                        <a:ea typeface="Cambria Math" panose="02040503050406030204" pitchFamily="18" charset="0"/>
                      </a:rPr>
                      <m:t>ℱ</m:t>
                    </m:r>
                  </m:oMath>
                </a14:m>
                <a:r>
                  <a:rPr kumimoji="1" lang="en-US" altLang="zh-CN" dirty="0">
                    <a:solidFill>
                      <a:srgbClr val="1F3A63"/>
                    </a:solidFill>
                  </a:rPr>
                  <a:t>: </a:t>
                </a:r>
                <a:r>
                  <a:rPr lang="en-US" altLang="zh-CN" dirty="0">
                    <a:solidFill>
                      <a:srgbClr val="1F3A63"/>
                    </a:solidFill>
                  </a:rPr>
                  <a:t>closed-form rule (BCH)</a:t>
                </a:r>
                <a:endParaRPr kumimoji="1" lang="zh-CN" altLang="en-US" dirty="0">
                  <a:solidFill>
                    <a:srgbClr val="1F3A63"/>
                  </a:solidFill>
                </a:endParaRPr>
              </a:p>
            </p:txBody>
          </p:sp>
        </mc:Choice>
        <mc:Fallback xmlns="">
          <p:sp>
            <p:nvSpPr>
              <p:cNvPr id="36" name="文本框 35">
                <a:extLst>
                  <a:ext uri="{FF2B5EF4-FFF2-40B4-BE49-F238E27FC236}">
                    <a16:creationId xmlns:a16="http://schemas.microsoft.com/office/drawing/2014/main" id="{6F781DBC-A05A-2B21-AFA1-D5E44F16092E}"/>
                  </a:ext>
                </a:extLst>
              </p:cNvPr>
              <p:cNvSpPr txBox="1">
                <a:spLocks noRot="1" noChangeAspect="1" noMove="1" noResize="1" noEditPoints="1" noAdjustHandles="1" noChangeArrowheads="1" noChangeShapeType="1" noTextEdit="1"/>
              </p:cNvSpPr>
              <p:nvPr/>
            </p:nvSpPr>
            <p:spPr>
              <a:xfrm>
                <a:off x="7863840" y="5263155"/>
                <a:ext cx="3612266" cy="369332"/>
              </a:xfrm>
              <a:prstGeom prst="rect">
                <a:avLst/>
              </a:prstGeom>
              <a:blipFill>
                <a:blip r:embed="rId10"/>
                <a:stretch>
                  <a:fillRect t="-6667"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6027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0"/>
      <p:bldP spid="32" grpId="0"/>
      <p:bldP spid="33"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FCBE8-93DC-90D4-5F52-DC72D3FA18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5055917-F18A-BE15-999B-A6599CBD2CC8}"/>
              </a:ext>
            </a:extLst>
          </p:cNvPr>
          <p:cNvSpPr txBox="1"/>
          <p:nvPr/>
        </p:nvSpPr>
        <p:spPr>
          <a:xfrm>
            <a:off x="548640" y="292212"/>
            <a:ext cx="7315200" cy="365760"/>
          </a:xfrm>
          <a:prstGeom prst="rect">
            <a:avLst/>
          </a:prstGeom>
          <a:noFill/>
          <a:ln/>
        </p:spPr>
        <p:txBody>
          <a:bodyPr wrap="square" lIns="0" tIns="0" rIns="0" bIns="0" rtlCol="0" anchor="ctr"/>
          <a:lstStyle/>
          <a:p>
            <a:r>
              <a:rPr lang="en-US" altLang="zh-CN" sz="1400" b="1" kern="0" spc="200" dirty="0">
                <a:solidFill>
                  <a:srgbClr val="5B7A9D"/>
                </a:solidFill>
                <a:latin typeface="Calibri" pitchFamily="34" charset="0"/>
                <a:ea typeface="Calibri" pitchFamily="34" charset="-122"/>
                <a:cs typeface="Calibri" pitchFamily="34" charset="-120"/>
              </a:rPr>
              <a:t>ACCURACY &amp; SPEED</a:t>
            </a:r>
          </a:p>
        </p:txBody>
      </p:sp>
      <p:sp>
        <p:nvSpPr>
          <p:cNvPr id="3" name="Text 1">
            <a:extLst>
              <a:ext uri="{FF2B5EF4-FFF2-40B4-BE49-F238E27FC236}">
                <a16:creationId xmlns:a16="http://schemas.microsoft.com/office/drawing/2014/main" id="{EAB37BFA-3CAF-5297-E788-1E280AA2D872}"/>
              </a:ext>
            </a:extLst>
          </p:cNvPr>
          <p:cNvSpPr txBox="1"/>
          <p:nvPr/>
        </p:nvSpPr>
        <p:spPr>
          <a:xfrm>
            <a:off x="548640" y="478510"/>
            <a:ext cx="11064240" cy="822960"/>
          </a:xfrm>
          <a:prstGeom prst="rect">
            <a:avLst/>
          </a:prstGeom>
          <a:noFill/>
          <a:ln/>
        </p:spPr>
        <p:txBody>
          <a:bodyPr wrap="square" lIns="0" tIns="0" rIns="0" bIns="0" rtlCol="0" anchor="ctr"/>
          <a:lstStyle/>
          <a:p>
            <a:r>
              <a:rPr lang="en-US" altLang="zh-CN" sz="3200" b="1" dirty="0">
                <a:solidFill>
                  <a:srgbClr val="2D5695"/>
                </a:solidFill>
              </a:rPr>
              <a:t>Analytic aberration advantages</a:t>
            </a:r>
            <a:endParaRPr lang="en-US" sz="3200" b="1" dirty="0">
              <a:solidFill>
                <a:srgbClr val="2D5695"/>
              </a:solidFill>
            </a:endParaRPr>
          </a:p>
        </p:txBody>
      </p:sp>
      <p:grpSp>
        <p:nvGrpSpPr>
          <p:cNvPr id="4" name="组合 3">
            <a:extLst>
              <a:ext uri="{FF2B5EF4-FFF2-40B4-BE49-F238E27FC236}">
                <a16:creationId xmlns:a16="http://schemas.microsoft.com/office/drawing/2014/main" id="{CD5E843A-F936-FDAD-DCF6-83B431912EF0}"/>
              </a:ext>
            </a:extLst>
          </p:cNvPr>
          <p:cNvGrpSpPr/>
          <p:nvPr/>
        </p:nvGrpSpPr>
        <p:grpSpPr>
          <a:xfrm>
            <a:off x="565897" y="1543522"/>
            <a:ext cx="4004986" cy="1318887"/>
            <a:chOff x="548640" y="5034775"/>
            <a:chExt cx="4004986" cy="1318887"/>
          </a:xfrm>
        </p:grpSpPr>
        <p:sp>
          <p:nvSpPr>
            <p:cNvPr id="9" name="Shape 7">
              <a:extLst>
                <a:ext uri="{FF2B5EF4-FFF2-40B4-BE49-F238E27FC236}">
                  <a16:creationId xmlns:a16="http://schemas.microsoft.com/office/drawing/2014/main" id="{AE0E0078-17F7-B5F3-920A-3D95D04CCCDD}"/>
                </a:ext>
              </a:extLst>
            </p:cNvPr>
            <p:cNvSpPr/>
            <p:nvPr/>
          </p:nvSpPr>
          <p:spPr>
            <a:xfrm>
              <a:off x="646914" y="5063246"/>
              <a:ext cx="3612265" cy="1203791"/>
            </a:xfrm>
            <a:prstGeom prst="roundRect">
              <a:avLst>
                <a:gd name="adj" fmla="val 5668"/>
              </a:avLst>
            </a:prstGeom>
            <a:solidFill>
              <a:srgbClr val="E9EEF6"/>
            </a:solidFill>
            <a:ln/>
          </p:spPr>
          <p:txBody>
            <a:bodyPr/>
            <a:lstStyle/>
            <a:p>
              <a:endParaRPr lang="zh-CN" altLang="en-US" dirty="0"/>
            </a:p>
          </p:txBody>
        </p:sp>
        <p:sp>
          <p:nvSpPr>
            <p:cNvPr id="10" name="Shape 8">
              <a:extLst>
                <a:ext uri="{FF2B5EF4-FFF2-40B4-BE49-F238E27FC236}">
                  <a16:creationId xmlns:a16="http://schemas.microsoft.com/office/drawing/2014/main" id="{61EF9B4F-C36E-35F4-649E-BAB7F683BCF3}"/>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11" name="Text 9">
              <a:extLst>
                <a:ext uri="{FF2B5EF4-FFF2-40B4-BE49-F238E27FC236}">
                  <a16:creationId xmlns:a16="http://schemas.microsoft.com/office/drawing/2014/main" id="{4355A060-E0F3-001C-A9A6-7C81FFF3385F}"/>
                </a:ext>
              </a:extLst>
            </p:cNvPr>
            <p:cNvSpPr txBox="1"/>
            <p:nvPr/>
          </p:nvSpPr>
          <p:spPr>
            <a:xfrm>
              <a:off x="548640" y="5034775"/>
              <a:ext cx="463290" cy="478835"/>
            </a:xfrm>
            <a:prstGeom prst="rect">
              <a:avLst/>
            </a:prstGeom>
            <a:noFill/>
            <a:ln/>
          </p:spPr>
          <p:txBody>
            <a:bodyPr wrap="square" lIns="0" tIns="0" rIns="0" bIns="0" rtlCol="0" anchor="ctr"/>
            <a:lstStyle/>
            <a:p>
              <a:pPr algn="ctr"/>
              <a:r>
                <a:rPr lang="zh-CN" altLang="en-US" sz="2000" b="1" dirty="0">
                  <a:solidFill>
                    <a:schemeClr val="bg1"/>
                  </a:solidFill>
                </a:rPr>
                <a:t>✓</a:t>
              </a:r>
              <a:endParaRPr lang="en-US" sz="2000" dirty="0">
                <a:solidFill>
                  <a:schemeClr val="bg1"/>
                </a:solidFill>
              </a:endParaRPr>
            </a:p>
          </p:txBody>
        </p:sp>
        <p:sp>
          <p:nvSpPr>
            <p:cNvPr id="12" name="Text 10">
              <a:extLst>
                <a:ext uri="{FF2B5EF4-FFF2-40B4-BE49-F238E27FC236}">
                  <a16:creationId xmlns:a16="http://schemas.microsoft.com/office/drawing/2014/main" id="{E05CF791-4F88-AC64-E716-36055F6D388D}"/>
                </a:ext>
              </a:extLst>
            </p:cNvPr>
            <p:cNvSpPr txBox="1"/>
            <p:nvPr/>
          </p:nvSpPr>
          <p:spPr>
            <a:xfrm>
              <a:off x="1110202" y="5129641"/>
              <a:ext cx="3443424" cy="379513"/>
            </a:xfrm>
            <a:prstGeom prst="rect">
              <a:avLst/>
            </a:prstGeom>
            <a:noFill/>
            <a:ln/>
          </p:spPr>
          <p:txBody>
            <a:bodyPr wrap="square" lIns="0" tIns="0" rIns="0" bIns="0" rtlCol="0" anchor="ctr"/>
            <a:lstStyle/>
            <a:p>
              <a:r>
                <a:rPr lang="en-US" altLang="zh-CN" sz="1600" b="1" dirty="0">
                  <a:solidFill>
                    <a:srgbClr val="13294B"/>
                  </a:solidFill>
                  <a:latin typeface="Georgia" panose="02040502050405020303" pitchFamily="18" charset="0"/>
                </a:rPr>
                <a:t>Accurate</a:t>
              </a:r>
              <a:endParaRPr lang="en-US" sz="1600" b="1" dirty="0">
                <a:solidFill>
                  <a:srgbClr val="13294B"/>
                </a:solidFill>
                <a:latin typeface="Georgia" panose="02040502050405020303" pitchFamily="18" charset="0"/>
              </a:endParaRPr>
            </a:p>
          </p:txBody>
        </p:sp>
        <p:sp>
          <p:nvSpPr>
            <p:cNvPr id="13" name="Text 11">
              <a:extLst>
                <a:ext uri="{FF2B5EF4-FFF2-40B4-BE49-F238E27FC236}">
                  <a16:creationId xmlns:a16="http://schemas.microsoft.com/office/drawing/2014/main" id="{D3ABEFDC-8804-B133-CE46-D11F77D6EECF}"/>
                </a:ext>
              </a:extLst>
            </p:cNvPr>
            <p:cNvSpPr txBox="1"/>
            <p:nvPr/>
          </p:nvSpPr>
          <p:spPr>
            <a:xfrm>
              <a:off x="1027960" y="5367522"/>
              <a:ext cx="3329491" cy="986140"/>
            </a:xfrm>
            <a:prstGeom prst="rect">
              <a:avLst/>
            </a:prstGeom>
            <a:noFill/>
            <a:ln/>
          </p:spPr>
          <p:txBody>
            <a:bodyPr wrap="square" lIns="0" tIns="0" rIns="0" bIns="0" rtlCol="0" anchor="ctr"/>
            <a:lstStyle/>
            <a:p>
              <a:pPr>
                <a:lnSpc>
                  <a:spcPct val="115000"/>
                </a:lnSpc>
              </a:pPr>
              <a:r>
                <a:rPr lang="en-US" altLang="zh-CN" dirty="0">
                  <a:solidFill>
                    <a:srgbClr val="1F3A63"/>
                  </a:solidFill>
                </a:rPr>
                <a:t>Spot diagram on Double Gauss yields sub-micron accuracy</a:t>
              </a:r>
              <a:r>
                <a:rPr lang="zh-CN" altLang="zh-CN" dirty="0">
                  <a:solidFill>
                    <a:srgbClr val="1F3A63"/>
                  </a:solidFill>
                </a:rPr>
                <a:t> </a:t>
              </a:r>
              <a:endParaRPr lang="en-US" dirty="0">
                <a:solidFill>
                  <a:srgbClr val="1F3A63"/>
                </a:solidFill>
              </a:endParaRPr>
            </a:p>
          </p:txBody>
        </p:sp>
      </p:grpSp>
      <p:grpSp>
        <p:nvGrpSpPr>
          <p:cNvPr id="5" name="组合 4">
            <a:extLst>
              <a:ext uri="{FF2B5EF4-FFF2-40B4-BE49-F238E27FC236}">
                <a16:creationId xmlns:a16="http://schemas.microsoft.com/office/drawing/2014/main" id="{435E286B-692C-F549-CA52-6A7B7EA36D41}"/>
              </a:ext>
            </a:extLst>
          </p:cNvPr>
          <p:cNvGrpSpPr/>
          <p:nvPr/>
        </p:nvGrpSpPr>
        <p:grpSpPr>
          <a:xfrm>
            <a:off x="544628" y="3046307"/>
            <a:ext cx="3731808" cy="1232262"/>
            <a:chOff x="548640" y="5034775"/>
            <a:chExt cx="3731808" cy="1232262"/>
          </a:xfrm>
        </p:grpSpPr>
        <p:sp>
          <p:nvSpPr>
            <p:cNvPr id="6" name="Shape 7">
              <a:extLst>
                <a:ext uri="{FF2B5EF4-FFF2-40B4-BE49-F238E27FC236}">
                  <a16:creationId xmlns:a16="http://schemas.microsoft.com/office/drawing/2014/main" id="{0F81CB5C-B639-CBBB-B057-D2DE6AE543B4}"/>
                </a:ext>
              </a:extLst>
            </p:cNvPr>
            <p:cNvSpPr/>
            <p:nvPr/>
          </p:nvSpPr>
          <p:spPr>
            <a:xfrm>
              <a:off x="646913" y="5063246"/>
              <a:ext cx="3633535" cy="1203791"/>
            </a:xfrm>
            <a:prstGeom prst="roundRect">
              <a:avLst>
                <a:gd name="adj" fmla="val 5668"/>
              </a:avLst>
            </a:prstGeom>
            <a:solidFill>
              <a:srgbClr val="E9EEF6"/>
            </a:solidFill>
            <a:ln/>
          </p:spPr>
          <p:txBody>
            <a:bodyPr/>
            <a:lstStyle/>
            <a:p>
              <a:endParaRPr lang="zh-CN" altLang="en-US" dirty="0"/>
            </a:p>
          </p:txBody>
        </p:sp>
        <p:sp>
          <p:nvSpPr>
            <p:cNvPr id="7" name="Shape 8">
              <a:extLst>
                <a:ext uri="{FF2B5EF4-FFF2-40B4-BE49-F238E27FC236}">
                  <a16:creationId xmlns:a16="http://schemas.microsoft.com/office/drawing/2014/main" id="{6AA1B45E-BF1C-AA1B-E4F0-1116114412E8}"/>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8" name="Text 9">
              <a:extLst>
                <a:ext uri="{FF2B5EF4-FFF2-40B4-BE49-F238E27FC236}">
                  <a16:creationId xmlns:a16="http://schemas.microsoft.com/office/drawing/2014/main" id="{479D279E-D51A-6533-B604-51AE773DD34B}"/>
                </a:ext>
              </a:extLst>
            </p:cNvPr>
            <p:cNvSpPr txBox="1"/>
            <p:nvPr/>
          </p:nvSpPr>
          <p:spPr>
            <a:xfrm>
              <a:off x="548640" y="5034775"/>
              <a:ext cx="463290" cy="478835"/>
            </a:xfrm>
            <a:prstGeom prst="rect">
              <a:avLst/>
            </a:prstGeom>
            <a:noFill/>
            <a:ln/>
          </p:spPr>
          <p:txBody>
            <a:bodyPr wrap="square" lIns="0" tIns="0" rIns="0" bIns="0" rtlCol="0" anchor="ctr"/>
            <a:lstStyle/>
            <a:p>
              <a:pPr algn="ctr"/>
              <a:r>
                <a:rPr lang="zh-CN" altLang="en-US" sz="2000" b="1" dirty="0">
                  <a:solidFill>
                    <a:schemeClr val="bg1"/>
                  </a:solidFill>
                </a:rPr>
                <a:t>✓</a:t>
              </a:r>
              <a:endParaRPr lang="en-US" sz="2000" dirty="0">
                <a:solidFill>
                  <a:schemeClr val="bg1"/>
                </a:solidFill>
              </a:endParaRPr>
            </a:p>
          </p:txBody>
        </p:sp>
        <p:sp>
          <p:nvSpPr>
            <p:cNvPr id="14" name="Text 10">
              <a:extLst>
                <a:ext uri="{FF2B5EF4-FFF2-40B4-BE49-F238E27FC236}">
                  <a16:creationId xmlns:a16="http://schemas.microsoft.com/office/drawing/2014/main" id="{AF249BF0-E62E-7883-5D97-6131CCD01961}"/>
                </a:ext>
              </a:extLst>
            </p:cNvPr>
            <p:cNvSpPr txBox="1"/>
            <p:nvPr/>
          </p:nvSpPr>
          <p:spPr>
            <a:xfrm>
              <a:off x="1110202" y="5091141"/>
              <a:ext cx="3038823" cy="379513"/>
            </a:xfrm>
            <a:prstGeom prst="rect">
              <a:avLst/>
            </a:prstGeom>
            <a:noFill/>
            <a:ln/>
          </p:spPr>
          <p:txBody>
            <a:bodyPr wrap="square" lIns="0" tIns="0" rIns="0" bIns="0" rtlCol="0" anchor="ctr"/>
            <a:lstStyle/>
            <a:p>
              <a:r>
                <a:rPr lang="en-US" altLang="zh-CN" sz="1600" b="1" dirty="0">
                  <a:solidFill>
                    <a:srgbClr val="13294B"/>
                  </a:solidFill>
                  <a:latin typeface="Georgia" panose="02040502050405020303" pitchFamily="18" charset="0"/>
                </a:rPr>
                <a:t>Fast</a:t>
              </a:r>
              <a:endParaRPr lang="en-US" sz="1600" b="1" dirty="0">
                <a:solidFill>
                  <a:srgbClr val="13294B"/>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15" name="Text 11">
                  <a:extLst>
                    <a:ext uri="{FF2B5EF4-FFF2-40B4-BE49-F238E27FC236}">
                      <a16:creationId xmlns:a16="http://schemas.microsoft.com/office/drawing/2014/main" id="{CE512C59-7CB3-9D96-288A-559DEDA10151}"/>
                    </a:ext>
                  </a:extLst>
                </p:cNvPr>
                <p:cNvSpPr txBox="1"/>
                <p:nvPr/>
              </p:nvSpPr>
              <p:spPr>
                <a:xfrm>
                  <a:off x="1027960" y="5280897"/>
                  <a:ext cx="3121065" cy="986140"/>
                </a:xfrm>
                <a:prstGeom prst="rect">
                  <a:avLst/>
                </a:prstGeom>
                <a:noFill/>
                <a:ln/>
              </p:spPr>
              <p:txBody>
                <a:bodyPr wrap="square" lIns="0" tIns="0" rIns="0" bIns="0" rtlCol="0" anchor="ctr"/>
                <a:lstStyle/>
                <a:p>
                  <a:pPr>
                    <a:lnSpc>
                      <a:spcPct val="115000"/>
                    </a:lnSpc>
                  </a:pPr>
                  <a:r>
                    <a:rPr lang="en-US" altLang="zh-CN" dirty="0">
                      <a:solidFill>
                        <a:srgbClr val="1F3A63"/>
                      </a:solidFill>
                    </a:rPr>
                    <a:t>0.026s to obtain the coefficients; </a:t>
                  </a:r>
                  <a14:m>
                    <m:oMath xmlns:m="http://schemas.openxmlformats.org/officeDocument/2006/math">
                      <m:sSup>
                        <m:sSupPr>
                          <m:ctrlPr>
                            <a:rPr lang="en-US" altLang="zh-CN" i="1">
                              <a:solidFill>
                                <a:srgbClr val="1F3A63"/>
                              </a:solidFill>
                              <a:latin typeface="Cambria Math" panose="02040503050406030204" pitchFamily="18" charset="0"/>
                              <a:ea typeface="Cambria Math" panose="02040503050406030204" pitchFamily="18" charset="0"/>
                            </a:rPr>
                          </m:ctrlPr>
                        </m:sSupPr>
                        <m:e>
                          <m:r>
                            <a:rPr lang="en-US" altLang="zh-CN" i="1">
                              <a:solidFill>
                                <a:srgbClr val="1F3A63"/>
                              </a:solidFill>
                              <a:latin typeface="Cambria Math" panose="02040503050406030204" pitchFamily="18" charset="0"/>
                              <a:ea typeface="Cambria Math" panose="02040503050406030204" pitchFamily="18" charset="0"/>
                            </a:rPr>
                            <m:t> </m:t>
                          </m:r>
                        </m:e>
                        <m:sup>
                          <m:r>
                            <a:rPr lang="en-US" altLang="zh-CN" i="1">
                              <a:solidFill>
                                <a:srgbClr val="1F3A63"/>
                              </a:solidFill>
                              <a:latin typeface="Cambria Math" panose="02040503050406030204" pitchFamily="18" charset="0"/>
                              <a:ea typeface="Cambria Math" panose="02040503050406030204" pitchFamily="18" charset="0"/>
                            </a:rPr>
                            <m:t>𝑎</m:t>
                          </m:r>
                        </m:sup>
                      </m:sSup>
                      <m:r>
                        <a:rPr lang="en-US" altLang="zh-CN" i="1">
                          <a:solidFill>
                            <a:srgbClr val="1F3A63"/>
                          </a:solidFill>
                          <a:latin typeface="Cambria Math" panose="02040503050406030204" pitchFamily="18" charset="0"/>
                          <a:ea typeface="Cambria Math" panose="02040503050406030204" pitchFamily="18" charset="0"/>
                        </a:rPr>
                        <m:t> </m:t>
                      </m:r>
                    </m:oMath>
                  </a14:m>
                  <a:r>
                    <a:rPr lang="en-US" altLang="zh-CN" dirty="0">
                      <a:solidFill>
                        <a:srgbClr val="1F3A63"/>
                      </a:solidFill>
                    </a:rPr>
                    <a:t>1000× faster if sampling rays</a:t>
                  </a:r>
                </a:p>
              </p:txBody>
            </p:sp>
          </mc:Choice>
          <mc:Fallback xmlns="">
            <p:sp>
              <p:nvSpPr>
                <p:cNvPr id="15" name="Text 11">
                  <a:extLst>
                    <a:ext uri="{FF2B5EF4-FFF2-40B4-BE49-F238E27FC236}">
                      <a16:creationId xmlns:a16="http://schemas.microsoft.com/office/drawing/2014/main" id="{CE512C59-7CB3-9D96-288A-559DEDA10151}"/>
                    </a:ext>
                  </a:extLst>
                </p:cNvPr>
                <p:cNvSpPr txBox="1">
                  <a:spLocks noRot="1" noChangeAspect="1" noMove="1" noResize="1" noEditPoints="1" noAdjustHandles="1" noChangeArrowheads="1" noChangeShapeType="1" noTextEdit="1"/>
                </p:cNvSpPr>
                <p:nvPr/>
              </p:nvSpPr>
              <p:spPr>
                <a:xfrm>
                  <a:off x="1027960" y="5280897"/>
                  <a:ext cx="3121065" cy="986140"/>
                </a:xfrm>
                <a:prstGeom prst="rect">
                  <a:avLst/>
                </a:prstGeom>
                <a:blipFill>
                  <a:blip r:embed="rId3"/>
                  <a:stretch>
                    <a:fillRect l="-4453" r="-3644"/>
                  </a:stretch>
                </a:blipFill>
                <a:ln/>
              </p:spPr>
              <p:txBody>
                <a:bodyPr/>
                <a:lstStyle/>
                <a:p>
                  <a:r>
                    <a:rPr lang="zh-CN" altLang="en-US">
                      <a:noFill/>
                    </a:rPr>
                    <a:t> </a:t>
                  </a:r>
                </a:p>
              </p:txBody>
            </p:sp>
          </mc:Fallback>
        </mc:AlternateContent>
      </p:grpSp>
      <p:grpSp>
        <p:nvGrpSpPr>
          <p:cNvPr id="16" name="组合 15">
            <a:extLst>
              <a:ext uri="{FF2B5EF4-FFF2-40B4-BE49-F238E27FC236}">
                <a16:creationId xmlns:a16="http://schemas.microsoft.com/office/drawing/2014/main" id="{67D7D1A2-95A0-9215-C352-869B695AA54C}"/>
              </a:ext>
            </a:extLst>
          </p:cNvPr>
          <p:cNvGrpSpPr/>
          <p:nvPr/>
        </p:nvGrpSpPr>
        <p:grpSpPr>
          <a:xfrm>
            <a:off x="544628" y="4577563"/>
            <a:ext cx="3716945" cy="1232262"/>
            <a:chOff x="548640" y="5034775"/>
            <a:chExt cx="3716945" cy="1232262"/>
          </a:xfrm>
        </p:grpSpPr>
        <p:sp>
          <p:nvSpPr>
            <p:cNvPr id="17" name="Shape 7">
              <a:extLst>
                <a:ext uri="{FF2B5EF4-FFF2-40B4-BE49-F238E27FC236}">
                  <a16:creationId xmlns:a16="http://schemas.microsoft.com/office/drawing/2014/main" id="{770F0C85-9C2B-C393-B957-B616A762CA9E}"/>
                </a:ext>
              </a:extLst>
            </p:cNvPr>
            <p:cNvSpPr/>
            <p:nvPr/>
          </p:nvSpPr>
          <p:spPr>
            <a:xfrm>
              <a:off x="646914" y="5063246"/>
              <a:ext cx="3612266" cy="1203791"/>
            </a:xfrm>
            <a:prstGeom prst="roundRect">
              <a:avLst>
                <a:gd name="adj" fmla="val 5668"/>
              </a:avLst>
            </a:prstGeom>
            <a:solidFill>
              <a:srgbClr val="E9EEF6"/>
            </a:solidFill>
            <a:ln/>
          </p:spPr>
          <p:txBody>
            <a:bodyPr/>
            <a:lstStyle/>
            <a:p>
              <a:endParaRPr lang="zh-CN" altLang="en-US" dirty="0"/>
            </a:p>
          </p:txBody>
        </p:sp>
        <p:sp>
          <p:nvSpPr>
            <p:cNvPr id="18" name="Shape 8">
              <a:extLst>
                <a:ext uri="{FF2B5EF4-FFF2-40B4-BE49-F238E27FC236}">
                  <a16:creationId xmlns:a16="http://schemas.microsoft.com/office/drawing/2014/main" id="{2D1BDBD0-F3B0-E06A-BFF7-058B28D6AAFF}"/>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19" name="Text 9">
              <a:extLst>
                <a:ext uri="{FF2B5EF4-FFF2-40B4-BE49-F238E27FC236}">
                  <a16:creationId xmlns:a16="http://schemas.microsoft.com/office/drawing/2014/main" id="{233462E7-3B62-FB7E-D672-49B9DCE7DD33}"/>
                </a:ext>
              </a:extLst>
            </p:cNvPr>
            <p:cNvSpPr txBox="1"/>
            <p:nvPr/>
          </p:nvSpPr>
          <p:spPr>
            <a:xfrm>
              <a:off x="548640" y="5034775"/>
              <a:ext cx="463290" cy="478835"/>
            </a:xfrm>
            <a:prstGeom prst="rect">
              <a:avLst/>
            </a:prstGeom>
            <a:noFill/>
            <a:ln/>
          </p:spPr>
          <p:txBody>
            <a:bodyPr wrap="square" lIns="0" tIns="0" rIns="0" bIns="0" rtlCol="0" anchor="ctr"/>
            <a:lstStyle/>
            <a:p>
              <a:pPr algn="ctr"/>
              <a:r>
                <a:rPr lang="zh-CN" altLang="en-US" sz="2000" b="1" dirty="0">
                  <a:solidFill>
                    <a:schemeClr val="bg1"/>
                  </a:solidFill>
                </a:rPr>
                <a:t>✓</a:t>
              </a:r>
              <a:endParaRPr lang="en-US" sz="2000" dirty="0">
                <a:solidFill>
                  <a:schemeClr val="bg1"/>
                </a:solidFill>
              </a:endParaRPr>
            </a:p>
          </p:txBody>
        </p:sp>
        <p:sp>
          <p:nvSpPr>
            <p:cNvPr id="20" name="Text 10">
              <a:extLst>
                <a:ext uri="{FF2B5EF4-FFF2-40B4-BE49-F238E27FC236}">
                  <a16:creationId xmlns:a16="http://schemas.microsoft.com/office/drawing/2014/main" id="{12B16B79-50A5-7763-5302-696C2D9147A2}"/>
                </a:ext>
              </a:extLst>
            </p:cNvPr>
            <p:cNvSpPr txBox="1"/>
            <p:nvPr/>
          </p:nvSpPr>
          <p:spPr>
            <a:xfrm>
              <a:off x="1100577" y="5091141"/>
              <a:ext cx="3165008" cy="379513"/>
            </a:xfrm>
            <a:prstGeom prst="rect">
              <a:avLst/>
            </a:prstGeom>
            <a:noFill/>
            <a:ln/>
          </p:spPr>
          <p:txBody>
            <a:bodyPr wrap="square" lIns="0" tIns="0" rIns="0" bIns="0" rtlCol="0" anchor="ctr"/>
            <a:lstStyle/>
            <a:p>
              <a:r>
                <a:rPr lang="en-US" sz="1500" b="1" dirty="0">
                  <a:solidFill>
                    <a:srgbClr val="13294B"/>
                  </a:solidFill>
                  <a:latin typeface="Georgia" panose="02040502050405020303" pitchFamily="18" charset="0"/>
                </a:rPr>
                <a:t>Scalable</a:t>
              </a:r>
            </a:p>
          </p:txBody>
        </p:sp>
        <mc:AlternateContent xmlns:mc="http://schemas.openxmlformats.org/markup-compatibility/2006" xmlns:a14="http://schemas.microsoft.com/office/drawing/2010/main">
          <mc:Choice Requires="a14">
            <p:sp>
              <p:nvSpPr>
                <p:cNvPr id="21" name="Text 11">
                  <a:extLst>
                    <a:ext uri="{FF2B5EF4-FFF2-40B4-BE49-F238E27FC236}">
                      <a16:creationId xmlns:a16="http://schemas.microsoft.com/office/drawing/2014/main" id="{662A2F63-D51E-DC4C-9659-F77EFD62E5F0}"/>
                    </a:ext>
                  </a:extLst>
                </p:cNvPr>
                <p:cNvSpPr txBox="1"/>
                <p:nvPr/>
              </p:nvSpPr>
              <p:spPr>
                <a:xfrm>
                  <a:off x="1027960" y="5280897"/>
                  <a:ext cx="3121065" cy="986140"/>
                </a:xfrm>
                <a:prstGeom prst="rect">
                  <a:avLst/>
                </a:prstGeom>
                <a:noFill/>
                <a:ln/>
              </p:spPr>
              <p:txBody>
                <a:bodyPr wrap="square" lIns="0" tIns="0" rIns="0" bIns="0" rtlCol="0" anchor="ctr"/>
                <a:lstStyle/>
                <a:p>
                  <a:pPr>
                    <a:lnSpc>
                      <a:spcPct val="115000"/>
                    </a:lnSpc>
                  </a:pPr>
                  <a:r>
                    <a:rPr lang="en-US" altLang="zh-CN" sz="1600" dirty="0">
                      <a:solidFill>
                        <a:srgbClr val="1F3A63"/>
                      </a:solidFill>
                    </a:rPr>
                    <a:t>Cost scales with system complexity, not ray count</a:t>
                  </a:r>
                  <a14:m>
                    <m:oMath xmlns:m="http://schemas.openxmlformats.org/officeDocument/2006/math">
                      <m:sSup>
                        <m:sSupPr>
                          <m:ctrlPr>
                            <a:rPr lang="en-US" altLang="zh-CN" sz="1600" b="0" i="1" smtClean="0">
                              <a:solidFill>
                                <a:srgbClr val="1F3A63"/>
                              </a:solidFill>
                              <a:latin typeface="Cambria Math" panose="02040503050406030204" pitchFamily="18" charset="0"/>
                            </a:rPr>
                          </m:ctrlPr>
                        </m:sSupPr>
                        <m:e>
                          <m:r>
                            <a:rPr lang="en-US" altLang="zh-CN" sz="1600" b="0" i="1" smtClean="0">
                              <a:solidFill>
                                <a:srgbClr val="1F3A63"/>
                              </a:solidFill>
                              <a:latin typeface="Cambria Math" panose="02040503050406030204" pitchFamily="18" charset="0"/>
                            </a:rPr>
                            <m:t>.</m:t>
                          </m:r>
                        </m:e>
                        <m:sup>
                          <m:r>
                            <a:rPr lang="en-US" altLang="zh-CN" sz="1600" b="0" i="1" smtClean="0">
                              <a:solidFill>
                                <a:srgbClr val="1F3A63"/>
                              </a:solidFill>
                              <a:latin typeface="Cambria Math" panose="02040503050406030204" pitchFamily="18" charset="0"/>
                            </a:rPr>
                            <m:t>𝑏</m:t>
                          </m:r>
                        </m:sup>
                      </m:sSup>
                    </m:oMath>
                  </a14:m>
                  <a:endParaRPr lang="en-US" sz="1400" dirty="0">
                    <a:solidFill>
                      <a:srgbClr val="1F3A63"/>
                    </a:solidFill>
                  </a:endParaRPr>
                </a:p>
              </p:txBody>
            </p:sp>
          </mc:Choice>
          <mc:Fallback xmlns="">
            <p:sp>
              <p:nvSpPr>
                <p:cNvPr id="21" name="Text 11">
                  <a:extLst>
                    <a:ext uri="{FF2B5EF4-FFF2-40B4-BE49-F238E27FC236}">
                      <a16:creationId xmlns:a16="http://schemas.microsoft.com/office/drawing/2014/main" id="{662A2F63-D51E-DC4C-9659-F77EFD62E5F0}"/>
                    </a:ext>
                  </a:extLst>
                </p:cNvPr>
                <p:cNvSpPr txBox="1">
                  <a:spLocks noRot="1" noChangeAspect="1" noMove="1" noResize="1" noEditPoints="1" noAdjustHandles="1" noChangeArrowheads="1" noChangeShapeType="1" noTextEdit="1"/>
                </p:cNvSpPr>
                <p:nvPr/>
              </p:nvSpPr>
              <p:spPr>
                <a:xfrm>
                  <a:off x="1027960" y="5280897"/>
                  <a:ext cx="3121065" cy="986140"/>
                </a:xfrm>
                <a:prstGeom prst="rect">
                  <a:avLst/>
                </a:prstGeom>
                <a:blipFill>
                  <a:blip r:embed="rId4"/>
                  <a:stretch>
                    <a:fillRect l="-3644"/>
                  </a:stretch>
                </a:blip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EB5FF6C-97FC-DEB4-5B82-D02958AD8310}"/>
                  </a:ext>
                </a:extLst>
              </p:cNvPr>
              <p:cNvSpPr txBox="1"/>
              <p:nvPr/>
            </p:nvSpPr>
            <p:spPr>
              <a:xfrm>
                <a:off x="544628" y="6137290"/>
                <a:ext cx="6102626" cy="342979"/>
              </a:xfrm>
              <a:prstGeom prst="rect">
                <a:avLst/>
              </a:prstGeom>
              <a:noFill/>
            </p:spPr>
            <p:txBody>
              <a:bodyPr wrap="square">
                <a:spAutoFit/>
              </a:bodyPr>
              <a:lstStyle/>
              <a:p>
                <a:r>
                  <a:rPr lang="en-US" altLang="zh-CN" sz="1600" i="1" dirty="0">
                    <a:solidFill>
                      <a:srgbClr val="8A97A8"/>
                    </a:solidFill>
                    <a:latin typeface="Calibri" pitchFamily="34" charset="0"/>
                    <a:ea typeface="Calibri" pitchFamily="34" charset="-122"/>
                    <a:cs typeface="Calibri" pitchFamily="34" charset="-120"/>
                  </a:rPr>
                  <a:t> </a:t>
                </a:r>
                <a14:m>
                  <m:oMath xmlns:m="http://schemas.openxmlformats.org/officeDocument/2006/math">
                    <m:sSup>
                      <m:sSupPr>
                        <m:ctrlPr>
                          <a:rPr lang="en-US" altLang="zh-CN" sz="1600" i="1">
                            <a:solidFill>
                              <a:srgbClr val="1F3A63"/>
                            </a:solidFill>
                            <a:latin typeface="Cambria Math" panose="02040503050406030204" pitchFamily="18" charset="0"/>
                          </a:rPr>
                        </m:ctrlPr>
                      </m:sSupPr>
                      <m:e>
                        <m:r>
                          <a:rPr lang="en-US" altLang="zh-CN" sz="1600" i="1" smtClean="0">
                            <a:solidFill>
                              <a:schemeClr val="bg1"/>
                            </a:solidFill>
                            <a:latin typeface="Cambria Math" panose="02040503050406030204" pitchFamily="18" charset="0"/>
                          </a:rPr>
                          <m:t>.</m:t>
                        </m:r>
                      </m:e>
                      <m:sup>
                        <m:r>
                          <a:rPr lang="en-US" altLang="zh-CN" sz="1600" i="1" smtClean="0">
                            <a:solidFill>
                              <a:srgbClr val="8A97A8"/>
                            </a:solidFill>
                            <a:latin typeface="Cambria Math" panose="02040503050406030204" pitchFamily="18" charset="0"/>
                          </a:rPr>
                          <m:t>𝑏</m:t>
                        </m:r>
                      </m:sup>
                    </m:sSup>
                    <m:r>
                      <a:rPr lang="en-US" altLang="zh-CN" sz="1600" i="1">
                        <a:solidFill>
                          <a:srgbClr val="1F3A63"/>
                        </a:solidFill>
                        <a:latin typeface="Cambria Math" panose="02040503050406030204" pitchFamily="18" charset="0"/>
                      </a:rPr>
                      <m:t> </m:t>
                    </m:r>
                  </m:oMath>
                </a14:m>
                <a:r>
                  <a:rPr lang="en-US" altLang="zh-CN" sz="1600" i="1" dirty="0">
                    <a:solidFill>
                      <a:srgbClr val="8A97A8"/>
                    </a:solidFill>
                    <a:latin typeface="Calibri" pitchFamily="34" charset="0"/>
                    <a:ea typeface="Calibri" pitchFamily="34" charset="-122"/>
                    <a:cs typeface="Calibri" pitchFamily="34" charset="-120"/>
                  </a:rPr>
                  <a:t>Obtaining the aberration coefficients.</a:t>
                </a:r>
                <a:endParaRPr lang="en-US" altLang="zh-CN" sz="1600" dirty="0"/>
              </a:p>
            </p:txBody>
          </p:sp>
        </mc:Choice>
        <mc:Fallback xmlns="">
          <p:sp>
            <p:nvSpPr>
              <p:cNvPr id="24" name="文本框 23">
                <a:extLst>
                  <a:ext uri="{FF2B5EF4-FFF2-40B4-BE49-F238E27FC236}">
                    <a16:creationId xmlns:a16="http://schemas.microsoft.com/office/drawing/2014/main" id="{BEB5FF6C-97FC-DEB4-5B82-D02958AD8310}"/>
                  </a:ext>
                </a:extLst>
              </p:cNvPr>
              <p:cNvSpPr txBox="1">
                <a:spLocks noRot="1" noChangeAspect="1" noMove="1" noResize="1" noEditPoints="1" noAdjustHandles="1" noChangeArrowheads="1" noChangeShapeType="1" noTextEdit="1"/>
              </p:cNvSpPr>
              <p:nvPr/>
            </p:nvSpPr>
            <p:spPr>
              <a:xfrm>
                <a:off x="544628" y="6137290"/>
                <a:ext cx="6102626" cy="342979"/>
              </a:xfrm>
              <a:prstGeom prst="rect">
                <a:avLst/>
              </a:prstGeom>
              <a:blipFill>
                <a:blip r:embed="rId5"/>
                <a:stretch>
                  <a:fillRect t="-7143" b="-17857"/>
                </a:stretch>
              </a:blipFill>
            </p:spPr>
            <p:txBody>
              <a:bodyPr/>
              <a:lstStyle/>
              <a:p>
                <a:r>
                  <a:rPr lang="zh-CN" altLang="en-US">
                    <a:noFill/>
                  </a:rPr>
                  <a:t> </a:t>
                </a:r>
              </a:p>
            </p:txBody>
          </p:sp>
        </mc:Fallback>
      </mc:AlternateContent>
      <p:sp>
        <p:nvSpPr>
          <p:cNvPr id="142" name="文本框 141">
            <a:extLst>
              <a:ext uri="{FF2B5EF4-FFF2-40B4-BE49-F238E27FC236}">
                <a16:creationId xmlns:a16="http://schemas.microsoft.com/office/drawing/2014/main" id="{247087BF-1153-715E-683A-2CE9AFB3DF6C}"/>
              </a:ext>
            </a:extLst>
          </p:cNvPr>
          <p:cNvSpPr txBox="1"/>
          <p:nvPr/>
        </p:nvSpPr>
        <p:spPr>
          <a:xfrm>
            <a:off x="8916546" y="6446520"/>
            <a:ext cx="3287486" cy="276999"/>
          </a:xfrm>
          <a:prstGeom prst="rect">
            <a:avLst/>
          </a:prstGeom>
          <a:noFill/>
        </p:spPr>
        <p:txBody>
          <a:bodyPr wrap="square">
            <a:spAutoFit/>
          </a:bodyPr>
          <a:lstStyle/>
          <a:p>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Haosheng Shi, Praneeth </a:t>
            </a:r>
            <a:r>
              <a:rPr lang="en-US" altLang="zh-CN" sz="1200" dirty="0" err="1">
                <a:solidFill>
                  <a:srgbClr val="8A97A8"/>
                </a:solidFill>
                <a:latin typeface="Gill Sans" panose="020B0502020104020203" pitchFamily="34" charset="-79"/>
                <a:ea typeface="Calibri" pitchFamily="34" charset="-122"/>
                <a:cs typeface="Gill Sans" panose="020B0502020104020203" pitchFamily="34" charset="-79"/>
              </a:rPr>
              <a:t>Chakravarthula</a:t>
            </a:r>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  ·   5</a:t>
            </a:r>
            <a:endParaRPr lang="en-US" altLang="zh-CN" sz="1200" dirty="0">
              <a:solidFill>
                <a:srgbClr val="8A97A8"/>
              </a:solidFill>
              <a:latin typeface="Gill Sans" panose="020B0502020104020203" pitchFamily="34" charset="-79"/>
              <a:cs typeface="Gill Sans" panose="020B0502020104020203" pitchFamily="34" charset="-79"/>
            </a:endParaRPr>
          </a:p>
        </p:txBody>
      </p:sp>
      <p:grpSp>
        <p:nvGrpSpPr>
          <p:cNvPr id="48" name="组合 47">
            <a:extLst>
              <a:ext uri="{FF2B5EF4-FFF2-40B4-BE49-F238E27FC236}">
                <a16:creationId xmlns:a16="http://schemas.microsoft.com/office/drawing/2014/main" id="{3F323D10-62FA-902F-2369-49DD804C0384}"/>
              </a:ext>
            </a:extLst>
          </p:cNvPr>
          <p:cNvGrpSpPr/>
          <p:nvPr/>
        </p:nvGrpSpPr>
        <p:grpSpPr>
          <a:xfrm>
            <a:off x="5107425" y="3330123"/>
            <a:ext cx="5646008" cy="2832848"/>
            <a:chOff x="4823304" y="4655910"/>
            <a:chExt cx="8072750" cy="4050451"/>
          </a:xfrm>
        </p:grpSpPr>
        <p:sp>
          <p:nvSpPr>
            <p:cNvPr id="49" name="文本框 48">
              <a:extLst>
                <a:ext uri="{FF2B5EF4-FFF2-40B4-BE49-F238E27FC236}">
                  <a16:creationId xmlns:a16="http://schemas.microsoft.com/office/drawing/2014/main" id="{CCD07AEF-8B05-E06A-5157-1F2D3BE01DE9}"/>
                </a:ext>
              </a:extLst>
            </p:cNvPr>
            <p:cNvSpPr txBox="1"/>
            <p:nvPr/>
          </p:nvSpPr>
          <p:spPr>
            <a:xfrm>
              <a:off x="8916546" y="6446520"/>
              <a:ext cx="3287486" cy="276999"/>
            </a:xfrm>
            <a:prstGeom prst="rect">
              <a:avLst/>
            </a:prstGeom>
            <a:noFill/>
          </p:spPr>
          <p:txBody>
            <a:bodyPr wrap="square">
              <a:spAutoFit/>
            </a:bodyPr>
            <a:lstStyle/>
            <a:p>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Haosheng Shi, Praneeth </a:t>
              </a:r>
              <a:r>
                <a:rPr lang="en-US" altLang="zh-CN" sz="1200" dirty="0" err="1">
                  <a:solidFill>
                    <a:srgbClr val="8A97A8"/>
                  </a:solidFill>
                  <a:latin typeface="Gill Sans" panose="020B0502020104020203" pitchFamily="34" charset="-79"/>
                  <a:ea typeface="Calibri" pitchFamily="34" charset="-122"/>
                  <a:cs typeface="Gill Sans" panose="020B0502020104020203" pitchFamily="34" charset="-79"/>
                </a:rPr>
                <a:t>Chakravarthula</a:t>
              </a:r>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  ·   5</a:t>
              </a:r>
              <a:endParaRPr lang="en-US" altLang="zh-CN" sz="1200" dirty="0">
                <a:solidFill>
                  <a:srgbClr val="8A97A8"/>
                </a:solidFill>
                <a:latin typeface="Gill Sans" panose="020B0502020104020203" pitchFamily="34" charset="-79"/>
                <a:cs typeface="Gill Sans" panose="020B0502020104020203" pitchFamily="34" charset="-79"/>
              </a:endParaRPr>
            </a:p>
          </p:txBody>
        </p:sp>
        <p:grpSp>
          <p:nvGrpSpPr>
            <p:cNvPr id="50" name="组合 49">
              <a:extLst>
                <a:ext uri="{FF2B5EF4-FFF2-40B4-BE49-F238E27FC236}">
                  <a16:creationId xmlns:a16="http://schemas.microsoft.com/office/drawing/2014/main" id="{6BC3A8FB-F463-0663-5894-08EFDED05F56}"/>
                </a:ext>
              </a:extLst>
            </p:cNvPr>
            <p:cNvGrpSpPr/>
            <p:nvPr/>
          </p:nvGrpSpPr>
          <p:grpSpPr>
            <a:xfrm>
              <a:off x="4823304" y="4655910"/>
              <a:ext cx="8072750" cy="4050451"/>
              <a:chOff x="1083126" y="4409256"/>
              <a:chExt cx="8072750" cy="4050451"/>
            </a:xfrm>
          </p:grpSpPr>
          <p:pic>
            <p:nvPicPr>
              <p:cNvPr id="54" name="图片 53">
                <a:extLst>
                  <a:ext uri="{FF2B5EF4-FFF2-40B4-BE49-F238E27FC236}">
                    <a16:creationId xmlns:a16="http://schemas.microsoft.com/office/drawing/2014/main" id="{A97A9605-D016-51E3-C116-F573B19D0271}"/>
                  </a:ext>
                </a:extLst>
              </p:cNvPr>
              <p:cNvPicPr>
                <a:picLocks noChangeAspect="1"/>
              </p:cNvPicPr>
              <p:nvPr/>
            </p:nvPicPr>
            <p:blipFill>
              <a:blip r:embed="rId6"/>
              <a:stretch>
                <a:fillRect/>
              </a:stretch>
            </p:blipFill>
            <p:spPr>
              <a:xfrm>
                <a:off x="5476006" y="4409256"/>
                <a:ext cx="3679869" cy="1872317"/>
              </a:xfrm>
              <a:prstGeom prst="rect">
                <a:avLst/>
              </a:prstGeom>
            </p:spPr>
          </p:pic>
          <p:pic>
            <p:nvPicPr>
              <p:cNvPr id="55" name="图片 54">
                <a:extLst>
                  <a:ext uri="{FF2B5EF4-FFF2-40B4-BE49-F238E27FC236}">
                    <a16:creationId xmlns:a16="http://schemas.microsoft.com/office/drawing/2014/main" id="{FF873C17-617E-8052-2602-FC51EC9CAB75}"/>
                  </a:ext>
                </a:extLst>
              </p:cNvPr>
              <p:cNvPicPr>
                <a:picLocks noChangeAspect="1"/>
              </p:cNvPicPr>
              <p:nvPr/>
            </p:nvPicPr>
            <p:blipFill>
              <a:blip r:embed="rId7"/>
              <a:stretch>
                <a:fillRect/>
              </a:stretch>
            </p:blipFill>
            <p:spPr>
              <a:xfrm>
                <a:off x="1083126" y="4487327"/>
                <a:ext cx="4333505" cy="3972380"/>
              </a:xfrm>
              <a:prstGeom prst="rect">
                <a:avLst/>
              </a:prstGeom>
            </p:spPr>
          </p:pic>
          <p:pic>
            <p:nvPicPr>
              <p:cNvPr id="56" name="图片 55">
                <a:extLst>
                  <a:ext uri="{FF2B5EF4-FFF2-40B4-BE49-F238E27FC236}">
                    <a16:creationId xmlns:a16="http://schemas.microsoft.com/office/drawing/2014/main" id="{32770F8D-72FC-115D-2B25-3D9977671C1D}"/>
                  </a:ext>
                </a:extLst>
              </p:cNvPr>
              <p:cNvPicPr>
                <a:picLocks noChangeAspect="1"/>
              </p:cNvPicPr>
              <p:nvPr/>
            </p:nvPicPr>
            <p:blipFill>
              <a:blip r:embed="rId8"/>
              <a:stretch>
                <a:fillRect/>
              </a:stretch>
            </p:blipFill>
            <p:spPr>
              <a:xfrm>
                <a:off x="5559132" y="6281573"/>
                <a:ext cx="3596744" cy="2048705"/>
              </a:xfrm>
              <a:prstGeom prst="rect">
                <a:avLst/>
              </a:prstGeom>
            </p:spPr>
          </p:pic>
        </p:grpSp>
        <p:sp>
          <p:nvSpPr>
            <p:cNvPr id="51" name="文本框 50">
              <a:extLst>
                <a:ext uri="{FF2B5EF4-FFF2-40B4-BE49-F238E27FC236}">
                  <a16:creationId xmlns:a16="http://schemas.microsoft.com/office/drawing/2014/main" id="{29EAB253-D32C-FA69-5676-594E6470E10B}"/>
                </a:ext>
              </a:extLst>
            </p:cNvPr>
            <p:cNvSpPr txBox="1"/>
            <p:nvPr/>
          </p:nvSpPr>
          <p:spPr>
            <a:xfrm>
              <a:off x="5825952" y="7673431"/>
              <a:ext cx="366765" cy="484070"/>
            </a:xfrm>
            <a:prstGeom prst="rect">
              <a:avLst/>
            </a:prstGeom>
            <a:noFill/>
          </p:spPr>
          <p:txBody>
            <a:bodyPr wrap="square">
              <a:spAutoFit/>
            </a:bodyPr>
            <a:lstStyle/>
            <a:p>
              <a:r>
                <a:rPr kumimoji="1" lang="en-US" altLang="zh-CN" sz="1600" b="1" dirty="0">
                  <a:solidFill>
                    <a:schemeClr val="accent1"/>
                  </a:solidFill>
                  <a:latin typeface="Times New Roman" panose="02020603050405020304" pitchFamily="18" charset="0"/>
                  <a:cs typeface="Times New Roman" panose="02020603050405020304" pitchFamily="18" charset="0"/>
                </a:rPr>
                <a:t>1</a:t>
              </a:r>
              <a:endParaRPr kumimoji="1" lang="zh-CN" altLang="en-US" sz="1600" b="1" dirty="0">
                <a:solidFill>
                  <a:schemeClr val="accent1"/>
                </a:solidFill>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DC2A3D78-0E8B-3C96-B812-412D6BD56A3B}"/>
                </a:ext>
              </a:extLst>
            </p:cNvPr>
            <p:cNvSpPr txBox="1"/>
            <p:nvPr/>
          </p:nvSpPr>
          <p:spPr>
            <a:xfrm>
              <a:off x="9727547" y="5845071"/>
              <a:ext cx="336620" cy="484070"/>
            </a:xfrm>
            <a:prstGeom prst="rect">
              <a:avLst/>
            </a:prstGeom>
            <a:noFill/>
          </p:spPr>
          <p:txBody>
            <a:bodyPr wrap="square">
              <a:spAutoFit/>
            </a:bodyPr>
            <a:lstStyle/>
            <a:p>
              <a:r>
                <a:rPr kumimoji="1" lang="en-US" altLang="zh-CN" sz="1600" b="1" dirty="0">
                  <a:solidFill>
                    <a:schemeClr val="accent1"/>
                  </a:solidFill>
                  <a:latin typeface="Times New Roman" panose="02020603050405020304" pitchFamily="18" charset="0"/>
                  <a:cs typeface="Times New Roman" panose="02020603050405020304" pitchFamily="18" charset="0"/>
                </a:rPr>
                <a:t>2</a:t>
              </a:r>
              <a:endParaRPr kumimoji="1" lang="zh-CN" altLang="en-US" sz="2400" b="1" dirty="0">
                <a:solidFill>
                  <a:schemeClr val="accent1"/>
                </a:solidFill>
                <a:latin typeface="Times New Roman" panose="02020603050405020304" pitchFamily="18" charset="0"/>
                <a:cs typeface="Times New Roman" panose="02020603050405020304" pitchFamily="18" charset="0"/>
              </a:endParaRPr>
            </a:p>
          </p:txBody>
        </p:sp>
        <p:sp>
          <p:nvSpPr>
            <p:cNvPr id="53" name="文本框 52">
              <a:extLst>
                <a:ext uri="{FF2B5EF4-FFF2-40B4-BE49-F238E27FC236}">
                  <a16:creationId xmlns:a16="http://schemas.microsoft.com/office/drawing/2014/main" id="{B1C6BBF2-92DE-8FD0-3C0E-3BFF08F8CA58}"/>
                </a:ext>
              </a:extLst>
            </p:cNvPr>
            <p:cNvSpPr txBox="1"/>
            <p:nvPr/>
          </p:nvSpPr>
          <p:spPr>
            <a:xfrm>
              <a:off x="9727547" y="7717387"/>
              <a:ext cx="336620" cy="484070"/>
            </a:xfrm>
            <a:prstGeom prst="rect">
              <a:avLst/>
            </a:prstGeom>
            <a:noFill/>
          </p:spPr>
          <p:txBody>
            <a:bodyPr wrap="square">
              <a:spAutoFit/>
            </a:bodyPr>
            <a:lstStyle/>
            <a:p>
              <a:r>
                <a:rPr kumimoji="1" lang="en-US" altLang="zh-CN" sz="1600" b="1" dirty="0">
                  <a:solidFill>
                    <a:schemeClr val="accent1"/>
                  </a:solidFill>
                  <a:latin typeface="Times New Roman" panose="02020603050405020304" pitchFamily="18" charset="0"/>
                  <a:cs typeface="Times New Roman" panose="02020603050405020304" pitchFamily="18" charset="0"/>
                </a:rPr>
                <a:t>3</a:t>
              </a:r>
              <a:endParaRPr kumimoji="1" lang="zh-CN" altLang="en-US" sz="1600" b="1" dirty="0">
                <a:solidFill>
                  <a:schemeClr val="accent1"/>
                </a:solidFill>
                <a:latin typeface="Times New Roman" panose="02020603050405020304" pitchFamily="18" charset="0"/>
                <a:cs typeface="Times New Roman" panose="02020603050405020304" pitchFamily="18" charset="0"/>
              </a:endParaRPr>
            </a:p>
          </p:txBody>
        </p:sp>
      </p:grpSp>
      <p:grpSp>
        <p:nvGrpSpPr>
          <p:cNvPr id="57" name="组合 56">
            <a:extLst>
              <a:ext uri="{FF2B5EF4-FFF2-40B4-BE49-F238E27FC236}">
                <a16:creationId xmlns:a16="http://schemas.microsoft.com/office/drawing/2014/main" id="{EF013189-626C-F3EC-9AB3-8D783998F2AB}"/>
              </a:ext>
            </a:extLst>
          </p:cNvPr>
          <p:cNvGrpSpPr/>
          <p:nvPr/>
        </p:nvGrpSpPr>
        <p:grpSpPr>
          <a:xfrm>
            <a:off x="6227449" y="1323371"/>
            <a:ext cx="4020907" cy="1693879"/>
            <a:chOff x="5421267" y="1472310"/>
            <a:chExt cx="7556778" cy="3183427"/>
          </a:xfrm>
        </p:grpSpPr>
        <p:sp>
          <p:nvSpPr>
            <p:cNvPr id="58" name="五边形 57">
              <a:extLst>
                <a:ext uri="{FF2B5EF4-FFF2-40B4-BE49-F238E27FC236}">
                  <a16:creationId xmlns:a16="http://schemas.microsoft.com/office/drawing/2014/main" id="{ABF18926-ACBE-52AF-BDD3-154C241421CA}"/>
                </a:ext>
              </a:extLst>
            </p:cNvPr>
            <p:cNvSpPr/>
            <p:nvPr/>
          </p:nvSpPr>
          <p:spPr>
            <a:xfrm rot="10800000">
              <a:off x="12170294" y="3169817"/>
              <a:ext cx="239581" cy="137246"/>
            </a:xfrm>
            <a:prstGeom prst="homePlat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五边形 58">
              <a:extLst>
                <a:ext uri="{FF2B5EF4-FFF2-40B4-BE49-F238E27FC236}">
                  <a16:creationId xmlns:a16="http://schemas.microsoft.com/office/drawing/2014/main" id="{9978CD51-5DAF-9E08-8F74-C98BE7002E96}"/>
                </a:ext>
              </a:extLst>
            </p:cNvPr>
            <p:cNvSpPr/>
            <p:nvPr/>
          </p:nvSpPr>
          <p:spPr>
            <a:xfrm rot="10800000">
              <a:off x="12170293" y="2165036"/>
              <a:ext cx="239581" cy="137246"/>
            </a:xfrm>
            <a:prstGeom prst="homePlat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五边形 59">
              <a:extLst>
                <a:ext uri="{FF2B5EF4-FFF2-40B4-BE49-F238E27FC236}">
                  <a16:creationId xmlns:a16="http://schemas.microsoft.com/office/drawing/2014/main" id="{2A84D5AA-3727-3597-76ED-C5AE2438F4CD}"/>
                </a:ext>
              </a:extLst>
            </p:cNvPr>
            <p:cNvSpPr/>
            <p:nvPr/>
          </p:nvSpPr>
          <p:spPr>
            <a:xfrm rot="10800000">
              <a:off x="12170293" y="1704768"/>
              <a:ext cx="239581" cy="137246"/>
            </a:xfrm>
            <a:prstGeom prst="homePlat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文本框 60">
              <a:extLst>
                <a:ext uri="{FF2B5EF4-FFF2-40B4-BE49-F238E27FC236}">
                  <a16:creationId xmlns:a16="http://schemas.microsoft.com/office/drawing/2014/main" id="{5DEF7AF7-6ECB-E827-48E2-36FC52EC001D}"/>
                </a:ext>
              </a:extLst>
            </p:cNvPr>
            <p:cNvSpPr txBox="1"/>
            <p:nvPr/>
          </p:nvSpPr>
          <p:spPr>
            <a:xfrm>
              <a:off x="12516406" y="2934434"/>
              <a:ext cx="461639" cy="578427"/>
            </a:xfrm>
            <a:prstGeom prst="rect">
              <a:avLst/>
            </a:prstGeom>
            <a:noFill/>
          </p:spPr>
          <p:txBody>
            <a:bodyPr wrap="square" rtlCol="0">
              <a:spAutoFit/>
            </a:bodyPr>
            <a:lstStyle/>
            <a:p>
              <a:r>
                <a:rPr kumimoji="1" lang="en-US" altLang="zh-CN" sz="1400" b="1" dirty="0">
                  <a:solidFill>
                    <a:schemeClr val="accent1"/>
                  </a:solidFill>
                  <a:latin typeface="Times New Roman" panose="02020603050405020304" pitchFamily="18" charset="0"/>
                  <a:cs typeface="Times New Roman" panose="02020603050405020304" pitchFamily="18" charset="0"/>
                </a:rPr>
                <a:t>1</a:t>
              </a:r>
              <a:endParaRPr kumimoji="1" lang="zh-CN" altLang="en-US" sz="1400" b="1" dirty="0">
                <a:solidFill>
                  <a:schemeClr val="accent1"/>
                </a:solidFill>
                <a:latin typeface="Times New Roman" panose="02020603050405020304" pitchFamily="18" charset="0"/>
                <a:cs typeface="Times New Roman" panose="02020603050405020304" pitchFamily="18" charset="0"/>
              </a:endParaRPr>
            </a:p>
          </p:txBody>
        </p:sp>
        <p:sp>
          <p:nvSpPr>
            <p:cNvPr id="62" name="文本框 61">
              <a:extLst>
                <a:ext uri="{FF2B5EF4-FFF2-40B4-BE49-F238E27FC236}">
                  <a16:creationId xmlns:a16="http://schemas.microsoft.com/office/drawing/2014/main" id="{809346BE-CE93-AE50-E0D9-E02FF5EBF140}"/>
                </a:ext>
              </a:extLst>
            </p:cNvPr>
            <p:cNvSpPr txBox="1"/>
            <p:nvPr/>
          </p:nvSpPr>
          <p:spPr>
            <a:xfrm>
              <a:off x="12516406" y="1935620"/>
              <a:ext cx="461639" cy="578427"/>
            </a:xfrm>
            <a:prstGeom prst="rect">
              <a:avLst/>
            </a:prstGeom>
            <a:noFill/>
          </p:spPr>
          <p:txBody>
            <a:bodyPr wrap="square" rtlCol="0">
              <a:spAutoFit/>
            </a:bodyPr>
            <a:lstStyle/>
            <a:p>
              <a:r>
                <a:rPr kumimoji="1" lang="en-US" altLang="zh-CN" sz="1400" b="1" dirty="0">
                  <a:solidFill>
                    <a:schemeClr val="accent1"/>
                  </a:solidFill>
                  <a:latin typeface="Times New Roman" panose="02020603050405020304" pitchFamily="18" charset="0"/>
                  <a:cs typeface="Times New Roman" panose="02020603050405020304" pitchFamily="18" charset="0"/>
                </a:rPr>
                <a:t>2</a:t>
              </a:r>
              <a:endParaRPr kumimoji="1" lang="zh-CN" altLang="en-US" b="1" dirty="0">
                <a:solidFill>
                  <a:schemeClr val="accent1"/>
                </a:solidFill>
                <a:latin typeface="Times New Roman" panose="02020603050405020304" pitchFamily="18" charset="0"/>
                <a:cs typeface="Times New Roman" panose="02020603050405020304" pitchFamily="18" charset="0"/>
              </a:endParaRPr>
            </a:p>
          </p:txBody>
        </p:sp>
        <p:sp>
          <p:nvSpPr>
            <p:cNvPr id="63" name="文本框 62">
              <a:extLst>
                <a:ext uri="{FF2B5EF4-FFF2-40B4-BE49-F238E27FC236}">
                  <a16:creationId xmlns:a16="http://schemas.microsoft.com/office/drawing/2014/main" id="{41A08CD5-A590-36D3-393F-6F33B779125D}"/>
                </a:ext>
              </a:extLst>
            </p:cNvPr>
            <p:cNvSpPr txBox="1"/>
            <p:nvPr/>
          </p:nvSpPr>
          <p:spPr>
            <a:xfrm>
              <a:off x="12516406" y="1472310"/>
              <a:ext cx="461639" cy="578427"/>
            </a:xfrm>
            <a:prstGeom prst="rect">
              <a:avLst/>
            </a:prstGeom>
            <a:noFill/>
          </p:spPr>
          <p:txBody>
            <a:bodyPr wrap="square" rtlCol="0">
              <a:spAutoFit/>
            </a:bodyPr>
            <a:lstStyle/>
            <a:p>
              <a:r>
                <a:rPr kumimoji="1" lang="en-US" altLang="zh-CN" sz="1400" b="1" dirty="0">
                  <a:solidFill>
                    <a:schemeClr val="accent1"/>
                  </a:solidFill>
                  <a:latin typeface="Times New Roman" panose="02020603050405020304" pitchFamily="18" charset="0"/>
                  <a:cs typeface="Times New Roman" panose="02020603050405020304" pitchFamily="18" charset="0"/>
                </a:rPr>
                <a:t>3</a:t>
              </a:r>
              <a:endParaRPr kumimoji="1" lang="zh-CN" altLang="en-US" sz="1400" b="1" dirty="0">
                <a:solidFill>
                  <a:schemeClr val="accent1"/>
                </a:solidFill>
                <a:latin typeface="Times New Roman" panose="02020603050405020304" pitchFamily="18" charset="0"/>
                <a:cs typeface="Times New Roman" panose="02020603050405020304" pitchFamily="18" charset="0"/>
              </a:endParaRPr>
            </a:p>
          </p:txBody>
        </p:sp>
        <p:pic>
          <p:nvPicPr>
            <p:cNvPr id="128" name="图片 127">
              <a:extLst>
                <a:ext uri="{FF2B5EF4-FFF2-40B4-BE49-F238E27FC236}">
                  <a16:creationId xmlns:a16="http://schemas.microsoft.com/office/drawing/2014/main" id="{62B51F3A-A910-CA13-63D0-6A2BA4948478}"/>
                </a:ext>
              </a:extLst>
            </p:cNvPr>
            <p:cNvPicPr>
              <a:picLocks noChangeAspect="1"/>
            </p:cNvPicPr>
            <p:nvPr/>
          </p:nvPicPr>
          <p:blipFill>
            <a:blip r:embed="rId9"/>
            <a:stretch>
              <a:fillRect/>
            </a:stretch>
          </p:blipFill>
          <p:spPr>
            <a:xfrm>
              <a:off x="5421267" y="1638388"/>
              <a:ext cx="6655917" cy="3017349"/>
            </a:xfrm>
            <a:prstGeom prst="rect">
              <a:avLst/>
            </a:prstGeom>
          </p:spPr>
        </p:pic>
      </p:grpSp>
      <p:grpSp>
        <p:nvGrpSpPr>
          <p:cNvPr id="140" name="组合 139">
            <a:extLst>
              <a:ext uri="{FF2B5EF4-FFF2-40B4-BE49-F238E27FC236}">
                <a16:creationId xmlns:a16="http://schemas.microsoft.com/office/drawing/2014/main" id="{C250BBC5-35A3-72B5-1DCD-182F5E1039D5}"/>
              </a:ext>
            </a:extLst>
          </p:cNvPr>
          <p:cNvGrpSpPr/>
          <p:nvPr/>
        </p:nvGrpSpPr>
        <p:grpSpPr>
          <a:xfrm>
            <a:off x="8922968" y="1358615"/>
            <a:ext cx="1642564" cy="1662479"/>
            <a:chOff x="10416787" y="1358615"/>
            <a:chExt cx="1642564" cy="1662479"/>
          </a:xfrm>
        </p:grpSpPr>
        <p:sp>
          <p:nvSpPr>
            <p:cNvPr id="129" name="圆角矩形 128">
              <a:extLst>
                <a:ext uri="{FF2B5EF4-FFF2-40B4-BE49-F238E27FC236}">
                  <a16:creationId xmlns:a16="http://schemas.microsoft.com/office/drawing/2014/main" id="{FF6AE6D5-1671-ACED-2521-A069EA757CE6}"/>
                </a:ext>
              </a:extLst>
            </p:cNvPr>
            <p:cNvSpPr/>
            <p:nvPr/>
          </p:nvSpPr>
          <p:spPr>
            <a:xfrm>
              <a:off x="10416787" y="1358615"/>
              <a:ext cx="1575090" cy="1662479"/>
            </a:xfrm>
            <a:prstGeom prst="roundRect">
              <a:avLst>
                <a:gd name="adj" fmla="val 5015"/>
              </a:avLst>
            </a:prstGeom>
            <a:solidFill>
              <a:schemeClr val="bg1"/>
            </a:solidFill>
            <a:ln w="12700">
              <a:solidFill>
                <a:srgbClr val="2D569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solidFill>
              </a:endParaRPr>
            </a:p>
          </p:txBody>
        </p:sp>
        <mc:AlternateContent xmlns:mc="http://schemas.openxmlformats.org/markup-compatibility/2006" xmlns:a14="http://schemas.microsoft.com/office/drawing/2010/main">
          <mc:Choice Requires="a14">
            <p:sp>
              <p:nvSpPr>
                <p:cNvPr id="130" name="文本框 129">
                  <a:extLst>
                    <a:ext uri="{FF2B5EF4-FFF2-40B4-BE49-F238E27FC236}">
                      <a16:creationId xmlns:a16="http://schemas.microsoft.com/office/drawing/2014/main" id="{2F6E49EC-DFB1-B0A7-05F1-BE5D4E6EF949}"/>
                    </a:ext>
                  </a:extLst>
                </p:cNvPr>
                <p:cNvSpPr txBox="1"/>
                <p:nvPr/>
              </p:nvSpPr>
              <p:spPr>
                <a:xfrm>
                  <a:off x="10824084" y="1371844"/>
                  <a:ext cx="1006779" cy="307777"/>
                </a:xfrm>
                <a:prstGeom prst="rect">
                  <a:avLst/>
                </a:prstGeom>
                <a:noFill/>
              </p:spPr>
              <p:txBody>
                <a:bodyPr wrap="square" rtlCol="0">
                  <a:spAutoFit/>
                </a:bodyPr>
                <a:lstStyle/>
                <a:p>
                  <a:r>
                    <a:rPr kumimoji="1" lang="en-US" altLang="zh-CN" sz="1400" dirty="0">
                      <a:solidFill>
                        <a:schemeClr val="tx1">
                          <a:lumMod val="75000"/>
                          <a:lumOff val="25000"/>
                        </a:schemeClr>
                      </a:solidFill>
                      <a:latin typeface="Times New Roman" panose="02020603050405020304" pitchFamily="18" charset="0"/>
                      <a:cs typeface="Times New Roman" panose="02020603050405020304" pitchFamily="18" charset="0"/>
                    </a:rPr>
                    <a:t>Speedup</a:t>
                  </a:r>
                  <a14:m>
                    <m:oMath xmlns:m="http://schemas.openxmlformats.org/officeDocument/2006/math">
                      <m:sSup>
                        <m:sSupPr>
                          <m:ctrlPr>
                            <a:rPr lang="en-US" altLang="zh-CN" sz="1400" i="1">
                              <a:solidFill>
                                <a:srgbClr val="1F3A63"/>
                              </a:solidFill>
                              <a:latin typeface="Cambria Math" panose="02040503050406030204" pitchFamily="18" charset="0"/>
                              <a:ea typeface="Cambria Math" panose="02040503050406030204" pitchFamily="18" charset="0"/>
                            </a:rPr>
                          </m:ctrlPr>
                        </m:sSupPr>
                        <m:e>
                          <m:r>
                            <a:rPr lang="en-US" altLang="zh-CN" sz="1400" i="1">
                              <a:solidFill>
                                <a:srgbClr val="1F3A63"/>
                              </a:solidFill>
                              <a:latin typeface="Cambria Math" panose="02040503050406030204" pitchFamily="18" charset="0"/>
                              <a:ea typeface="Cambria Math" panose="02040503050406030204" pitchFamily="18" charset="0"/>
                            </a:rPr>
                            <m:t> </m:t>
                          </m:r>
                        </m:e>
                        <m:sup>
                          <m:r>
                            <a:rPr lang="en-US" altLang="zh-CN" sz="1400" b="0" i="1" smtClean="0">
                              <a:solidFill>
                                <a:srgbClr val="1F3A63"/>
                              </a:solidFill>
                              <a:latin typeface="Cambria Math" panose="02040503050406030204" pitchFamily="18" charset="0"/>
                              <a:ea typeface="Cambria Math" panose="02040503050406030204" pitchFamily="18" charset="0"/>
                            </a:rPr>
                            <m:t>𝑎</m:t>
                          </m:r>
                        </m:sup>
                      </m:sSup>
                    </m:oMath>
                  </a14:m>
                  <a:endParaRPr kumimoji="1" lang="zh-CN" altLang="en-US" sz="1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mc:Choice>
          <mc:Fallback xmlns="">
            <p:sp>
              <p:nvSpPr>
                <p:cNvPr id="130" name="文本框 129">
                  <a:extLst>
                    <a:ext uri="{FF2B5EF4-FFF2-40B4-BE49-F238E27FC236}">
                      <a16:creationId xmlns:a16="http://schemas.microsoft.com/office/drawing/2014/main" id="{2F6E49EC-DFB1-B0A7-05F1-BE5D4E6EF949}"/>
                    </a:ext>
                  </a:extLst>
                </p:cNvPr>
                <p:cNvSpPr txBox="1">
                  <a:spLocks noRot="1" noChangeAspect="1" noMove="1" noResize="1" noEditPoints="1" noAdjustHandles="1" noChangeArrowheads="1" noChangeShapeType="1" noTextEdit="1"/>
                </p:cNvSpPr>
                <p:nvPr/>
              </p:nvSpPr>
              <p:spPr>
                <a:xfrm>
                  <a:off x="10824084" y="1371844"/>
                  <a:ext cx="1006779" cy="307777"/>
                </a:xfrm>
                <a:prstGeom prst="rect">
                  <a:avLst/>
                </a:prstGeom>
                <a:blipFill>
                  <a:blip r:embed="rId10"/>
                  <a:stretch>
                    <a:fillRect l="-2469"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A27C4E76-DB2A-4178-C49F-42D78E1BA13A}"/>
                    </a:ext>
                  </a:extLst>
                </p:cNvPr>
                <p:cNvSpPr txBox="1"/>
                <p:nvPr/>
              </p:nvSpPr>
              <p:spPr>
                <a:xfrm>
                  <a:off x="10429943" y="1664383"/>
                  <a:ext cx="392433" cy="991746"/>
                </a:xfrm>
                <a:prstGeom prst="rect">
                  <a:avLst/>
                </a:prstGeom>
                <a:noFill/>
              </p:spPr>
              <p:txBody>
                <a:bodyPr wrap="square" rtlCol="0">
                  <a:spAutoFit/>
                </a:bodyPr>
                <a:lstStyle/>
                <a:p>
                  <a:pPr algn="ctr">
                    <a:lnSpc>
                      <a:spcPct val="170000"/>
                    </a:lnSpc>
                  </a:pPr>
                  <a:r>
                    <a:rPr kumimoji="1" lang="en-US" altLang="zh-CN" sz="1200" dirty="0">
                      <a:solidFill>
                        <a:srgbClr val="2D5695"/>
                      </a:solidFill>
                      <a:latin typeface="Times New Roman" panose="02020603050405020304" pitchFamily="18" charset="0"/>
                      <a:cs typeface="Times New Roman" panose="02020603050405020304" pitchFamily="18" charset="0"/>
                    </a:rPr>
                    <a:t>0</a:t>
                  </a:r>
                  <a14:m>
                    <m:oMath xmlns:m="http://schemas.openxmlformats.org/officeDocument/2006/math">
                      <m:r>
                        <a:rPr kumimoji="1" lang="en-US" altLang="zh-CN" sz="1200" i="1" smtClean="0">
                          <a:solidFill>
                            <a:srgbClr val="2D5695"/>
                          </a:solidFill>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CN" sz="1200" dirty="0">
                      <a:solidFill>
                        <a:srgbClr val="2D5695"/>
                      </a:solidFill>
                      <a:latin typeface="Times New Roman" panose="02020603050405020304" pitchFamily="18" charset="0"/>
                      <a:cs typeface="Times New Roman" panose="02020603050405020304" pitchFamily="18" charset="0"/>
                    </a:rPr>
                    <a:t> </a:t>
                  </a:r>
                </a:p>
                <a:p>
                  <a:pPr algn="ctr">
                    <a:lnSpc>
                      <a:spcPct val="170000"/>
                    </a:lnSpc>
                  </a:pPr>
                  <a:r>
                    <a:rPr kumimoji="1" lang="en-US" altLang="zh-CN" sz="1200" dirty="0">
                      <a:solidFill>
                        <a:srgbClr val="2D5695"/>
                      </a:solidFill>
                      <a:latin typeface="Times New Roman" panose="02020603050405020304" pitchFamily="18" charset="0"/>
                      <a:cs typeface="Times New Roman" panose="02020603050405020304" pitchFamily="18" charset="0"/>
                    </a:rPr>
                    <a:t>14</a:t>
                  </a:r>
                  <a14:m>
                    <m:oMath xmlns:m="http://schemas.openxmlformats.org/officeDocument/2006/math">
                      <m:r>
                        <a:rPr kumimoji="1" lang="en-US" altLang="zh-CN" sz="1200" i="1">
                          <a:solidFill>
                            <a:srgbClr val="2D5695"/>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kumimoji="1" lang="en-US" altLang="zh-CN" sz="1200" dirty="0">
                    <a:solidFill>
                      <a:srgbClr val="2D5695"/>
                    </a:solidFill>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70000"/>
                    </a:lnSpc>
                  </a:pPr>
                  <a:r>
                    <a:rPr kumimoji="1" lang="en-US" altLang="zh-CN" sz="1200" dirty="0">
                      <a:solidFill>
                        <a:srgbClr val="2D5695"/>
                      </a:solidFill>
                      <a:latin typeface="Times New Roman" panose="02020603050405020304" pitchFamily="18" charset="0"/>
                      <a:cs typeface="Times New Roman" panose="02020603050405020304" pitchFamily="18" charset="0"/>
                    </a:rPr>
                    <a:t>20</a:t>
                  </a:r>
                  <a14:m>
                    <m:oMath xmlns:m="http://schemas.openxmlformats.org/officeDocument/2006/math">
                      <m:r>
                        <a:rPr kumimoji="1" lang="en-US" altLang="zh-CN" sz="1200" i="1">
                          <a:solidFill>
                            <a:srgbClr val="2D5695"/>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kumimoji="1" lang="zh-CN" altLang="en-US" sz="1200" dirty="0">
                    <a:solidFill>
                      <a:srgbClr val="2D5695"/>
                    </a:solidFill>
                    <a:latin typeface="Times New Roman" panose="02020603050405020304" pitchFamily="18" charset="0"/>
                    <a:cs typeface="Times New Roman" panose="02020603050405020304" pitchFamily="18" charset="0"/>
                  </a:endParaRPr>
                </a:p>
              </p:txBody>
            </p:sp>
          </mc:Choice>
          <mc:Fallback xmlns="">
            <p:sp>
              <p:nvSpPr>
                <p:cNvPr id="131" name="文本框 130">
                  <a:extLst>
                    <a:ext uri="{FF2B5EF4-FFF2-40B4-BE49-F238E27FC236}">
                      <a16:creationId xmlns:a16="http://schemas.microsoft.com/office/drawing/2014/main" id="{A27C4E76-DB2A-4178-C49F-42D78E1BA13A}"/>
                    </a:ext>
                  </a:extLst>
                </p:cNvPr>
                <p:cNvSpPr txBox="1">
                  <a:spLocks noRot="1" noChangeAspect="1" noMove="1" noResize="1" noEditPoints="1" noAdjustHandles="1" noChangeArrowheads="1" noChangeShapeType="1" noTextEdit="1"/>
                </p:cNvSpPr>
                <p:nvPr/>
              </p:nvSpPr>
              <p:spPr>
                <a:xfrm>
                  <a:off x="10429943" y="1664383"/>
                  <a:ext cx="392433" cy="991746"/>
                </a:xfrm>
                <a:prstGeom prst="rect">
                  <a:avLst/>
                </a:prstGeom>
                <a:blipFill>
                  <a:blip r:embed="rId11"/>
                  <a:stretch>
                    <a:fillRect b="-25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32" name="图表 131">
                  <a:extLst>
                    <a:ext uri="{FF2B5EF4-FFF2-40B4-BE49-F238E27FC236}">
                      <a16:creationId xmlns:a16="http://schemas.microsoft.com/office/drawing/2014/main" id="{1E440CD3-7175-F7D2-EE66-629269A88225}"/>
                    </a:ext>
                  </a:extLst>
                </p:cNvPr>
                <p:cNvGraphicFramePr/>
                <p:nvPr>
                  <p:extLst>
                    <p:ext uri="{D42A27DB-BD31-4B8C-83A1-F6EECF244321}">
                      <p14:modId xmlns:p14="http://schemas.microsoft.com/office/powerpoint/2010/main" val="2787148"/>
                    </p:ext>
                  </p:extLst>
                </p:nvPr>
              </p:nvGraphicFramePr>
              <p:xfrm>
                <a:off x="10615836" y="1569895"/>
                <a:ext cx="1443515" cy="1451199"/>
              </p:xfrm>
              <a:graphic>
                <a:graphicData uri="http://schemas.openxmlformats.org/drawingml/2006/chart">
                  <c:chart xmlns:c="http://schemas.openxmlformats.org/drawingml/2006/chart" xmlns:r="http://schemas.openxmlformats.org/officeDocument/2006/relationships" r:id="rId12"/>
                </a:graphicData>
              </a:graphic>
            </p:graphicFrame>
          </mc:Choice>
          <mc:Fallback xmlns="">
            <p:graphicFrame>
              <p:nvGraphicFramePr>
                <p:cNvPr id="132" name="图表 131">
                  <a:extLst>
                    <a:ext uri="{FF2B5EF4-FFF2-40B4-BE49-F238E27FC236}">
                      <a16:creationId xmlns:a16="http://schemas.microsoft.com/office/drawing/2014/main" id="{1E440CD3-7175-F7D2-EE66-629269A88225}"/>
                    </a:ext>
                  </a:extLst>
                </p:cNvPr>
                <p:cNvGraphicFramePr/>
                <p:nvPr>
                  <p:extLst>
                    <p:ext uri="{D42A27DB-BD31-4B8C-83A1-F6EECF244321}">
                      <p14:modId xmlns:p14="http://schemas.microsoft.com/office/powerpoint/2010/main" val="2787148"/>
                    </p:ext>
                  </p:extLst>
                </p:nvPr>
              </p:nvGraphicFramePr>
              <p:xfrm>
                <a:off x="10615836" y="1569895"/>
                <a:ext cx="1443515" cy="1451199"/>
              </p:xfrm>
              <a:graphic>
                <a:graphicData uri="http://schemas.openxmlformats.org/drawingml/2006/chart">
                  <c:chart xmlns:c="http://schemas.openxmlformats.org/drawingml/2006/chart" xmlns:r="http://schemas.openxmlformats.org/officeDocument/2006/relationships" r:id="rId13"/>
                </a:graphicData>
              </a:graphic>
            </p:graphicFrame>
          </mc:Fallback>
        </mc:AlternateContent>
        <p:cxnSp>
          <p:nvCxnSpPr>
            <p:cNvPr id="134" name="直线连接符 133">
              <a:extLst>
                <a:ext uri="{FF2B5EF4-FFF2-40B4-BE49-F238E27FC236}">
                  <a16:creationId xmlns:a16="http://schemas.microsoft.com/office/drawing/2014/main" id="{E981A7B0-B9DD-2501-B7E7-D696D90B6197}"/>
                </a:ext>
              </a:extLst>
            </p:cNvPr>
            <p:cNvCxnSpPr>
              <a:cxnSpLocks/>
            </p:cNvCxnSpPr>
            <p:nvPr/>
          </p:nvCxnSpPr>
          <p:spPr>
            <a:xfrm>
              <a:off x="10766434" y="1735873"/>
              <a:ext cx="0" cy="924681"/>
            </a:xfrm>
            <a:prstGeom prst="line">
              <a:avLst/>
            </a:prstGeom>
            <a:ln>
              <a:solidFill>
                <a:srgbClr val="8A97A8"/>
              </a:solidFill>
            </a:ln>
          </p:spPr>
          <p:style>
            <a:lnRef idx="1">
              <a:schemeClr val="accent1"/>
            </a:lnRef>
            <a:fillRef idx="0">
              <a:schemeClr val="accent1"/>
            </a:fillRef>
            <a:effectRef idx="0">
              <a:schemeClr val="accent1"/>
            </a:effectRef>
            <a:fontRef idx="minor">
              <a:schemeClr val="tx1"/>
            </a:fontRef>
          </p:style>
        </p:cxnSp>
        <p:cxnSp>
          <p:nvCxnSpPr>
            <p:cNvPr id="136" name="直线连接符 135">
              <a:extLst>
                <a:ext uri="{FF2B5EF4-FFF2-40B4-BE49-F238E27FC236}">
                  <a16:creationId xmlns:a16="http://schemas.microsoft.com/office/drawing/2014/main" id="{B466A890-F27F-9CF1-2DAE-D24140DD34EB}"/>
                </a:ext>
              </a:extLst>
            </p:cNvPr>
            <p:cNvCxnSpPr>
              <a:cxnSpLocks/>
            </p:cNvCxnSpPr>
            <p:nvPr/>
          </p:nvCxnSpPr>
          <p:spPr>
            <a:xfrm>
              <a:off x="10766434" y="2662782"/>
              <a:ext cx="1064429" cy="0"/>
            </a:xfrm>
            <a:prstGeom prst="line">
              <a:avLst/>
            </a:prstGeom>
            <a:ln w="9525">
              <a:solidFill>
                <a:srgbClr val="8A97A8"/>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42180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500"/>
                            </p:stCondLst>
                            <p:childTnLst>
                              <p:par>
                                <p:cTn id="17" presetID="0" presetClass="path" presetSubtype="0" accel="50000" decel="50000" fill="hold" nodeType="afterEffect">
                                  <p:stCondLst>
                                    <p:cond delay="0"/>
                                  </p:stCondLst>
                                  <p:childTnLst>
                                    <p:animMotion origin="layout" path="M -1.04167E-6 4.81481E-6 L -0.07383 0.00023 " pathEditMode="relative" rAng="0" ptsTypes="AA">
                                      <p:cBhvr>
                                        <p:cTn id="18" dur="500" fill="hold"/>
                                        <p:tgtEl>
                                          <p:spTgt spid="57"/>
                                        </p:tgtEl>
                                        <p:attrNameLst>
                                          <p:attrName>ppt_x</p:attrName>
                                          <p:attrName>ppt_y</p:attrName>
                                        </p:attrNameLst>
                                      </p:cBhvr>
                                      <p:rCtr x="-3698" y="0"/>
                                    </p:animMotion>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140"/>
                                        </p:tgtEl>
                                        <p:attrNameLst>
                                          <p:attrName>style.visibility</p:attrName>
                                        </p:attrNameLst>
                                      </p:cBhvr>
                                      <p:to>
                                        <p:strVal val="visible"/>
                                      </p:to>
                                    </p:set>
                                    <p:animEffect transition="in" filter="fade">
                                      <p:cBhvr>
                                        <p:cTn id="22" dur="500"/>
                                        <p:tgtEl>
                                          <p:spTgt spid="1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0528C-9FA2-05BD-168A-A219B4FDF92C}"/>
            </a:ext>
          </a:extLst>
        </p:cNvPr>
        <p:cNvGrpSpPr/>
        <p:nvPr/>
      </p:nvGrpSpPr>
      <p:grpSpPr>
        <a:xfrm>
          <a:off x="0" y="0"/>
          <a:ext cx="0" cy="0"/>
          <a:chOff x="0" y="0"/>
          <a:chExt cx="0" cy="0"/>
        </a:xfrm>
      </p:grpSpPr>
      <p:pic>
        <p:nvPicPr>
          <p:cNvPr id="44" name="图片 43">
            <a:extLst>
              <a:ext uri="{FF2B5EF4-FFF2-40B4-BE49-F238E27FC236}">
                <a16:creationId xmlns:a16="http://schemas.microsoft.com/office/drawing/2014/main" id="{25412987-2BEB-4092-6C95-D2B168C9EBA1}"/>
              </a:ext>
            </a:extLst>
          </p:cNvPr>
          <p:cNvPicPr>
            <a:picLocks noChangeAspect="1"/>
          </p:cNvPicPr>
          <p:nvPr/>
        </p:nvPicPr>
        <p:blipFill>
          <a:blip r:embed="rId3"/>
          <a:stretch>
            <a:fillRect/>
          </a:stretch>
        </p:blipFill>
        <p:spPr>
          <a:xfrm>
            <a:off x="262147" y="4416857"/>
            <a:ext cx="3879607" cy="1758756"/>
          </a:xfrm>
          <a:prstGeom prst="rect">
            <a:avLst/>
          </a:prstGeom>
        </p:spPr>
      </p:pic>
      <p:sp>
        <p:nvSpPr>
          <p:cNvPr id="2" name="Text 0">
            <a:extLst>
              <a:ext uri="{FF2B5EF4-FFF2-40B4-BE49-F238E27FC236}">
                <a16:creationId xmlns:a16="http://schemas.microsoft.com/office/drawing/2014/main" id="{6029517C-232A-DBB8-FE33-E8835CCC7363}"/>
              </a:ext>
            </a:extLst>
          </p:cNvPr>
          <p:cNvSpPr txBox="1"/>
          <p:nvPr/>
        </p:nvSpPr>
        <p:spPr>
          <a:xfrm>
            <a:off x="548640" y="292212"/>
            <a:ext cx="7315200" cy="365760"/>
          </a:xfrm>
          <a:prstGeom prst="rect">
            <a:avLst/>
          </a:prstGeom>
          <a:noFill/>
          <a:ln/>
        </p:spPr>
        <p:txBody>
          <a:bodyPr wrap="square" lIns="0" tIns="0" rIns="0" bIns="0" rtlCol="0" anchor="ctr"/>
          <a:lstStyle/>
          <a:p>
            <a:r>
              <a:rPr lang="en-US" altLang="zh-CN" sz="1400" b="1" kern="0" spc="200" dirty="0">
                <a:solidFill>
                  <a:srgbClr val="5B7A9D"/>
                </a:solidFill>
                <a:latin typeface="Calibri" pitchFamily="34" charset="0"/>
                <a:ea typeface="Calibri" pitchFamily="34" charset="-122"/>
                <a:cs typeface="Calibri" pitchFamily="34" charset="-120"/>
              </a:rPr>
              <a:t>CAPABILITY</a:t>
            </a:r>
            <a:endParaRPr lang="en-US" altLang="zh-CN" sz="1400" dirty="0"/>
          </a:p>
        </p:txBody>
      </p:sp>
      <p:sp>
        <p:nvSpPr>
          <p:cNvPr id="3" name="Text 1">
            <a:extLst>
              <a:ext uri="{FF2B5EF4-FFF2-40B4-BE49-F238E27FC236}">
                <a16:creationId xmlns:a16="http://schemas.microsoft.com/office/drawing/2014/main" id="{760D1A40-8BCA-4514-E3DF-4241E6C4D7FF}"/>
              </a:ext>
            </a:extLst>
          </p:cNvPr>
          <p:cNvSpPr txBox="1"/>
          <p:nvPr/>
        </p:nvSpPr>
        <p:spPr>
          <a:xfrm>
            <a:off x="548640" y="478510"/>
            <a:ext cx="11064240" cy="822960"/>
          </a:xfrm>
          <a:prstGeom prst="rect">
            <a:avLst/>
          </a:prstGeom>
          <a:noFill/>
          <a:ln/>
        </p:spPr>
        <p:txBody>
          <a:bodyPr wrap="square" lIns="0" tIns="0" rIns="0" bIns="0" rtlCol="0" anchor="ctr"/>
          <a:lstStyle/>
          <a:p>
            <a:r>
              <a:rPr lang="en-US" altLang="zh-CN" sz="3200" b="1" dirty="0">
                <a:solidFill>
                  <a:srgbClr val="2D5695"/>
                </a:solidFill>
              </a:rPr>
              <a:t>Aberration attribution</a:t>
            </a:r>
            <a:endParaRPr lang="en-US" sz="3200" b="1" dirty="0">
              <a:solidFill>
                <a:srgbClr val="2D5695"/>
              </a:solidFill>
            </a:endParaRPr>
          </a:p>
        </p:txBody>
      </p:sp>
      <p:grpSp>
        <p:nvGrpSpPr>
          <p:cNvPr id="4" name="组合 3">
            <a:extLst>
              <a:ext uri="{FF2B5EF4-FFF2-40B4-BE49-F238E27FC236}">
                <a16:creationId xmlns:a16="http://schemas.microsoft.com/office/drawing/2014/main" id="{22360033-42C9-B73B-7D71-E1ED50458B65}"/>
              </a:ext>
            </a:extLst>
          </p:cNvPr>
          <p:cNvGrpSpPr/>
          <p:nvPr/>
        </p:nvGrpSpPr>
        <p:grpSpPr>
          <a:xfrm>
            <a:off x="565897" y="1543522"/>
            <a:ext cx="4004986" cy="583661"/>
            <a:chOff x="548640" y="5034775"/>
            <a:chExt cx="4004986" cy="583661"/>
          </a:xfrm>
        </p:grpSpPr>
        <p:sp>
          <p:nvSpPr>
            <p:cNvPr id="9" name="Shape 7">
              <a:extLst>
                <a:ext uri="{FF2B5EF4-FFF2-40B4-BE49-F238E27FC236}">
                  <a16:creationId xmlns:a16="http://schemas.microsoft.com/office/drawing/2014/main" id="{278971E5-B303-7D7A-21CC-CE54283E1148}"/>
                </a:ext>
              </a:extLst>
            </p:cNvPr>
            <p:cNvSpPr/>
            <p:nvPr/>
          </p:nvSpPr>
          <p:spPr>
            <a:xfrm>
              <a:off x="646913" y="5063247"/>
              <a:ext cx="2695045" cy="555189"/>
            </a:xfrm>
            <a:prstGeom prst="roundRect">
              <a:avLst>
                <a:gd name="adj" fmla="val 5668"/>
              </a:avLst>
            </a:prstGeom>
            <a:solidFill>
              <a:srgbClr val="E9EEF6"/>
            </a:solidFill>
            <a:ln/>
          </p:spPr>
          <p:txBody>
            <a:bodyPr/>
            <a:lstStyle/>
            <a:p>
              <a:endParaRPr lang="zh-CN" altLang="en-US" dirty="0"/>
            </a:p>
          </p:txBody>
        </p:sp>
        <p:sp>
          <p:nvSpPr>
            <p:cNvPr id="10" name="Shape 8">
              <a:extLst>
                <a:ext uri="{FF2B5EF4-FFF2-40B4-BE49-F238E27FC236}">
                  <a16:creationId xmlns:a16="http://schemas.microsoft.com/office/drawing/2014/main" id="{31974DCC-A237-11DB-25F0-F334A5FCC20B}"/>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11" name="Text 9">
              <a:extLst>
                <a:ext uri="{FF2B5EF4-FFF2-40B4-BE49-F238E27FC236}">
                  <a16:creationId xmlns:a16="http://schemas.microsoft.com/office/drawing/2014/main" id="{9CD31D0E-059E-DBBE-33C4-1DA7FF1D1B21}"/>
                </a:ext>
              </a:extLst>
            </p:cNvPr>
            <p:cNvSpPr txBox="1"/>
            <p:nvPr/>
          </p:nvSpPr>
          <p:spPr>
            <a:xfrm>
              <a:off x="548640" y="5034775"/>
              <a:ext cx="463290" cy="478835"/>
            </a:xfrm>
            <a:prstGeom prst="rect">
              <a:avLst/>
            </a:prstGeom>
            <a:noFill/>
            <a:ln/>
          </p:spPr>
          <p:txBody>
            <a:bodyPr wrap="square" lIns="0" tIns="0" rIns="0" bIns="0" rtlCol="0" anchor="ctr"/>
            <a:lstStyle/>
            <a:p>
              <a:pPr algn="ctr"/>
              <a:r>
                <a:rPr lang="en-US" altLang="zh-CN" sz="2000" b="1" dirty="0">
                  <a:solidFill>
                    <a:schemeClr val="bg1"/>
                  </a:solidFill>
                </a:rPr>
                <a:t>1</a:t>
              </a:r>
              <a:endParaRPr lang="en-US" sz="2000" dirty="0">
                <a:solidFill>
                  <a:schemeClr val="bg1"/>
                </a:solidFill>
              </a:endParaRPr>
            </a:p>
          </p:txBody>
        </p:sp>
        <p:sp>
          <p:nvSpPr>
            <p:cNvPr id="12" name="Text 10">
              <a:extLst>
                <a:ext uri="{FF2B5EF4-FFF2-40B4-BE49-F238E27FC236}">
                  <a16:creationId xmlns:a16="http://schemas.microsoft.com/office/drawing/2014/main" id="{84371470-C782-CC58-780A-0137EE4CF65D}"/>
                </a:ext>
              </a:extLst>
            </p:cNvPr>
            <p:cNvSpPr txBox="1"/>
            <p:nvPr/>
          </p:nvSpPr>
          <p:spPr>
            <a:xfrm>
              <a:off x="1110202" y="5129641"/>
              <a:ext cx="3443424" cy="379513"/>
            </a:xfrm>
            <a:prstGeom prst="rect">
              <a:avLst/>
            </a:prstGeom>
            <a:noFill/>
            <a:ln/>
          </p:spPr>
          <p:txBody>
            <a:bodyPr wrap="square" lIns="0" tIns="0" rIns="0" bIns="0" rtlCol="0" anchor="ctr"/>
            <a:lstStyle/>
            <a:p>
              <a:r>
                <a:rPr lang="en-US" sz="1600" b="1" dirty="0">
                  <a:solidFill>
                    <a:srgbClr val="13294B"/>
                  </a:solidFill>
                  <a:latin typeface="Georgia" panose="02040502050405020303" pitchFamily="18" charset="0"/>
                </a:rPr>
                <a:t>By element</a:t>
              </a:r>
            </a:p>
          </p:txBody>
        </p:sp>
      </p:grpSp>
      <p:sp>
        <p:nvSpPr>
          <p:cNvPr id="142" name="文本框 141">
            <a:extLst>
              <a:ext uri="{FF2B5EF4-FFF2-40B4-BE49-F238E27FC236}">
                <a16:creationId xmlns:a16="http://schemas.microsoft.com/office/drawing/2014/main" id="{D7431A19-47FF-9589-8059-925A3A321D7B}"/>
              </a:ext>
            </a:extLst>
          </p:cNvPr>
          <p:cNvSpPr txBox="1"/>
          <p:nvPr/>
        </p:nvSpPr>
        <p:spPr>
          <a:xfrm>
            <a:off x="398160" y="6446520"/>
            <a:ext cx="3287486" cy="276999"/>
          </a:xfrm>
          <a:prstGeom prst="rect">
            <a:avLst/>
          </a:prstGeom>
          <a:noFill/>
        </p:spPr>
        <p:txBody>
          <a:bodyPr wrap="square">
            <a:spAutoFit/>
          </a:bodyPr>
          <a:lstStyle/>
          <a:p>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6 ·   Haosheng Shi, Praneeth </a:t>
            </a:r>
            <a:r>
              <a:rPr lang="en-US" altLang="zh-CN" sz="1200" dirty="0" err="1">
                <a:solidFill>
                  <a:srgbClr val="8A97A8"/>
                </a:solidFill>
                <a:latin typeface="Gill Sans" panose="020B0502020104020203" pitchFamily="34" charset="-79"/>
                <a:ea typeface="Calibri" pitchFamily="34" charset="-122"/>
                <a:cs typeface="Gill Sans" panose="020B0502020104020203" pitchFamily="34" charset="-79"/>
              </a:rPr>
              <a:t>Chakravarthula</a:t>
            </a:r>
            <a:endParaRPr lang="en-US" altLang="zh-CN" sz="1200" dirty="0">
              <a:solidFill>
                <a:srgbClr val="8A97A8"/>
              </a:solidFill>
              <a:latin typeface="Gill Sans" panose="020B0502020104020203" pitchFamily="34" charset="-79"/>
              <a:cs typeface="Gill Sans" panose="020B0502020104020203" pitchFamily="34" charset="-79"/>
            </a:endParaRPr>
          </a:p>
        </p:txBody>
      </p:sp>
      <p:grpSp>
        <p:nvGrpSpPr>
          <p:cNvPr id="5" name="组合 4">
            <a:extLst>
              <a:ext uri="{FF2B5EF4-FFF2-40B4-BE49-F238E27FC236}">
                <a16:creationId xmlns:a16="http://schemas.microsoft.com/office/drawing/2014/main" id="{F5BF95CB-F0FD-DB1C-841D-EC9818B7A1BD}"/>
              </a:ext>
            </a:extLst>
          </p:cNvPr>
          <p:cNvGrpSpPr/>
          <p:nvPr/>
        </p:nvGrpSpPr>
        <p:grpSpPr>
          <a:xfrm>
            <a:off x="544628" y="2316939"/>
            <a:ext cx="3600385" cy="583660"/>
            <a:chOff x="548640" y="5034775"/>
            <a:chExt cx="3600385" cy="583660"/>
          </a:xfrm>
        </p:grpSpPr>
        <p:sp>
          <p:nvSpPr>
            <p:cNvPr id="6" name="Shape 7">
              <a:extLst>
                <a:ext uri="{FF2B5EF4-FFF2-40B4-BE49-F238E27FC236}">
                  <a16:creationId xmlns:a16="http://schemas.microsoft.com/office/drawing/2014/main" id="{015BB34B-0610-B870-A26D-5438A03B193F}"/>
                </a:ext>
              </a:extLst>
            </p:cNvPr>
            <p:cNvSpPr/>
            <p:nvPr/>
          </p:nvSpPr>
          <p:spPr>
            <a:xfrm>
              <a:off x="646913" y="5063246"/>
              <a:ext cx="2716315" cy="555189"/>
            </a:xfrm>
            <a:prstGeom prst="roundRect">
              <a:avLst>
                <a:gd name="adj" fmla="val 5668"/>
              </a:avLst>
            </a:prstGeom>
            <a:solidFill>
              <a:srgbClr val="E9EEF6"/>
            </a:solidFill>
            <a:ln/>
          </p:spPr>
          <p:txBody>
            <a:bodyPr/>
            <a:lstStyle/>
            <a:p>
              <a:endParaRPr lang="zh-CN" altLang="en-US" dirty="0"/>
            </a:p>
          </p:txBody>
        </p:sp>
        <p:sp>
          <p:nvSpPr>
            <p:cNvPr id="7" name="Shape 8">
              <a:extLst>
                <a:ext uri="{FF2B5EF4-FFF2-40B4-BE49-F238E27FC236}">
                  <a16:creationId xmlns:a16="http://schemas.microsoft.com/office/drawing/2014/main" id="{1CF4867C-D04F-585D-F6AC-8BF799B09E62}"/>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8" name="Text 9">
              <a:extLst>
                <a:ext uri="{FF2B5EF4-FFF2-40B4-BE49-F238E27FC236}">
                  <a16:creationId xmlns:a16="http://schemas.microsoft.com/office/drawing/2014/main" id="{F9518114-38EA-EA24-0533-4D74C070BBE2}"/>
                </a:ext>
              </a:extLst>
            </p:cNvPr>
            <p:cNvSpPr txBox="1"/>
            <p:nvPr/>
          </p:nvSpPr>
          <p:spPr>
            <a:xfrm>
              <a:off x="548640" y="5034775"/>
              <a:ext cx="463290" cy="478835"/>
            </a:xfrm>
            <a:prstGeom prst="rect">
              <a:avLst/>
            </a:prstGeom>
            <a:noFill/>
            <a:ln/>
          </p:spPr>
          <p:txBody>
            <a:bodyPr wrap="square" lIns="0" tIns="0" rIns="0" bIns="0" rtlCol="0" anchor="ctr"/>
            <a:lstStyle/>
            <a:p>
              <a:pPr algn="ctr"/>
              <a:r>
                <a:rPr lang="en-US" altLang="zh-CN" sz="2000" b="1" dirty="0">
                  <a:solidFill>
                    <a:schemeClr val="bg1"/>
                  </a:solidFill>
                </a:rPr>
                <a:t>2</a:t>
              </a:r>
              <a:endParaRPr lang="en-US" sz="2000" dirty="0">
                <a:solidFill>
                  <a:schemeClr val="bg1"/>
                </a:solidFill>
              </a:endParaRPr>
            </a:p>
          </p:txBody>
        </p:sp>
        <p:sp>
          <p:nvSpPr>
            <p:cNvPr id="14" name="Text 10">
              <a:extLst>
                <a:ext uri="{FF2B5EF4-FFF2-40B4-BE49-F238E27FC236}">
                  <a16:creationId xmlns:a16="http://schemas.microsoft.com/office/drawing/2014/main" id="{77235F34-6542-1AE6-37FE-7FE4A8800733}"/>
                </a:ext>
              </a:extLst>
            </p:cNvPr>
            <p:cNvSpPr txBox="1"/>
            <p:nvPr/>
          </p:nvSpPr>
          <p:spPr>
            <a:xfrm>
              <a:off x="1110202" y="5091141"/>
              <a:ext cx="3038823" cy="379513"/>
            </a:xfrm>
            <a:prstGeom prst="rect">
              <a:avLst/>
            </a:prstGeom>
            <a:noFill/>
            <a:ln/>
          </p:spPr>
          <p:txBody>
            <a:bodyPr wrap="square" lIns="0" tIns="0" rIns="0" bIns="0" rtlCol="0" anchor="ctr"/>
            <a:lstStyle/>
            <a:p>
              <a:r>
                <a:rPr lang="en-US" altLang="zh-CN" sz="1600" b="1" dirty="0">
                  <a:solidFill>
                    <a:srgbClr val="13294B"/>
                  </a:solidFill>
                  <a:latin typeface="Georgia" panose="02040502050405020303" pitchFamily="18" charset="0"/>
                </a:rPr>
                <a:t>By aberration type</a:t>
              </a:r>
              <a:endParaRPr lang="en-US" sz="1600" b="1" dirty="0">
                <a:solidFill>
                  <a:srgbClr val="13294B"/>
                </a:solidFill>
                <a:latin typeface="Georgia" panose="02040502050405020303" pitchFamily="18" charset="0"/>
              </a:endParaRPr>
            </a:p>
          </p:txBody>
        </p:sp>
      </p:grpSp>
      <p:grpSp>
        <p:nvGrpSpPr>
          <p:cNvPr id="16" name="组合 15">
            <a:extLst>
              <a:ext uri="{FF2B5EF4-FFF2-40B4-BE49-F238E27FC236}">
                <a16:creationId xmlns:a16="http://schemas.microsoft.com/office/drawing/2014/main" id="{EF1BD8DE-FE38-3225-4944-2E1B4E7834F3}"/>
              </a:ext>
            </a:extLst>
          </p:cNvPr>
          <p:cNvGrpSpPr/>
          <p:nvPr/>
        </p:nvGrpSpPr>
        <p:grpSpPr>
          <a:xfrm>
            <a:off x="544628" y="3121232"/>
            <a:ext cx="3716945" cy="1014716"/>
            <a:chOff x="548640" y="5034775"/>
            <a:chExt cx="3716945" cy="1014716"/>
          </a:xfrm>
        </p:grpSpPr>
        <p:sp>
          <p:nvSpPr>
            <p:cNvPr id="17" name="Shape 7">
              <a:extLst>
                <a:ext uri="{FF2B5EF4-FFF2-40B4-BE49-F238E27FC236}">
                  <a16:creationId xmlns:a16="http://schemas.microsoft.com/office/drawing/2014/main" id="{6A71D2C6-934F-8F76-22C9-9F5E3C97690F}"/>
                </a:ext>
              </a:extLst>
            </p:cNvPr>
            <p:cNvSpPr/>
            <p:nvPr/>
          </p:nvSpPr>
          <p:spPr>
            <a:xfrm>
              <a:off x="646914" y="5063247"/>
              <a:ext cx="2716315" cy="986244"/>
            </a:xfrm>
            <a:prstGeom prst="roundRect">
              <a:avLst>
                <a:gd name="adj" fmla="val 5668"/>
              </a:avLst>
            </a:prstGeom>
            <a:solidFill>
              <a:srgbClr val="E9EEF6"/>
            </a:solidFill>
            <a:ln/>
          </p:spPr>
          <p:txBody>
            <a:bodyPr/>
            <a:lstStyle/>
            <a:p>
              <a:endParaRPr lang="zh-CN" altLang="en-US" dirty="0"/>
            </a:p>
          </p:txBody>
        </p:sp>
        <p:sp>
          <p:nvSpPr>
            <p:cNvPr id="18" name="Shape 8">
              <a:extLst>
                <a:ext uri="{FF2B5EF4-FFF2-40B4-BE49-F238E27FC236}">
                  <a16:creationId xmlns:a16="http://schemas.microsoft.com/office/drawing/2014/main" id="{F042FCDD-9528-E3D8-A919-DCA292EA6E37}"/>
                </a:ext>
              </a:extLst>
            </p:cNvPr>
            <p:cNvSpPr/>
            <p:nvPr/>
          </p:nvSpPr>
          <p:spPr>
            <a:xfrm>
              <a:off x="548640" y="5041481"/>
              <a:ext cx="463290" cy="478835"/>
            </a:xfrm>
            <a:prstGeom prst="ellipse">
              <a:avLst/>
            </a:prstGeom>
            <a:solidFill>
              <a:srgbClr val="2D5695"/>
            </a:solidFill>
            <a:ln/>
          </p:spPr>
          <p:txBody>
            <a:bodyPr/>
            <a:lstStyle/>
            <a:p>
              <a:endParaRPr lang="zh-CN" altLang="en-US"/>
            </a:p>
          </p:txBody>
        </p:sp>
        <p:sp>
          <p:nvSpPr>
            <p:cNvPr id="19" name="Text 9">
              <a:extLst>
                <a:ext uri="{FF2B5EF4-FFF2-40B4-BE49-F238E27FC236}">
                  <a16:creationId xmlns:a16="http://schemas.microsoft.com/office/drawing/2014/main" id="{3595A147-ED17-DEBF-353A-1CAD0EC527BC}"/>
                </a:ext>
              </a:extLst>
            </p:cNvPr>
            <p:cNvSpPr txBox="1"/>
            <p:nvPr/>
          </p:nvSpPr>
          <p:spPr>
            <a:xfrm>
              <a:off x="548640" y="5034775"/>
              <a:ext cx="463290" cy="478835"/>
            </a:xfrm>
            <a:prstGeom prst="rect">
              <a:avLst/>
            </a:prstGeom>
            <a:noFill/>
            <a:ln/>
          </p:spPr>
          <p:txBody>
            <a:bodyPr wrap="square" lIns="0" tIns="0" rIns="0" bIns="0" rtlCol="0" anchor="ctr"/>
            <a:lstStyle/>
            <a:p>
              <a:pPr algn="ctr"/>
              <a:r>
                <a:rPr lang="en-US" altLang="zh-CN" sz="2000" b="1" dirty="0">
                  <a:solidFill>
                    <a:schemeClr val="bg1"/>
                  </a:solidFill>
                </a:rPr>
                <a:t>3</a:t>
              </a:r>
              <a:endParaRPr lang="en-US" sz="2000" dirty="0">
                <a:solidFill>
                  <a:schemeClr val="bg1"/>
                </a:solidFill>
              </a:endParaRPr>
            </a:p>
          </p:txBody>
        </p:sp>
        <p:sp>
          <p:nvSpPr>
            <p:cNvPr id="20" name="Text 10">
              <a:extLst>
                <a:ext uri="{FF2B5EF4-FFF2-40B4-BE49-F238E27FC236}">
                  <a16:creationId xmlns:a16="http://schemas.microsoft.com/office/drawing/2014/main" id="{857EAFA1-752D-EB6F-4F51-AB8D63B7F17F}"/>
                </a:ext>
              </a:extLst>
            </p:cNvPr>
            <p:cNvSpPr txBox="1"/>
            <p:nvPr/>
          </p:nvSpPr>
          <p:spPr>
            <a:xfrm>
              <a:off x="1100577" y="5091141"/>
              <a:ext cx="3165008" cy="379513"/>
            </a:xfrm>
            <a:prstGeom prst="rect">
              <a:avLst/>
            </a:prstGeom>
            <a:noFill/>
            <a:ln/>
          </p:spPr>
          <p:txBody>
            <a:bodyPr wrap="square" lIns="0" tIns="0" rIns="0" bIns="0" rtlCol="0" anchor="ctr"/>
            <a:lstStyle/>
            <a:p>
              <a:r>
                <a:rPr lang="en-US" sz="1500" b="1" dirty="0">
                  <a:solidFill>
                    <a:srgbClr val="13294B"/>
                  </a:solidFill>
                  <a:latin typeface="Georgia" panose="02040502050405020303" pitchFamily="18" charset="0"/>
                </a:rPr>
                <a:t>Diagnostics</a:t>
              </a:r>
            </a:p>
          </p:txBody>
        </p:sp>
        <p:sp>
          <p:nvSpPr>
            <p:cNvPr id="21" name="Text 11">
              <a:extLst>
                <a:ext uri="{FF2B5EF4-FFF2-40B4-BE49-F238E27FC236}">
                  <a16:creationId xmlns:a16="http://schemas.microsoft.com/office/drawing/2014/main" id="{68FC8EDB-6A4A-CD97-1973-DB1BD47B16DD}"/>
                </a:ext>
              </a:extLst>
            </p:cNvPr>
            <p:cNvSpPr txBox="1"/>
            <p:nvPr/>
          </p:nvSpPr>
          <p:spPr>
            <a:xfrm>
              <a:off x="1027960" y="5280897"/>
              <a:ext cx="2248641" cy="768593"/>
            </a:xfrm>
            <a:prstGeom prst="rect">
              <a:avLst/>
            </a:prstGeom>
            <a:noFill/>
            <a:ln/>
          </p:spPr>
          <p:txBody>
            <a:bodyPr wrap="square" lIns="0" tIns="0" rIns="0" bIns="0" rtlCol="0" anchor="ctr"/>
            <a:lstStyle/>
            <a:p>
              <a:pPr>
                <a:lnSpc>
                  <a:spcPct val="115000"/>
                </a:lnSpc>
              </a:pPr>
              <a:r>
                <a:rPr lang="en-US" altLang="zh-CN" sz="1600" dirty="0">
                  <a:solidFill>
                    <a:srgbClr val="1F3A63"/>
                  </a:solidFill>
                </a:rPr>
                <a:t>reveals design that cancels aberrations</a:t>
              </a:r>
              <a:endParaRPr lang="en-US" sz="1400" dirty="0">
                <a:solidFill>
                  <a:srgbClr val="1F3A63"/>
                </a:solidFill>
              </a:endParaRPr>
            </a:p>
          </p:txBody>
        </p:sp>
      </p:grpSp>
      <p:pic>
        <p:nvPicPr>
          <p:cNvPr id="27" name="图片 26">
            <a:extLst>
              <a:ext uri="{FF2B5EF4-FFF2-40B4-BE49-F238E27FC236}">
                <a16:creationId xmlns:a16="http://schemas.microsoft.com/office/drawing/2014/main" id="{33B092D5-4F18-67D3-AE81-499D07CB6E31}"/>
              </a:ext>
            </a:extLst>
          </p:cNvPr>
          <p:cNvPicPr>
            <a:picLocks noChangeAspect="1"/>
          </p:cNvPicPr>
          <p:nvPr/>
        </p:nvPicPr>
        <p:blipFill>
          <a:blip r:embed="rId4"/>
          <a:stretch>
            <a:fillRect/>
          </a:stretch>
        </p:blipFill>
        <p:spPr>
          <a:xfrm>
            <a:off x="4359845" y="208318"/>
            <a:ext cx="7355444" cy="6357470"/>
          </a:xfrm>
          <a:prstGeom prst="rect">
            <a:avLst/>
          </a:prstGeom>
        </p:spPr>
      </p:pic>
      <p:sp>
        <p:nvSpPr>
          <p:cNvPr id="29" name="圆角矩形 28">
            <a:extLst>
              <a:ext uri="{FF2B5EF4-FFF2-40B4-BE49-F238E27FC236}">
                <a16:creationId xmlns:a16="http://schemas.microsoft.com/office/drawing/2014/main" id="{B6284457-1CDA-4EA9-7750-3F9CAC833761}"/>
              </a:ext>
            </a:extLst>
          </p:cNvPr>
          <p:cNvSpPr/>
          <p:nvPr/>
        </p:nvSpPr>
        <p:spPr>
          <a:xfrm>
            <a:off x="4350219" y="2989385"/>
            <a:ext cx="7114949" cy="1488830"/>
          </a:xfrm>
          <a:prstGeom prst="roundRect">
            <a:avLst/>
          </a:prstGeom>
          <a:noFill/>
          <a:ln w="28575">
            <a:solidFill>
              <a:srgbClr val="2D569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圆角矩形 29">
            <a:extLst>
              <a:ext uri="{FF2B5EF4-FFF2-40B4-BE49-F238E27FC236}">
                <a16:creationId xmlns:a16="http://schemas.microsoft.com/office/drawing/2014/main" id="{77687B8F-D1B0-B1FD-E99C-9476EF6DCA9A}"/>
              </a:ext>
            </a:extLst>
          </p:cNvPr>
          <p:cNvSpPr/>
          <p:nvPr/>
        </p:nvSpPr>
        <p:spPr>
          <a:xfrm>
            <a:off x="4334835" y="574430"/>
            <a:ext cx="633403" cy="5287107"/>
          </a:xfrm>
          <a:prstGeom prst="roundRect">
            <a:avLst>
              <a:gd name="adj" fmla="val 30281"/>
            </a:avLst>
          </a:prstGeom>
          <a:noFill/>
          <a:ln w="28575">
            <a:solidFill>
              <a:srgbClr val="2D569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圆角矩形 30">
            <a:extLst>
              <a:ext uri="{FF2B5EF4-FFF2-40B4-BE49-F238E27FC236}">
                <a16:creationId xmlns:a16="http://schemas.microsoft.com/office/drawing/2014/main" id="{618B904D-82F8-91F9-27A0-43EBEC2AFF9B}"/>
              </a:ext>
            </a:extLst>
          </p:cNvPr>
          <p:cNvSpPr/>
          <p:nvPr/>
        </p:nvSpPr>
        <p:spPr>
          <a:xfrm>
            <a:off x="4747892" y="5861536"/>
            <a:ext cx="6701892" cy="861983"/>
          </a:xfrm>
          <a:prstGeom prst="roundRect">
            <a:avLst>
              <a:gd name="adj" fmla="val 8793"/>
            </a:avLst>
          </a:prstGeom>
          <a:noFill/>
          <a:ln w="28575">
            <a:solidFill>
              <a:srgbClr val="2D569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框 31">
            <a:extLst>
              <a:ext uri="{FF2B5EF4-FFF2-40B4-BE49-F238E27FC236}">
                <a16:creationId xmlns:a16="http://schemas.microsoft.com/office/drawing/2014/main" id="{53FE2007-AE24-3B74-DFCE-F97E1473AE90}"/>
              </a:ext>
            </a:extLst>
          </p:cNvPr>
          <p:cNvSpPr txBox="1"/>
          <p:nvPr/>
        </p:nvSpPr>
        <p:spPr>
          <a:xfrm>
            <a:off x="4028972" y="1502722"/>
            <a:ext cx="392489" cy="461665"/>
          </a:xfrm>
          <a:prstGeom prst="rect">
            <a:avLst/>
          </a:prstGeom>
          <a:noFill/>
        </p:spPr>
        <p:txBody>
          <a:bodyPr wrap="square" rtlCol="0">
            <a:spAutoFit/>
          </a:bodyPr>
          <a:lstStyle/>
          <a:p>
            <a:r>
              <a:rPr kumimoji="1" lang="en-US" altLang="zh-CN" sz="2400" b="1" dirty="0">
                <a:solidFill>
                  <a:srgbClr val="1F3A63"/>
                </a:solidFill>
              </a:rPr>
              <a:t>1</a:t>
            </a:r>
            <a:endParaRPr kumimoji="1" lang="zh-CN" altLang="en-US" sz="2400" b="1" dirty="0">
              <a:solidFill>
                <a:srgbClr val="1F3A63"/>
              </a:solidFill>
            </a:endParaRPr>
          </a:p>
        </p:txBody>
      </p:sp>
      <p:sp>
        <p:nvSpPr>
          <p:cNvPr id="34" name="文本框 33">
            <a:extLst>
              <a:ext uri="{FF2B5EF4-FFF2-40B4-BE49-F238E27FC236}">
                <a16:creationId xmlns:a16="http://schemas.microsoft.com/office/drawing/2014/main" id="{500D42EF-06EE-2A55-876B-6F7703076211}"/>
              </a:ext>
            </a:extLst>
          </p:cNvPr>
          <p:cNvSpPr txBox="1"/>
          <p:nvPr/>
        </p:nvSpPr>
        <p:spPr>
          <a:xfrm>
            <a:off x="4407259" y="6072053"/>
            <a:ext cx="327247" cy="461665"/>
          </a:xfrm>
          <a:prstGeom prst="rect">
            <a:avLst/>
          </a:prstGeom>
          <a:noFill/>
        </p:spPr>
        <p:txBody>
          <a:bodyPr wrap="square">
            <a:spAutoFit/>
          </a:bodyPr>
          <a:lstStyle/>
          <a:p>
            <a:r>
              <a:rPr kumimoji="1" lang="en-US" altLang="zh-CN" sz="2400" b="1" dirty="0">
                <a:solidFill>
                  <a:srgbClr val="1F3A63"/>
                </a:solidFill>
              </a:rPr>
              <a:t>2</a:t>
            </a:r>
            <a:endParaRPr kumimoji="1" lang="zh-CN" altLang="en-US" sz="2400" b="1" dirty="0">
              <a:solidFill>
                <a:srgbClr val="1F3A63"/>
              </a:solidFill>
            </a:endParaRPr>
          </a:p>
        </p:txBody>
      </p:sp>
      <p:sp>
        <p:nvSpPr>
          <p:cNvPr id="36" name="文本框 35">
            <a:extLst>
              <a:ext uri="{FF2B5EF4-FFF2-40B4-BE49-F238E27FC236}">
                <a16:creationId xmlns:a16="http://schemas.microsoft.com/office/drawing/2014/main" id="{9846196A-E801-954A-E7BA-626F1FC1FB33}"/>
              </a:ext>
            </a:extLst>
          </p:cNvPr>
          <p:cNvSpPr txBox="1"/>
          <p:nvPr/>
        </p:nvSpPr>
        <p:spPr>
          <a:xfrm>
            <a:off x="5110477" y="2780372"/>
            <a:ext cx="355936" cy="461665"/>
          </a:xfrm>
          <a:prstGeom prst="rect">
            <a:avLst/>
          </a:prstGeom>
          <a:solidFill>
            <a:schemeClr val="bg1">
              <a:alpha val="88070"/>
            </a:schemeClr>
          </a:solidFill>
        </p:spPr>
        <p:txBody>
          <a:bodyPr wrap="square">
            <a:spAutoFit/>
          </a:bodyPr>
          <a:lstStyle/>
          <a:p>
            <a:r>
              <a:rPr kumimoji="1" lang="en-US" altLang="zh-CN" sz="2400" b="1" dirty="0">
                <a:solidFill>
                  <a:srgbClr val="1F3A63"/>
                </a:solidFill>
              </a:rPr>
              <a:t>3</a:t>
            </a:r>
            <a:endParaRPr kumimoji="1" lang="zh-CN" altLang="en-US" sz="2400" b="1" dirty="0">
              <a:solidFill>
                <a:srgbClr val="1F3A63"/>
              </a:solidFill>
            </a:endParaRPr>
          </a:p>
        </p:txBody>
      </p:sp>
      <p:sp>
        <p:nvSpPr>
          <p:cNvPr id="45" name="圆角矩形 44">
            <a:extLst>
              <a:ext uri="{FF2B5EF4-FFF2-40B4-BE49-F238E27FC236}">
                <a16:creationId xmlns:a16="http://schemas.microsoft.com/office/drawing/2014/main" id="{157890B5-E9BF-CFBF-6A56-094B7C2E4147}"/>
              </a:ext>
            </a:extLst>
          </p:cNvPr>
          <p:cNvSpPr/>
          <p:nvPr/>
        </p:nvSpPr>
        <p:spPr>
          <a:xfrm>
            <a:off x="1106190" y="4795023"/>
            <a:ext cx="767215" cy="1091045"/>
          </a:xfrm>
          <a:prstGeom prst="roundRect">
            <a:avLst>
              <a:gd name="adj" fmla="val 9503"/>
            </a:avLst>
          </a:prstGeom>
          <a:noFill/>
          <a:ln w="28575">
            <a:solidFill>
              <a:srgbClr val="2D569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721545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0-#ppt_w/2"/>
                                          </p:val>
                                        </p:tav>
                                        <p:tav tm="100000">
                                          <p:val>
                                            <p:strVal val="#ppt_x"/>
                                          </p:val>
                                        </p:tav>
                                      </p:tavLst>
                                    </p:anim>
                                    <p:anim calcmode="lin" valueType="num">
                                      <p:cBhvr additive="base">
                                        <p:cTn id="12" dur="500" fill="hold"/>
                                        <p:tgtEl>
                                          <p:spTgt spid="3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0-#ppt_w/2"/>
                                          </p:val>
                                        </p:tav>
                                        <p:tav tm="100000">
                                          <p:val>
                                            <p:strVal val="#ppt_x"/>
                                          </p:val>
                                        </p:tav>
                                      </p:tavLst>
                                    </p:anim>
                                    <p:anim calcmode="lin" valueType="num">
                                      <p:cBhvr additive="base">
                                        <p:cTn id="16" dur="500" fill="hold"/>
                                        <p:tgtEl>
                                          <p:spTgt spid="30"/>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35" presetClass="emph" presetSubtype="0" repeatCount="3000" fill="hold" grpId="2" nodeType="afterEffect">
                                  <p:stCondLst>
                                    <p:cond delay="0"/>
                                  </p:stCondLst>
                                  <p:childTnLst>
                                    <p:anim calcmode="discrete" valueType="str">
                                      <p:cBhvr>
                                        <p:cTn id="19" dur="1000" fill="hold"/>
                                        <p:tgtEl>
                                          <p:spTgt spid="30"/>
                                        </p:tgtEl>
                                        <p:attrNameLst>
                                          <p:attrName>style.visibility</p:attrName>
                                        </p:attrNameLst>
                                      </p:cBhvr>
                                      <p:tavLst>
                                        <p:tav tm="0">
                                          <p:val>
                                            <p:strVal val="hidden"/>
                                          </p:val>
                                        </p:tav>
                                        <p:tav tm="50000">
                                          <p:val>
                                            <p:strVal val="visible"/>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0-#ppt_w/2"/>
                                          </p:val>
                                        </p:tav>
                                        <p:tav tm="100000">
                                          <p:val>
                                            <p:strVal val="#ppt_x"/>
                                          </p:val>
                                        </p:tav>
                                      </p:tavLst>
                                    </p:anim>
                                    <p:anim calcmode="lin" valueType="num">
                                      <p:cBhvr additive="base">
                                        <p:cTn id="25" dur="500" fill="hold"/>
                                        <p:tgtEl>
                                          <p:spTgt spid="5"/>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0-#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500" fill="hold"/>
                                        <p:tgtEl>
                                          <p:spTgt spid="31"/>
                                        </p:tgtEl>
                                        <p:attrNameLst>
                                          <p:attrName>ppt_x</p:attrName>
                                        </p:attrNameLst>
                                      </p:cBhvr>
                                      <p:tavLst>
                                        <p:tav tm="0">
                                          <p:val>
                                            <p:strVal val="0-#ppt_w/2"/>
                                          </p:val>
                                        </p:tav>
                                        <p:tav tm="100000">
                                          <p:val>
                                            <p:strVal val="#ppt_x"/>
                                          </p:val>
                                        </p:tav>
                                      </p:tavLst>
                                    </p:anim>
                                    <p:anim calcmode="lin" valueType="num">
                                      <p:cBhvr additive="base">
                                        <p:cTn id="33" dur="500" fill="hold"/>
                                        <p:tgtEl>
                                          <p:spTgt spid="31"/>
                                        </p:tgtEl>
                                        <p:attrNameLst>
                                          <p:attrName>ppt_y</p:attrName>
                                        </p:attrNameLst>
                                      </p:cBhvr>
                                      <p:tavLst>
                                        <p:tav tm="0">
                                          <p:val>
                                            <p:strVal val="#ppt_y"/>
                                          </p:val>
                                        </p:tav>
                                        <p:tav tm="100000">
                                          <p:val>
                                            <p:strVal val="#ppt_y"/>
                                          </p:val>
                                        </p:tav>
                                      </p:tavLst>
                                    </p:anim>
                                  </p:childTnLst>
                                </p:cTn>
                              </p:par>
                              <p:par>
                                <p:cTn id="34" presetID="10" presetClass="exit" presetSubtype="0" fill="hold" grpId="1" nodeType="withEffect">
                                  <p:stCondLst>
                                    <p:cond delay="0"/>
                                  </p:stCondLst>
                                  <p:childTnLst>
                                    <p:animEffect transition="out" filter="fade">
                                      <p:cBhvr>
                                        <p:cTn id="35" dur="500"/>
                                        <p:tgtEl>
                                          <p:spTgt spid="32"/>
                                        </p:tgtEl>
                                      </p:cBhvr>
                                    </p:animEffect>
                                    <p:set>
                                      <p:cBhvr>
                                        <p:cTn id="36" dur="1" fill="hold">
                                          <p:stCondLst>
                                            <p:cond delay="499"/>
                                          </p:stCondLst>
                                        </p:cTn>
                                        <p:tgtEl>
                                          <p:spTgt spid="32"/>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500"/>
                                        <p:tgtEl>
                                          <p:spTgt spid="30"/>
                                        </p:tgtEl>
                                      </p:cBhvr>
                                    </p:animEffect>
                                    <p:set>
                                      <p:cBhvr>
                                        <p:cTn id="39" dur="1" fill="hold">
                                          <p:stCondLst>
                                            <p:cond delay="499"/>
                                          </p:stCondLst>
                                        </p:cTn>
                                        <p:tgtEl>
                                          <p:spTgt spid="30"/>
                                        </p:tgtEl>
                                        <p:attrNameLst>
                                          <p:attrName>style.visibility</p:attrName>
                                        </p:attrNameLst>
                                      </p:cBhvr>
                                      <p:to>
                                        <p:strVal val="hidden"/>
                                      </p:to>
                                    </p:set>
                                  </p:childTnLst>
                                </p:cTn>
                              </p:par>
                            </p:childTnLst>
                          </p:cTn>
                        </p:par>
                        <p:par>
                          <p:cTn id="40" fill="hold">
                            <p:stCondLst>
                              <p:cond delay="500"/>
                            </p:stCondLst>
                            <p:childTnLst>
                              <p:par>
                                <p:cTn id="41" presetID="35" presetClass="emph" presetSubtype="0" repeatCount="3000" fill="hold" grpId="2" nodeType="afterEffect">
                                  <p:stCondLst>
                                    <p:cond delay="0"/>
                                  </p:stCondLst>
                                  <p:childTnLst>
                                    <p:anim calcmode="discrete" valueType="str">
                                      <p:cBhvr>
                                        <p:cTn id="42" dur="1000" fill="hold"/>
                                        <p:tgtEl>
                                          <p:spTgt spid="31"/>
                                        </p:tgtEl>
                                        <p:attrNameLst>
                                          <p:attrName>style.visibility</p:attrName>
                                        </p:attrNameLst>
                                      </p:cBhvr>
                                      <p:tavLst>
                                        <p:tav tm="0">
                                          <p:val>
                                            <p:strVal val="hidden"/>
                                          </p:val>
                                        </p:tav>
                                        <p:tav tm="50000">
                                          <p:val>
                                            <p:strVal val="visible"/>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0-#ppt_w/2"/>
                                          </p:val>
                                        </p:tav>
                                        <p:tav tm="100000">
                                          <p:val>
                                            <p:strVal val="#ppt_x"/>
                                          </p:val>
                                        </p:tav>
                                      </p:tavLst>
                                    </p:anim>
                                    <p:anim calcmode="lin" valueType="num">
                                      <p:cBhvr additive="base">
                                        <p:cTn id="48" dur="500" fill="hold"/>
                                        <p:tgtEl>
                                          <p:spTgt spid="16"/>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cBhvr additive="base">
                                        <p:cTn id="51" dur="500" fill="hold"/>
                                        <p:tgtEl>
                                          <p:spTgt spid="36"/>
                                        </p:tgtEl>
                                        <p:attrNameLst>
                                          <p:attrName>ppt_x</p:attrName>
                                        </p:attrNameLst>
                                      </p:cBhvr>
                                      <p:tavLst>
                                        <p:tav tm="0">
                                          <p:val>
                                            <p:strVal val="0-#ppt_w/2"/>
                                          </p:val>
                                        </p:tav>
                                        <p:tav tm="100000">
                                          <p:val>
                                            <p:strVal val="#ppt_x"/>
                                          </p:val>
                                        </p:tav>
                                      </p:tavLst>
                                    </p:anim>
                                    <p:anim calcmode="lin" valueType="num">
                                      <p:cBhvr additive="base">
                                        <p:cTn id="52" dur="500" fill="hold"/>
                                        <p:tgtEl>
                                          <p:spTgt spid="36"/>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0-#ppt_w/2"/>
                                          </p:val>
                                        </p:tav>
                                        <p:tav tm="100000">
                                          <p:val>
                                            <p:strVal val="#ppt_x"/>
                                          </p:val>
                                        </p:tav>
                                      </p:tavLst>
                                    </p:anim>
                                    <p:anim calcmode="lin" valueType="num">
                                      <p:cBhvr additive="base">
                                        <p:cTn id="56" dur="500" fill="hold"/>
                                        <p:tgtEl>
                                          <p:spTgt spid="29"/>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anim calcmode="lin" valueType="num">
                                      <p:cBhvr additive="base">
                                        <p:cTn id="59" dur="500" fill="hold"/>
                                        <p:tgtEl>
                                          <p:spTgt spid="45"/>
                                        </p:tgtEl>
                                        <p:attrNameLst>
                                          <p:attrName>ppt_x</p:attrName>
                                        </p:attrNameLst>
                                      </p:cBhvr>
                                      <p:tavLst>
                                        <p:tav tm="0">
                                          <p:val>
                                            <p:strVal val="0-#ppt_w/2"/>
                                          </p:val>
                                        </p:tav>
                                        <p:tav tm="100000">
                                          <p:val>
                                            <p:strVal val="#ppt_x"/>
                                          </p:val>
                                        </p:tav>
                                      </p:tavLst>
                                    </p:anim>
                                    <p:anim calcmode="lin" valueType="num">
                                      <p:cBhvr additive="base">
                                        <p:cTn id="60" dur="500" fill="hold"/>
                                        <p:tgtEl>
                                          <p:spTgt spid="45"/>
                                        </p:tgtEl>
                                        <p:attrNameLst>
                                          <p:attrName>ppt_y</p:attrName>
                                        </p:attrNameLst>
                                      </p:cBhvr>
                                      <p:tavLst>
                                        <p:tav tm="0">
                                          <p:val>
                                            <p:strVal val="#ppt_y"/>
                                          </p:val>
                                        </p:tav>
                                        <p:tav tm="100000">
                                          <p:val>
                                            <p:strVal val="#ppt_y"/>
                                          </p:val>
                                        </p:tav>
                                      </p:tavLst>
                                    </p:anim>
                                  </p:childTnLst>
                                </p:cTn>
                              </p:par>
                              <p:par>
                                <p:cTn id="61" presetID="10" presetClass="exit" presetSubtype="0" fill="hold" grpId="1" nodeType="withEffect">
                                  <p:stCondLst>
                                    <p:cond delay="0"/>
                                  </p:stCondLst>
                                  <p:childTnLst>
                                    <p:animEffect transition="out" filter="fade">
                                      <p:cBhvr>
                                        <p:cTn id="62" dur="500"/>
                                        <p:tgtEl>
                                          <p:spTgt spid="34"/>
                                        </p:tgtEl>
                                      </p:cBhvr>
                                    </p:animEffect>
                                    <p:set>
                                      <p:cBhvr>
                                        <p:cTn id="63" dur="1" fill="hold">
                                          <p:stCondLst>
                                            <p:cond delay="499"/>
                                          </p:stCondLst>
                                        </p:cTn>
                                        <p:tgtEl>
                                          <p:spTgt spid="34"/>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31"/>
                                        </p:tgtEl>
                                      </p:cBhvr>
                                    </p:animEffect>
                                    <p:set>
                                      <p:cBhvr>
                                        <p:cTn id="66" dur="1" fill="hold">
                                          <p:stCondLst>
                                            <p:cond delay="499"/>
                                          </p:stCondLst>
                                        </p:cTn>
                                        <p:tgtEl>
                                          <p:spTgt spid="31"/>
                                        </p:tgtEl>
                                        <p:attrNameLst>
                                          <p:attrName>style.visibility</p:attrName>
                                        </p:attrNameLst>
                                      </p:cBhvr>
                                      <p:to>
                                        <p:strVal val="hidden"/>
                                      </p:to>
                                    </p:set>
                                  </p:childTnLst>
                                </p:cTn>
                              </p:par>
                            </p:childTnLst>
                          </p:cTn>
                        </p:par>
                        <p:par>
                          <p:cTn id="67" fill="hold">
                            <p:stCondLst>
                              <p:cond delay="500"/>
                            </p:stCondLst>
                            <p:childTnLst>
                              <p:par>
                                <p:cTn id="68" presetID="35" presetClass="emph" presetSubtype="0" repeatCount="3000" fill="hold" grpId="1" nodeType="afterEffect">
                                  <p:stCondLst>
                                    <p:cond delay="0"/>
                                  </p:stCondLst>
                                  <p:childTnLst>
                                    <p:anim calcmode="discrete" valueType="str">
                                      <p:cBhvr>
                                        <p:cTn id="69" dur="1000" fill="hold"/>
                                        <p:tgtEl>
                                          <p:spTgt spid="29"/>
                                        </p:tgtEl>
                                        <p:attrNameLst>
                                          <p:attrName>style.visibility</p:attrName>
                                        </p:attrNameLst>
                                      </p:cBhvr>
                                      <p:tavLst>
                                        <p:tav tm="0">
                                          <p:val>
                                            <p:strVal val="hidden"/>
                                          </p:val>
                                        </p:tav>
                                        <p:tav tm="50000">
                                          <p:val>
                                            <p:strVal val="visible"/>
                                          </p:val>
                                        </p:tav>
                                      </p:tavLst>
                                    </p:anim>
                                  </p:childTnLst>
                                </p:cTn>
                              </p:par>
                              <p:par>
                                <p:cTn id="70" presetID="35" presetClass="emph" presetSubtype="0" repeatCount="3000" fill="hold" grpId="1" nodeType="withEffect">
                                  <p:stCondLst>
                                    <p:cond delay="0"/>
                                  </p:stCondLst>
                                  <p:childTnLst>
                                    <p:anim calcmode="discrete" valueType="str">
                                      <p:cBhvr>
                                        <p:cTn id="71" dur="1000" fill="hold"/>
                                        <p:tgtEl>
                                          <p:spTgt spid="4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0" grpId="0" animBg="1"/>
      <p:bldP spid="30" grpId="1" animBg="1"/>
      <p:bldP spid="30" grpId="2" animBg="1"/>
      <p:bldP spid="31" grpId="0" animBg="1"/>
      <p:bldP spid="31" grpId="1" animBg="1"/>
      <p:bldP spid="31" grpId="2" animBg="1"/>
      <p:bldP spid="32" grpId="0"/>
      <p:bldP spid="32" grpId="1"/>
      <p:bldP spid="34" grpId="0"/>
      <p:bldP spid="34" grpId="1"/>
      <p:bldP spid="36" grpId="0" animBg="1"/>
      <p:bldP spid="45" grpId="0" animBg="1"/>
      <p:bldP spid="45"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69ED4-8DDC-DBD6-C574-6019DFAE9C66}"/>
            </a:ext>
          </a:extLst>
        </p:cNvPr>
        <p:cNvGrpSpPr/>
        <p:nvPr/>
      </p:nvGrpSpPr>
      <p:grpSpPr>
        <a:xfrm>
          <a:off x="0" y="0"/>
          <a:ext cx="0" cy="0"/>
          <a:chOff x="0" y="0"/>
          <a:chExt cx="0" cy="0"/>
        </a:xfrm>
      </p:grpSpPr>
      <p:pic>
        <p:nvPicPr>
          <p:cNvPr id="26" name="图片 25">
            <a:extLst>
              <a:ext uri="{FF2B5EF4-FFF2-40B4-BE49-F238E27FC236}">
                <a16:creationId xmlns:a16="http://schemas.microsoft.com/office/drawing/2014/main" id="{6D0F38D1-8742-F820-A1E3-2EC46D387D0E}"/>
              </a:ext>
            </a:extLst>
          </p:cNvPr>
          <p:cNvPicPr>
            <a:picLocks noChangeAspect="1"/>
          </p:cNvPicPr>
          <p:nvPr/>
        </p:nvPicPr>
        <p:blipFill>
          <a:blip r:embed="rId3"/>
          <a:stretch>
            <a:fillRect/>
          </a:stretch>
        </p:blipFill>
        <p:spPr>
          <a:xfrm>
            <a:off x="3188994" y="3004761"/>
            <a:ext cx="8599108" cy="3139690"/>
          </a:xfrm>
          <a:prstGeom prst="rect">
            <a:avLst/>
          </a:prstGeom>
        </p:spPr>
      </p:pic>
      <p:sp>
        <p:nvSpPr>
          <p:cNvPr id="2" name="Text 0">
            <a:extLst>
              <a:ext uri="{FF2B5EF4-FFF2-40B4-BE49-F238E27FC236}">
                <a16:creationId xmlns:a16="http://schemas.microsoft.com/office/drawing/2014/main" id="{597AC700-5B76-867D-193E-6229BEAC027F}"/>
              </a:ext>
            </a:extLst>
          </p:cNvPr>
          <p:cNvSpPr txBox="1"/>
          <p:nvPr/>
        </p:nvSpPr>
        <p:spPr>
          <a:xfrm>
            <a:off x="548640" y="292212"/>
            <a:ext cx="7315200" cy="365760"/>
          </a:xfrm>
          <a:prstGeom prst="rect">
            <a:avLst/>
          </a:prstGeom>
          <a:noFill/>
          <a:ln/>
        </p:spPr>
        <p:txBody>
          <a:bodyPr wrap="square" lIns="0" tIns="0" rIns="0" bIns="0" rtlCol="0" anchor="ctr"/>
          <a:lstStyle/>
          <a:p>
            <a:r>
              <a:rPr lang="en-US" altLang="zh-CN" sz="1400" b="1" kern="0" spc="200" dirty="0">
                <a:solidFill>
                  <a:srgbClr val="5B7A9D"/>
                </a:solidFill>
                <a:latin typeface="Calibri" pitchFamily="34" charset="0"/>
                <a:ea typeface="Calibri" pitchFamily="34" charset="-122"/>
                <a:cs typeface="Calibri" pitchFamily="34" charset="-120"/>
              </a:rPr>
              <a:t>CAPABILITY</a:t>
            </a:r>
            <a:endParaRPr lang="en-US" altLang="zh-CN" sz="1400" dirty="0"/>
          </a:p>
        </p:txBody>
      </p:sp>
      <p:sp>
        <p:nvSpPr>
          <p:cNvPr id="3" name="Text 1">
            <a:extLst>
              <a:ext uri="{FF2B5EF4-FFF2-40B4-BE49-F238E27FC236}">
                <a16:creationId xmlns:a16="http://schemas.microsoft.com/office/drawing/2014/main" id="{E8245D50-06B9-064D-BED3-D01B74C2BB99}"/>
              </a:ext>
            </a:extLst>
          </p:cNvPr>
          <p:cNvSpPr txBox="1"/>
          <p:nvPr/>
        </p:nvSpPr>
        <p:spPr>
          <a:xfrm>
            <a:off x="548640" y="361148"/>
            <a:ext cx="5647765" cy="1947534"/>
          </a:xfrm>
          <a:prstGeom prst="rect">
            <a:avLst/>
          </a:prstGeom>
          <a:noFill/>
          <a:ln/>
        </p:spPr>
        <p:txBody>
          <a:bodyPr wrap="square" lIns="0" tIns="0" rIns="0" bIns="0" rtlCol="0" anchor="ctr"/>
          <a:lstStyle/>
          <a:p>
            <a:pPr>
              <a:lnSpc>
                <a:spcPct val="150000"/>
              </a:lnSpc>
              <a:spcAft>
                <a:spcPts val="1200"/>
              </a:spcAft>
            </a:pPr>
            <a:r>
              <a:rPr lang="en-US" altLang="zh-CN" sz="3200" b="1" dirty="0">
                <a:solidFill>
                  <a:srgbClr val="2D5695"/>
                </a:solidFill>
              </a:rPr>
              <a:t>Sensitivity Analysis</a:t>
            </a:r>
          </a:p>
          <a:p>
            <a:pPr marL="285750" indent="-285750">
              <a:lnSpc>
                <a:spcPct val="150000"/>
              </a:lnSpc>
              <a:buFont typeface="Wingdings" pitchFamily="2" charset="2"/>
              <a:buChar char="ü"/>
            </a:pPr>
            <a:r>
              <a:rPr lang="en-US" altLang="zh-CN" sz="2000" dirty="0">
                <a:solidFill>
                  <a:srgbClr val="2D5695"/>
                </a:solidFill>
              </a:rPr>
              <a:t>Real-time design space exploration</a:t>
            </a:r>
          </a:p>
          <a:p>
            <a:pPr marL="285750" indent="-285750">
              <a:lnSpc>
                <a:spcPct val="150000"/>
              </a:lnSpc>
              <a:buFont typeface="Wingdings" pitchFamily="2" charset="2"/>
              <a:buChar char="ü"/>
            </a:pPr>
            <a:r>
              <a:rPr lang="en-US" altLang="zh-CN" sz="2000" dirty="0">
                <a:solidFill>
                  <a:srgbClr val="2D5695"/>
                </a:solidFill>
              </a:rPr>
              <a:t>No need to perturb-and-retrace the lens.</a:t>
            </a:r>
          </a:p>
        </p:txBody>
      </p:sp>
      <p:grpSp>
        <p:nvGrpSpPr>
          <p:cNvPr id="4" name="组合 3">
            <a:extLst>
              <a:ext uri="{FF2B5EF4-FFF2-40B4-BE49-F238E27FC236}">
                <a16:creationId xmlns:a16="http://schemas.microsoft.com/office/drawing/2014/main" id="{C54826DB-07D9-7D6D-8AE9-7FCA3C84B170}"/>
              </a:ext>
            </a:extLst>
          </p:cNvPr>
          <p:cNvGrpSpPr/>
          <p:nvPr/>
        </p:nvGrpSpPr>
        <p:grpSpPr>
          <a:xfrm>
            <a:off x="448775" y="4830195"/>
            <a:ext cx="3194508" cy="961794"/>
            <a:chOff x="646914" y="5034451"/>
            <a:chExt cx="3906712" cy="1176222"/>
          </a:xfrm>
        </p:grpSpPr>
        <p:sp>
          <p:nvSpPr>
            <p:cNvPr id="9" name="Shape 7">
              <a:extLst>
                <a:ext uri="{FF2B5EF4-FFF2-40B4-BE49-F238E27FC236}">
                  <a16:creationId xmlns:a16="http://schemas.microsoft.com/office/drawing/2014/main" id="{99011E0E-436B-D085-45AD-7335C9293BEE}"/>
                </a:ext>
              </a:extLst>
            </p:cNvPr>
            <p:cNvSpPr/>
            <p:nvPr/>
          </p:nvSpPr>
          <p:spPr>
            <a:xfrm>
              <a:off x="646914" y="5034451"/>
              <a:ext cx="3612264" cy="1176222"/>
            </a:xfrm>
            <a:prstGeom prst="roundRect">
              <a:avLst>
                <a:gd name="adj" fmla="val 21720"/>
              </a:avLst>
            </a:prstGeom>
            <a:solidFill>
              <a:srgbClr val="E9EEF6"/>
            </a:solidFill>
            <a:ln/>
          </p:spPr>
          <p:txBody>
            <a:bodyPr/>
            <a:lstStyle/>
            <a:p>
              <a:endParaRPr lang="zh-CN" altLang="en-US" dirty="0"/>
            </a:p>
          </p:txBody>
        </p:sp>
        <p:sp>
          <p:nvSpPr>
            <p:cNvPr id="12" name="Text 10">
              <a:extLst>
                <a:ext uri="{FF2B5EF4-FFF2-40B4-BE49-F238E27FC236}">
                  <a16:creationId xmlns:a16="http://schemas.microsoft.com/office/drawing/2014/main" id="{88EEE401-15E9-1200-C713-12101B723098}"/>
                </a:ext>
              </a:extLst>
            </p:cNvPr>
            <p:cNvSpPr txBox="1"/>
            <p:nvPr/>
          </p:nvSpPr>
          <p:spPr>
            <a:xfrm>
              <a:off x="1110202" y="5103329"/>
              <a:ext cx="3443424" cy="379513"/>
            </a:xfrm>
            <a:prstGeom prst="rect">
              <a:avLst/>
            </a:prstGeom>
            <a:noFill/>
            <a:ln/>
          </p:spPr>
          <p:txBody>
            <a:bodyPr wrap="square" lIns="0" tIns="0" rIns="0" bIns="0" rtlCol="0" anchor="ctr"/>
            <a:lstStyle/>
            <a:p>
              <a:r>
                <a:rPr lang="en-US" altLang="zh-CN" sz="1600" b="1" dirty="0">
                  <a:solidFill>
                    <a:srgbClr val="13294B"/>
                  </a:solidFill>
                  <a:latin typeface="Georgia" panose="02040502050405020303" pitchFamily="18" charset="0"/>
                </a:rPr>
                <a:t>Sweep thickness </a:t>
              </a:r>
              <a:endParaRPr lang="en-US" sz="1600" b="1" dirty="0">
                <a:solidFill>
                  <a:srgbClr val="13294B"/>
                </a:solidFill>
                <a:latin typeface="Georgia" panose="02040502050405020303" pitchFamily="18" charset="0"/>
              </a:endParaRPr>
            </a:p>
          </p:txBody>
        </p:sp>
        <p:sp>
          <p:nvSpPr>
            <p:cNvPr id="13" name="Text 11">
              <a:extLst>
                <a:ext uri="{FF2B5EF4-FFF2-40B4-BE49-F238E27FC236}">
                  <a16:creationId xmlns:a16="http://schemas.microsoft.com/office/drawing/2014/main" id="{ACAA748B-2205-F2F9-08C8-407BDD55A816}"/>
                </a:ext>
              </a:extLst>
            </p:cNvPr>
            <p:cNvSpPr txBox="1"/>
            <p:nvPr/>
          </p:nvSpPr>
          <p:spPr>
            <a:xfrm>
              <a:off x="1027960" y="5367522"/>
              <a:ext cx="3231219" cy="843149"/>
            </a:xfrm>
            <a:prstGeom prst="rect">
              <a:avLst/>
            </a:prstGeom>
            <a:noFill/>
            <a:ln/>
          </p:spPr>
          <p:txBody>
            <a:bodyPr wrap="square" lIns="0" tIns="0" rIns="0" bIns="0" rtlCol="0" anchor="ctr"/>
            <a:lstStyle/>
            <a:p>
              <a:pPr>
                <a:lnSpc>
                  <a:spcPct val="115000"/>
                </a:lnSpc>
              </a:pPr>
              <a:r>
                <a:rPr lang="en-US" altLang="zh-CN" sz="1400" dirty="0">
                  <a:solidFill>
                    <a:srgbClr val="1F3A63"/>
                  </a:solidFill>
                </a:rPr>
                <a:t>Global blur falls monotonically; every aberration type grows.</a:t>
              </a:r>
              <a:endParaRPr lang="en-US" sz="1400" dirty="0">
                <a:solidFill>
                  <a:srgbClr val="1F3A63"/>
                </a:solidFill>
              </a:endParaRPr>
            </a:p>
          </p:txBody>
        </p:sp>
      </p:grpSp>
      <p:sp>
        <p:nvSpPr>
          <p:cNvPr id="142" name="文本框 141">
            <a:extLst>
              <a:ext uri="{FF2B5EF4-FFF2-40B4-BE49-F238E27FC236}">
                <a16:creationId xmlns:a16="http://schemas.microsoft.com/office/drawing/2014/main" id="{2DF55DAB-7BCD-3977-4616-9BE000CE8FB0}"/>
              </a:ext>
            </a:extLst>
          </p:cNvPr>
          <p:cNvSpPr txBox="1"/>
          <p:nvPr/>
        </p:nvSpPr>
        <p:spPr>
          <a:xfrm>
            <a:off x="8916546" y="6446520"/>
            <a:ext cx="3287486" cy="276999"/>
          </a:xfrm>
          <a:prstGeom prst="rect">
            <a:avLst/>
          </a:prstGeom>
          <a:noFill/>
        </p:spPr>
        <p:txBody>
          <a:bodyPr wrap="square">
            <a:spAutoFit/>
          </a:bodyPr>
          <a:lstStyle/>
          <a:p>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Haosheng Shi, Praneeth </a:t>
            </a:r>
            <a:r>
              <a:rPr lang="en-US" altLang="zh-CN" sz="1200" dirty="0" err="1">
                <a:solidFill>
                  <a:srgbClr val="8A97A8"/>
                </a:solidFill>
                <a:latin typeface="Gill Sans" panose="020B0502020104020203" pitchFamily="34" charset="-79"/>
                <a:ea typeface="Calibri" pitchFamily="34" charset="-122"/>
                <a:cs typeface="Gill Sans" panose="020B0502020104020203" pitchFamily="34" charset="-79"/>
              </a:rPr>
              <a:t>Chakravarthula</a:t>
            </a:r>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  ·   7</a:t>
            </a:r>
            <a:endParaRPr lang="en-US" altLang="zh-CN" sz="1200" dirty="0">
              <a:solidFill>
                <a:srgbClr val="8A97A8"/>
              </a:solidFill>
              <a:latin typeface="Gill Sans" panose="020B0502020104020203" pitchFamily="34" charset="-79"/>
              <a:cs typeface="Gill Sans" panose="020B0502020104020203" pitchFamily="34" charset="-79"/>
            </a:endParaRPr>
          </a:p>
        </p:txBody>
      </p:sp>
      <p:grpSp>
        <p:nvGrpSpPr>
          <p:cNvPr id="5" name="组合 4">
            <a:extLst>
              <a:ext uri="{FF2B5EF4-FFF2-40B4-BE49-F238E27FC236}">
                <a16:creationId xmlns:a16="http://schemas.microsoft.com/office/drawing/2014/main" id="{E0A75FF4-7F5C-27DC-6E5C-BB9221A3C0F7}"/>
              </a:ext>
            </a:extLst>
          </p:cNvPr>
          <p:cNvGrpSpPr/>
          <p:nvPr/>
        </p:nvGrpSpPr>
        <p:grpSpPr>
          <a:xfrm>
            <a:off x="455013" y="3256972"/>
            <a:ext cx="2902285" cy="991509"/>
            <a:chOff x="646913" y="5025711"/>
            <a:chExt cx="3633535" cy="1241326"/>
          </a:xfrm>
        </p:grpSpPr>
        <p:sp>
          <p:nvSpPr>
            <p:cNvPr id="6" name="Shape 7">
              <a:extLst>
                <a:ext uri="{FF2B5EF4-FFF2-40B4-BE49-F238E27FC236}">
                  <a16:creationId xmlns:a16="http://schemas.microsoft.com/office/drawing/2014/main" id="{6D3B663F-B6B6-5629-8D08-B79A9231A161}"/>
                </a:ext>
              </a:extLst>
            </p:cNvPr>
            <p:cNvSpPr/>
            <p:nvPr/>
          </p:nvSpPr>
          <p:spPr>
            <a:xfrm>
              <a:off x="646913" y="5025711"/>
              <a:ext cx="3633535" cy="1212857"/>
            </a:xfrm>
            <a:prstGeom prst="roundRect">
              <a:avLst>
                <a:gd name="adj" fmla="val 21711"/>
              </a:avLst>
            </a:prstGeom>
            <a:solidFill>
              <a:srgbClr val="E9EEF6"/>
            </a:solidFill>
            <a:ln/>
          </p:spPr>
          <p:txBody>
            <a:bodyPr/>
            <a:lstStyle/>
            <a:p>
              <a:endParaRPr lang="zh-CN" altLang="en-US" dirty="0"/>
            </a:p>
          </p:txBody>
        </p:sp>
        <p:sp>
          <p:nvSpPr>
            <p:cNvPr id="14" name="Text 10">
              <a:extLst>
                <a:ext uri="{FF2B5EF4-FFF2-40B4-BE49-F238E27FC236}">
                  <a16:creationId xmlns:a16="http://schemas.microsoft.com/office/drawing/2014/main" id="{27F5DB06-A368-D5FE-EAFE-246A1E018359}"/>
                </a:ext>
              </a:extLst>
            </p:cNvPr>
            <p:cNvSpPr txBox="1"/>
            <p:nvPr/>
          </p:nvSpPr>
          <p:spPr>
            <a:xfrm>
              <a:off x="1030053" y="5087709"/>
              <a:ext cx="3038823" cy="379513"/>
            </a:xfrm>
            <a:prstGeom prst="rect">
              <a:avLst/>
            </a:prstGeom>
            <a:noFill/>
            <a:ln/>
          </p:spPr>
          <p:txBody>
            <a:bodyPr wrap="square" lIns="0" tIns="0" rIns="0" bIns="0" rtlCol="0" anchor="ctr"/>
            <a:lstStyle/>
            <a:p>
              <a:r>
                <a:rPr lang="en-US" altLang="zh-CN" sz="1600" b="1" dirty="0">
                  <a:solidFill>
                    <a:srgbClr val="13294B"/>
                  </a:solidFill>
                  <a:latin typeface="Georgia" panose="02040502050405020303" pitchFamily="18" charset="0"/>
                </a:rPr>
                <a:t>Sweep</a:t>
              </a:r>
              <a:r>
                <a:rPr lang="zh-CN" altLang="en-US" sz="1600" b="1" dirty="0">
                  <a:solidFill>
                    <a:srgbClr val="13294B"/>
                  </a:solidFill>
                  <a:latin typeface="Georgia" panose="02040502050405020303" pitchFamily="18" charset="0"/>
                </a:rPr>
                <a:t> </a:t>
              </a:r>
              <a:r>
                <a:rPr lang="en-US" altLang="zh-CN" sz="1600" b="1" dirty="0">
                  <a:solidFill>
                    <a:srgbClr val="13294B"/>
                  </a:solidFill>
                  <a:latin typeface="Georgia" panose="02040502050405020303" pitchFamily="18" charset="0"/>
                </a:rPr>
                <a:t>front curvature</a:t>
              </a:r>
              <a:endParaRPr lang="en-US" sz="1600" b="1" dirty="0">
                <a:solidFill>
                  <a:srgbClr val="13294B"/>
                </a:solidFill>
                <a:latin typeface="Georgia" panose="02040502050405020303" pitchFamily="18" charset="0"/>
              </a:endParaRPr>
            </a:p>
          </p:txBody>
        </p:sp>
        <p:sp>
          <p:nvSpPr>
            <p:cNvPr id="15" name="Text 11">
              <a:extLst>
                <a:ext uri="{FF2B5EF4-FFF2-40B4-BE49-F238E27FC236}">
                  <a16:creationId xmlns:a16="http://schemas.microsoft.com/office/drawing/2014/main" id="{05E3E2BB-9A43-CB27-39CE-F77BE560D565}"/>
                </a:ext>
              </a:extLst>
            </p:cNvPr>
            <p:cNvSpPr txBox="1"/>
            <p:nvPr/>
          </p:nvSpPr>
          <p:spPr>
            <a:xfrm>
              <a:off x="1027960" y="5280897"/>
              <a:ext cx="3121065" cy="986140"/>
            </a:xfrm>
            <a:prstGeom prst="rect">
              <a:avLst/>
            </a:prstGeom>
            <a:noFill/>
            <a:ln/>
          </p:spPr>
          <p:txBody>
            <a:bodyPr wrap="square" lIns="0" tIns="0" rIns="0" bIns="0" rtlCol="0" anchor="ctr"/>
            <a:lstStyle/>
            <a:p>
              <a:pPr>
                <a:lnSpc>
                  <a:spcPct val="115000"/>
                </a:lnSpc>
              </a:pPr>
              <a:r>
                <a:rPr lang="en-US" altLang="zh-CN" sz="1400" dirty="0">
                  <a:solidFill>
                    <a:srgbClr val="1F3A63"/>
                  </a:solidFill>
                </a:rPr>
                <a:t>Individual aberrations decrease but overall spot size rises.</a:t>
              </a:r>
            </a:p>
          </p:txBody>
        </p:sp>
      </p:grpSp>
      <p:pic>
        <p:nvPicPr>
          <p:cNvPr id="28" name="图片 27">
            <a:extLst>
              <a:ext uri="{FF2B5EF4-FFF2-40B4-BE49-F238E27FC236}">
                <a16:creationId xmlns:a16="http://schemas.microsoft.com/office/drawing/2014/main" id="{4B48CFD9-BB98-DF4E-941C-AC39C8C495B1}"/>
              </a:ext>
            </a:extLst>
          </p:cNvPr>
          <p:cNvPicPr>
            <a:picLocks noChangeAspect="1"/>
          </p:cNvPicPr>
          <p:nvPr/>
        </p:nvPicPr>
        <p:blipFill>
          <a:blip r:embed="rId4"/>
          <a:srcRect l="5181" t="24781" r="6398" b="22016"/>
          <a:stretch>
            <a:fillRect/>
          </a:stretch>
        </p:blipFill>
        <p:spPr>
          <a:xfrm>
            <a:off x="6562163" y="438773"/>
            <a:ext cx="3964989" cy="2385704"/>
          </a:xfrm>
          <a:prstGeom prst="rect">
            <a:avLst/>
          </a:prstGeom>
        </p:spPr>
      </p:pic>
      <p:cxnSp>
        <p:nvCxnSpPr>
          <p:cNvPr id="30" name="直线连接符 29">
            <a:extLst>
              <a:ext uri="{FF2B5EF4-FFF2-40B4-BE49-F238E27FC236}">
                <a16:creationId xmlns:a16="http://schemas.microsoft.com/office/drawing/2014/main" id="{9B5D5A6C-95BE-6D1B-B9F8-06527442ABDB}"/>
              </a:ext>
            </a:extLst>
          </p:cNvPr>
          <p:cNvCxnSpPr>
            <a:cxnSpLocks/>
          </p:cNvCxnSpPr>
          <p:nvPr/>
        </p:nvCxnSpPr>
        <p:spPr>
          <a:xfrm>
            <a:off x="268942" y="4649910"/>
            <a:ext cx="11519160" cy="0"/>
          </a:xfrm>
          <a:prstGeom prst="line">
            <a:avLst/>
          </a:prstGeom>
          <a:ln w="19050">
            <a:solidFill>
              <a:srgbClr val="2D5695"/>
            </a:solidFill>
            <a:prstDash val="dash"/>
          </a:ln>
        </p:spPr>
        <p:style>
          <a:lnRef idx="1">
            <a:schemeClr val="accent1"/>
          </a:lnRef>
          <a:fillRef idx="0">
            <a:schemeClr val="accent1"/>
          </a:fillRef>
          <a:effectRef idx="0">
            <a:schemeClr val="accent1"/>
          </a:effectRef>
          <a:fontRef idx="minor">
            <a:schemeClr val="tx1"/>
          </a:fontRef>
        </p:style>
      </p:cxnSp>
      <p:sp>
        <p:nvSpPr>
          <p:cNvPr id="33" name="圆角矩形 32">
            <a:extLst>
              <a:ext uri="{FF2B5EF4-FFF2-40B4-BE49-F238E27FC236}">
                <a16:creationId xmlns:a16="http://schemas.microsoft.com/office/drawing/2014/main" id="{689193A7-74EE-F554-D527-8CB8A9A26CF5}"/>
              </a:ext>
            </a:extLst>
          </p:cNvPr>
          <p:cNvSpPr/>
          <p:nvPr/>
        </p:nvSpPr>
        <p:spPr>
          <a:xfrm>
            <a:off x="7679735" y="1355464"/>
            <a:ext cx="314422" cy="774550"/>
          </a:xfrm>
          <a:prstGeom prst="roundRect">
            <a:avLst/>
          </a:prstGeom>
          <a:noFill/>
          <a:ln w="28575">
            <a:solidFill>
              <a:srgbClr val="2D569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25266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p:cTn id="12" dur="500" fill="hold"/>
                                        <p:tgtEl>
                                          <p:spTgt spid="33"/>
                                        </p:tgtEl>
                                        <p:attrNameLst>
                                          <p:attrName>ppt_w</p:attrName>
                                        </p:attrNameLst>
                                      </p:cBhvr>
                                      <p:tavLst>
                                        <p:tav tm="0">
                                          <p:val>
                                            <p:fltVal val="0"/>
                                          </p:val>
                                        </p:tav>
                                        <p:tav tm="100000">
                                          <p:val>
                                            <p:strVal val="#ppt_w"/>
                                          </p:val>
                                        </p:tav>
                                      </p:tavLst>
                                    </p:anim>
                                    <p:anim calcmode="lin" valueType="num">
                                      <p:cBhvr>
                                        <p:cTn id="13" dur="500" fill="hold"/>
                                        <p:tgtEl>
                                          <p:spTgt spid="33"/>
                                        </p:tgtEl>
                                        <p:attrNameLst>
                                          <p:attrName>ppt_h</p:attrName>
                                        </p:attrNameLst>
                                      </p:cBhvr>
                                      <p:tavLst>
                                        <p:tav tm="0">
                                          <p:val>
                                            <p:fltVal val="0"/>
                                          </p:val>
                                        </p:tav>
                                        <p:tav tm="100000">
                                          <p:val>
                                            <p:strVal val="#ppt_h"/>
                                          </p:val>
                                        </p:tav>
                                      </p:tavLst>
                                    </p:anim>
                                    <p:animEffect transition="in" filter="fade">
                                      <p:cBhvr>
                                        <p:cTn id="14" dur="500"/>
                                        <p:tgtEl>
                                          <p:spTgt spid="33"/>
                                        </p:tgtEl>
                                      </p:cBhvr>
                                    </p:animEffect>
                                  </p:childTnLst>
                                </p:cTn>
                              </p:par>
                            </p:childTnLst>
                          </p:cTn>
                        </p:par>
                        <p:par>
                          <p:cTn id="15" fill="hold">
                            <p:stCondLst>
                              <p:cond delay="500"/>
                            </p:stCondLst>
                            <p:childTnLst>
                              <p:par>
                                <p:cTn id="16" presetID="35" presetClass="emph" presetSubtype="0" repeatCount="3000" fill="hold" grpId="1" nodeType="afterEffect">
                                  <p:stCondLst>
                                    <p:cond delay="0"/>
                                  </p:stCondLst>
                                  <p:childTnLst>
                                    <p:anim calcmode="discrete" valueType="str">
                                      <p:cBhvr>
                                        <p:cTn id="17" dur="1000" fill="hold"/>
                                        <p:tgtEl>
                                          <p:spTgt spid="33"/>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ABDAB-B42D-D8E5-2727-67BAA4F9976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D8C1B2-2CF0-2CE3-2E70-7B5D8AFB5B80}"/>
              </a:ext>
            </a:extLst>
          </p:cNvPr>
          <p:cNvSpPr txBox="1"/>
          <p:nvPr/>
        </p:nvSpPr>
        <p:spPr>
          <a:xfrm>
            <a:off x="548640" y="292212"/>
            <a:ext cx="7315200" cy="365760"/>
          </a:xfrm>
          <a:prstGeom prst="rect">
            <a:avLst/>
          </a:prstGeom>
          <a:noFill/>
          <a:ln/>
        </p:spPr>
        <p:txBody>
          <a:bodyPr wrap="square" lIns="0" tIns="0" rIns="0" bIns="0" rtlCol="0" anchor="ctr"/>
          <a:lstStyle/>
          <a:p>
            <a:r>
              <a:rPr lang="en-US" altLang="zh-CN" sz="1400" b="1" kern="0" spc="200" dirty="0">
                <a:solidFill>
                  <a:srgbClr val="5B7A9D"/>
                </a:solidFill>
                <a:latin typeface="Calibri" pitchFamily="34" charset="0"/>
                <a:ea typeface="Calibri" pitchFamily="34" charset="-122"/>
                <a:cs typeface="Calibri" pitchFamily="34" charset="-120"/>
              </a:rPr>
              <a:t>LIMITATIONS &amp; FUTURE WORK</a:t>
            </a:r>
            <a:endParaRPr lang="en-US" altLang="zh-CN" sz="1400" dirty="0"/>
          </a:p>
        </p:txBody>
      </p:sp>
      <p:sp>
        <p:nvSpPr>
          <p:cNvPr id="3" name="Text 1">
            <a:extLst>
              <a:ext uri="{FF2B5EF4-FFF2-40B4-BE49-F238E27FC236}">
                <a16:creationId xmlns:a16="http://schemas.microsoft.com/office/drawing/2014/main" id="{C5A1ACBF-5C68-33F3-461B-A02411CFE980}"/>
              </a:ext>
            </a:extLst>
          </p:cNvPr>
          <p:cNvSpPr txBox="1"/>
          <p:nvPr/>
        </p:nvSpPr>
        <p:spPr>
          <a:xfrm>
            <a:off x="548640" y="478510"/>
            <a:ext cx="11064240" cy="822960"/>
          </a:xfrm>
          <a:prstGeom prst="rect">
            <a:avLst/>
          </a:prstGeom>
          <a:noFill/>
          <a:ln/>
        </p:spPr>
        <p:txBody>
          <a:bodyPr wrap="square" lIns="0" tIns="0" rIns="0" bIns="0" rtlCol="0" anchor="ctr"/>
          <a:lstStyle/>
          <a:p>
            <a:r>
              <a:rPr lang="en-US" altLang="zh-CN" sz="3200" b="1" dirty="0">
                <a:solidFill>
                  <a:srgbClr val="2D5695"/>
                </a:solidFill>
              </a:rPr>
              <a:t>Truncation order sets an accuracy ceiling</a:t>
            </a:r>
            <a:endParaRPr lang="en-US" sz="3200" b="1" dirty="0">
              <a:solidFill>
                <a:srgbClr val="2D5695"/>
              </a:solidFill>
            </a:endParaRPr>
          </a:p>
        </p:txBody>
      </p:sp>
      <p:sp>
        <p:nvSpPr>
          <p:cNvPr id="9" name="Shape 7">
            <a:extLst>
              <a:ext uri="{FF2B5EF4-FFF2-40B4-BE49-F238E27FC236}">
                <a16:creationId xmlns:a16="http://schemas.microsoft.com/office/drawing/2014/main" id="{779679A6-B4AF-BDBD-B935-2E2B8B2514B1}"/>
              </a:ext>
            </a:extLst>
          </p:cNvPr>
          <p:cNvSpPr/>
          <p:nvPr/>
        </p:nvSpPr>
        <p:spPr>
          <a:xfrm>
            <a:off x="664171" y="1571993"/>
            <a:ext cx="9551256" cy="1203791"/>
          </a:xfrm>
          <a:prstGeom prst="roundRect">
            <a:avLst>
              <a:gd name="adj" fmla="val 5668"/>
            </a:avLst>
          </a:prstGeom>
          <a:solidFill>
            <a:srgbClr val="E9EEF6"/>
          </a:solidFill>
          <a:ln/>
        </p:spPr>
        <p:txBody>
          <a:bodyPr/>
          <a:lstStyle/>
          <a:p>
            <a:endParaRPr lang="zh-CN" altLang="en-US" dirty="0"/>
          </a:p>
        </p:txBody>
      </p:sp>
      <p:sp>
        <p:nvSpPr>
          <p:cNvPr id="12" name="Text 10">
            <a:extLst>
              <a:ext uri="{FF2B5EF4-FFF2-40B4-BE49-F238E27FC236}">
                <a16:creationId xmlns:a16="http://schemas.microsoft.com/office/drawing/2014/main" id="{75382BAF-5A3D-59B0-EFBF-7656656214AC}"/>
              </a:ext>
            </a:extLst>
          </p:cNvPr>
          <p:cNvSpPr txBox="1"/>
          <p:nvPr/>
        </p:nvSpPr>
        <p:spPr>
          <a:xfrm>
            <a:off x="1127459" y="1638388"/>
            <a:ext cx="3443424" cy="379513"/>
          </a:xfrm>
          <a:prstGeom prst="rect">
            <a:avLst/>
          </a:prstGeom>
          <a:noFill/>
          <a:ln/>
        </p:spPr>
        <p:txBody>
          <a:bodyPr wrap="square" lIns="0" tIns="0" rIns="0" bIns="0" rtlCol="0" anchor="ctr"/>
          <a:lstStyle/>
          <a:p>
            <a:r>
              <a:rPr lang="en-US" altLang="zh-CN" sz="1600" b="1" dirty="0">
                <a:solidFill>
                  <a:srgbClr val="13294B"/>
                </a:solidFill>
                <a:latin typeface="Georgia" panose="02040502050405020303" pitchFamily="18" charset="0"/>
              </a:rPr>
              <a:t>Wide-field accuracy</a:t>
            </a:r>
            <a:endParaRPr lang="en-US" sz="1600" b="1" dirty="0">
              <a:solidFill>
                <a:srgbClr val="13294B"/>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13" name="Text 11">
                <a:extLst>
                  <a:ext uri="{FF2B5EF4-FFF2-40B4-BE49-F238E27FC236}">
                    <a16:creationId xmlns:a16="http://schemas.microsoft.com/office/drawing/2014/main" id="{DC6D4F02-9B8F-EB17-9960-65BFD89477B9}"/>
                  </a:ext>
                </a:extLst>
              </p:cNvPr>
              <p:cNvSpPr txBox="1"/>
              <p:nvPr/>
            </p:nvSpPr>
            <p:spPr>
              <a:xfrm>
                <a:off x="1127459" y="1713229"/>
                <a:ext cx="7694746" cy="1151680"/>
              </a:xfrm>
              <a:prstGeom prst="rect">
                <a:avLst/>
              </a:prstGeom>
              <a:noFill/>
              <a:ln/>
            </p:spPr>
            <p:txBody>
              <a:bodyPr wrap="square" lIns="0" tIns="0" rIns="0" bIns="0" rtlCol="0" anchor="ctr"/>
              <a:lstStyle/>
              <a:p>
                <a:pPr>
                  <a:lnSpc>
                    <a:spcPct val="150000"/>
                  </a:lnSpc>
                </a:pPr>
                <a:r>
                  <a:rPr lang="en-US" altLang="zh-CN" sz="1600" dirty="0">
                    <a:solidFill>
                      <a:srgbClr val="1F3A63"/>
                    </a:solidFill>
                  </a:rPr>
                  <a:t>9th-order truncation matches ray tracing to </a:t>
                </a:r>
                <a14:m>
                  <m:oMath xmlns:m="http://schemas.openxmlformats.org/officeDocument/2006/math">
                    <m:sSup>
                      <m:sSupPr>
                        <m:ctrlPr>
                          <a:rPr kumimoji="1" lang="en-US" altLang="zh-CN" sz="1600" i="1">
                            <a:solidFill>
                              <a:srgbClr val="1F3A63"/>
                            </a:solidFill>
                            <a:latin typeface="Cambria Math" panose="02040503050406030204" pitchFamily="18" charset="0"/>
                          </a:rPr>
                        </m:ctrlPr>
                      </m:sSupPr>
                      <m:e>
                        <m:r>
                          <a:rPr kumimoji="1" lang="en-US" altLang="zh-CN" sz="1600" i="1">
                            <a:solidFill>
                              <a:srgbClr val="1F3A63"/>
                            </a:solidFill>
                            <a:latin typeface="Cambria Math" panose="02040503050406030204" pitchFamily="18" charset="0"/>
                          </a:rPr>
                          <m:t>60</m:t>
                        </m:r>
                      </m:e>
                      <m:sup>
                        <m:r>
                          <a:rPr kumimoji="1" lang="en-US" altLang="zh-CN" sz="1600" i="1">
                            <a:solidFill>
                              <a:srgbClr val="1F3A63"/>
                            </a:solidFill>
                            <a:latin typeface="Cambria Math" panose="02040503050406030204" pitchFamily="18" charset="0"/>
                          </a:rPr>
                          <m:t>∘</m:t>
                        </m:r>
                      </m:sup>
                    </m:sSup>
                  </m:oMath>
                </a14:m>
                <a:r>
                  <a:rPr lang="en-US" altLang="zh-CN" sz="1600" dirty="0">
                    <a:solidFill>
                      <a:srgbClr val="1F3A63"/>
                    </a:solidFill>
                  </a:rPr>
                  <a:t> </a:t>
                </a:r>
                <a:r>
                  <a:rPr lang="en-US" altLang="zh-CN" sz="1600" dirty="0" err="1">
                    <a:solidFill>
                      <a:srgbClr val="1F3A63"/>
                    </a:solidFill>
                  </a:rPr>
                  <a:t>FoV</a:t>
                </a:r>
                <a:r>
                  <a:rPr lang="en-US" altLang="zh-CN" sz="1600" dirty="0">
                    <a:solidFill>
                      <a:srgbClr val="1F3A63"/>
                    </a:solidFill>
                  </a:rPr>
                  <a:t>, with degraded accuracy at lens fringes.</a:t>
                </a:r>
              </a:p>
              <a:p>
                <a:pPr>
                  <a:lnSpc>
                    <a:spcPct val="150000"/>
                  </a:lnSpc>
                </a:pPr>
                <a:r>
                  <a:rPr lang="en-US" sz="1600" dirty="0">
                    <a:solidFill>
                      <a:srgbClr val="1F3A63"/>
                    </a:solidFill>
                  </a:rPr>
                  <a:t>Higher truncation order reaches accuracy across the full </a:t>
                </a:r>
                <a:r>
                  <a:rPr lang="en-US" sz="1600" dirty="0" err="1">
                    <a:solidFill>
                      <a:srgbClr val="1F3A63"/>
                    </a:solidFill>
                  </a:rPr>
                  <a:t>FoV</a:t>
                </a:r>
                <a:r>
                  <a:rPr lang="en-US" sz="1600" dirty="0">
                    <a:solidFill>
                      <a:srgbClr val="1F3A63"/>
                    </a:solidFill>
                  </a:rPr>
                  <a:t>*.</a:t>
                </a:r>
              </a:p>
            </p:txBody>
          </p:sp>
        </mc:Choice>
        <mc:Fallback xmlns="">
          <p:sp>
            <p:nvSpPr>
              <p:cNvPr id="13" name="Text 11">
                <a:extLst>
                  <a:ext uri="{FF2B5EF4-FFF2-40B4-BE49-F238E27FC236}">
                    <a16:creationId xmlns:a16="http://schemas.microsoft.com/office/drawing/2014/main" id="{DC6D4F02-9B8F-EB17-9960-65BFD89477B9}"/>
                  </a:ext>
                </a:extLst>
              </p:cNvPr>
              <p:cNvSpPr txBox="1">
                <a:spLocks noRot="1" noChangeAspect="1" noMove="1" noResize="1" noEditPoints="1" noAdjustHandles="1" noChangeArrowheads="1" noChangeShapeType="1" noTextEdit="1"/>
              </p:cNvSpPr>
              <p:nvPr/>
            </p:nvSpPr>
            <p:spPr>
              <a:xfrm>
                <a:off x="1127459" y="1713229"/>
                <a:ext cx="7694746" cy="1151680"/>
              </a:xfrm>
              <a:prstGeom prst="rect">
                <a:avLst/>
              </a:prstGeom>
              <a:blipFill>
                <a:blip r:embed="rId3"/>
                <a:stretch>
                  <a:fillRect l="-1483"/>
                </a:stretch>
              </a:blipFill>
              <a:ln/>
            </p:spPr>
            <p:txBody>
              <a:bodyPr/>
              <a:lstStyle/>
              <a:p>
                <a:r>
                  <a:rPr lang="zh-CN" altLang="en-US">
                    <a:noFill/>
                  </a:rPr>
                  <a:t> </a:t>
                </a:r>
              </a:p>
            </p:txBody>
          </p:sp>
        </mc:Fallback>
      </mc:AlternateContent>
      <p:sp>
        <p:nvSpPr>
          <p:cNvPr id="142" name="文本框 141">
            <a:extLst>
              <a:ext uri="{FF2B5EF4-FFF2-40B4-BE49-F238E27FC236}">
                <a16:creationId xmlns:a16="http://schemas.microsoft.com/office/drawing/2014/main" id="{ABF77489-ED8E-B0DA-8D2F-C7DBF993FEE8}"/>
              </a:ext>
            </a:extLst>
          </p:cNvPr>
          <p:cNvSpPr txBox="1"/>
          <p:nvPr/>
        </p:nvSpPr>
        <p:spPr>
          <a:xfrm>
            <a:off x="8916546" y="6446520"/>
            <a:ext cx="3287486" cy="276999"/>
          </a:xfrm>
          <a:prstGeom prst="rect">
            <a:avLst/>
          </a:prstGeom>
          <a:noFill/>
        </p:spPr>
        <p:txBody>
          <a:bodyPr wrap="square">
            <a:spAutoFit/>
          </a:bodyPr>
          <a:lstStyle/>
          <a:p>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Haosheng Shi, Praneeth </a:t>
            </a:r>
            <a:r>
              <a:rPr lang="en-US" altLang="zh-CN" sz="1200" dirty="0" err="1">
                <a:solidFill>
                  <a:srgbClr val="8A97A8"/>
                </a:solidFill>
                <a:latin typeface="Gill Sans" panose="020B0502020104020203" pitchFamily="34" charset="-79"/>
                <a:ea typeface="Calibri" pitchFamily="34" charset="-122"/>
                <a:cs typeface="Gill Sans" panose="020B0502020104020203" pitchFamily="34" charset="-79"/>
              </a:rPr>
              <a:t>Chakravarthula</a:t>
            </a:r>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  ·   8</a:t>
            </a:r>
            <a:endParaRPr lang="en-US" altLang="zh-CN" sz="1200" dirty="0">
              <a:solidFill>
                <a:srgbClr val="8A97A8"/>
              </a:solidFill>
              <a:latin typeface="Gill Sans" panose="020B0502020104020203" pitchFamily="34" charset="-79"/>
              <a:cs typeface="Gill Sans" panose="020B0502020104020203" pitchFamily="34" charset="-79"/>
            </a:endParaRPr>
          </a:p>
        </p:txBody>
      </p:sp>
      <p:pic>
        <p:nvPicPr>
          <p:cNvPr id="25" name="图片 24">
            <a:extLst>
              <a:ext uri="{FF2B5EF4-FFF2-40B4-BE49-F238E27FC236}">
                <a16:creationId xmlns:a16="http://schemas.microsoft.com/office/drawing/2014/main" id="{ADEDBE98-0DED-161F-5B4E-D8E5F6655561}"/>
              </a:ext>
            </a:extLst>
          </p:cNvPr>
          <p:cNvPicPr>
            <a:picLocks noChangeAspect="1"/>
          </p:cNvPicPr>
          <p:nvPr/>
        </p:nvPicPr>
        <p:blipFill>
          <a:blip r:embed="rId4"/>
          <a:stretch>
            <a:fillRect/>
          </a:stretch>
        </p:blipFill>
        <p:spPr>
          <a:xfrm>
            <a:off x="561263" y="3144781"/>
            <a:ext cx="3140924" cy="1864452"/>
          </a:xfrm>
          <a:prstGeom prst="rect">
            <a:avLst/>
          </a:prstGeom>
        </p:spPr>
      </p:pic>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FB216BD-CCB2-28DE-CDB6-180B528291DE}"/>
                  </a:ext>
                </a:extLst>
              </p:cNvPr>
              <p:cNvSpPr txBox="1"/>
              <p:nvPr/>
            </p:nvSpPr>
            <p:spPr>
              <a:xfrm>
                <a:off x="1806451" y="5538113"/>
                <a:ext cx="9942525" cy="379527"/>
              </a:xfrm>
              <a:prstGeom prst="rect">
                <a:avLst/>
              </a:prstGeom>
              <a:noFill/>
            </p:spPr>
            <p:txBody>
              <a:bodyPr wrap="square" rtlCol="0">
                <a:spAutoFit/>
              </a:bodyPr>
              <a:lstStyle/>
              <a:p>
                <a:r>
                  <a:rPr kumimoji="1" lang="en-US" altLang="zh-CN" dirty="0">
                    <a:solidFill>
                      <a:srgbClr val="1F3A63"/>
                    </a:solidFill>
                    <a:latin typeface="Palatino" pitchFamily="2" charset="0"/>
                    <a:ea typeface="Palatino" pitchFamily="2" charset="0"/>
                  </a:rPr>
                  <a:t>Field of View (Full)</a:t>
                </a:r>
                <a:r>
                  <a:rPr kumimoji="1" lang="en-US" altLang="zh-CN" dirty="0">
                    <a:solidFill>
                      <a:srgbClr val="1F3A63"/>
                    </a:solidFill>
                  </a:rPr>
                  <a:t>                   </a:t>
                </a:r>
                <a14:m>
                  <m:oMath xmlns:m="http://schemas.openxmlformats.org/officeDocument/2006/math">
                    <m:sSup>
                      <m:sSupPr>
                        <m:ctrlPr>
                          <a:rPr kumimoji="1" lang="en-US" altLang="zh-CN" b="0" i="1" smtClean="0">
                            <a:solidFill>
                              <a:srgbClr val="1F3A63"/>
                            </a:solidFill>
                            <a:latin typeface="Cambria Math" panose="02040503050406030204" pitchFamily="18" charset="0"/>
                          </a:rPr>
                        </m:ctrlPr>
                      </m:sSupPr>
                      <m:e>
                        <m:r>
                          <a:rPr kumimoji="1" lang="en-US" altLang="zh-CN" b="0" i="1" smtClean="0">
                            <a:solidFill>
                              <a:srgbClr val="1F3A63"/>
                            </a:solidFill>
                            <a:latin typeface="Cambria Math" panose="02040503050406030204" pitchFamily="18" charset="0"/>
                          </a:rPr>
                          <m:t>0</m:t>
                        </m:r>
                      </m:e>
                      <m:sup>
                        <m:r>
                          <a:rPr kumimoji="1" lang="en-US" altLang="zh-CN" i="1">
                            <a:solidFill>
                              <a:srgbClr val="1F3A63"/>
                            </a:solidFill>
                            <a:latin typeface="Cambria Math" panose="02040503050406030204" pitchFamily="18" charset="0"/>
                          </a:rPr>
                          <m:t>∘</m:t>
                        </m:r>
                      </m:sup>
                    </m:sSup>
                  </m:oMath>
                </a14:m>
                <a:r>
                  <a:rPr kumimoji="1" lang="en-US" altLang="zh-CN" dirty="0">
                    <a:solidFill>
                      <a:srgbClr val="1F3A63"/>
                    </a:solidFill>
                  </a:rPr>
                  <a:t>                              </a:t>
                </a:r>
                <a14:m>
                  <m:oMath xmlns:m="http://schemas.openxmlformats.org/officeDocument/2006/math">
                    <m:sSup>
                      <m:sSupPr>
                        <m:ctrlPr>
                          <a:rPr kumimoji="1" lang="en-US" altLang="zh-CN" i="1">
                            <a:solidFill>
                              <a:srgbClr val="1F3A63"/>
                            </a:solidFill>
                            <a:latin typeface="Cambria Math" panose="02040503050406030204" pitchFamily="18" charset="0"/>
                          </a:rPr>
                        </m:ctrlPr>
                      </m:sSupPr>
                      <m:e>
                        <m:r>
                          <a:rPr kumimoji="1" lang="en-US" altLang="zh-CN" b="0" i="1" smtClean="0">
                            <a:solidFill>
                              <a:srgbClr val="1F3A63"/>
                            </a:solidFill>
                            <a:latin typeface="Cambria Math" panose="02040503050406030204" pitchFamily="18" charset="0"/>
                          </a:rPr>
                          <m:t> 40</m:t>
                        </m:r>
                      </m:e>
                      <m:sup>
                        <m:r>
                          <a:rPr kumimoji="1" lang="en-US" altLang="zh-CN" i="1">
                            <a:solidFill>
                              <a:srgbClr val="1F3A63"/>
                            </a:solidFill>
                            <a:latin typeface="Cambria Math" panose="02040503050406030204" pitchFamily="18" charset="0"/>
                          </a:rPr>
                          <m:t>∘</m:t>
                        </m:r>
                      </m:sup>
                    </m:sSup>
                  </m:oMath>
                </a14:m>
                <a:r>
                  <a:rPr kumimoji="1" lang="en-US" altLang="zh-CN" dirty="0">
                    <a:solidFill>
                      <a:srgbClr val="1F3A63"/>
                    </a:solidFill>
                  </a:rPr>
                  <a:t>                                </a:t>
                </a:r>
                <a14:m>
                  <m:oMath xmlns:m="http://schemas.openxmlformats.org/officeDocument/2006/math">
                    <m:sSup>
                      <m:sSupPr>
                        <m:ctrlPr>
                          <a:rPr kumimoji="1" lang="en-US" altLang="zh-CN" i="1">
                            <a:solidFill>
                              <a:srgbClr val="1F3A63"/>
                            </a:solidFill>
                            <a:latin typeface="Cambria Math" panose="02040503050406030204" pitchFamily="18" charset="0"/>
                          </a:rPr>
                        </m:ctrlPr>
                      </m:sSupPr>
                      <m:e>
                        <m:r>
                          <a:rPr kumimoji="1" lang="en-US" altLang="zh-CN" b="0" i="1" smtClean="0">
                            <a:solidFill>
                              <a:srgbClr val="1F3A63"/>
                            </a:solidFill>
                            <a:latin typeface="Cambria Math" panose="02040503050406030204" pitchFamily="18" charset="0"/>
                          </a:rPr>
                          <m:t>6</m:t>
                        </m:r>
                        <m:r>
                          <a:rPr kumimoji="1" lang="en-US" altLang="zh-CN" i="1">
                            <a:solidFill>
                              <a:srgbClr val="1F3A63"/>
                            </a:solidFill>
                            <a:latin typeface="Cambria Math" panose="02040503050406030204" pitchFamily="18" charset="0"/>
                          </a:rPr>
                          <m:t>0</m:t>
                        </m:r>
                      </m:e>
                      <m:sup>
                        <m:r>
                          <a:rPr kumimoji="1" lang="en-US" altLang="zh-CN" i="1">
                            <a:solidFill>
                              <a:srgbClr val="1F3A63"/>
                            </a:solidFill>
                            <a:latin typeface="Cambria Math" panose="02040503050406030204" pitchFamily="18" charset="0"/>
                          </a:rPr>
                          <m:t>∘</m:t>
                        </m:r>
                      </m:sup>
                    </m:sSup>
                  </m:oMath>
                </a14:m>
                <a:r>
                  <a:rPr kumimoji="1" lang="en-US" altLang="zh-CN" dirty="0">
                    <a:solidFill>
                      <a:srgbClr val="1F3A63"/>
                    </a:solidFill>
                  </a:rPr>
                  <a:t>                               </a:t>
                </a:r>
                <a14:m>
                  <m:oMath xmlns:m="http://schemas.openxmlformats.org/officeDocument/2006/math">
                    <m:sSup>
                      <m:sSupPr>
                        <m:ctrlPr>
                          <a:rPr kumimoji="1" lang="en-US" altLang="zh-CN" i="1">
                            <a:solidFill>
                              <a:srgbClr val="1F3A63"/>
                            </a:solidFill>
                            <a:latin typeface="Cambria Math" panose="02040503050406030204" pitchFamily="18" charset="0"/>
                          </a:rPr>
                        </m:ctrlPr>
                      </m:sSupPr>
                      <m:e>
                        <m:r>
                          <a:rPr kumimoji="1" lang="en-US" altLang="zh-CN" b="0" i="1" smtClean="0">
                            <a:solidFill>
                              <a:srgbClr val="1F3A63"/>
                            </a:solidFill>
                            <a:latin typeface="Cambria Math" panose="02040503050406030204" pitchFamily="18" charset="0"/>
                          </a:rPr>
                          <m:t>80</m:t>
                        </m:r>
                      </m:e>
                      <m:sup>
                        <m:r>
                          <a:rPr kumimoji="1" lang="en-US" altLang="zh-CN" i="1">
                            <a:solidFill>
                              <a:srgbClr val="1F3A63"/>
                            </a:solidFill>
                            <a:latin typeface="Cambria Math" panose="02040503050406030204" pitchFamily="18" charset="0"/>
                          </a:rPr>
                          <m:t>∘</m:t>
                        </m:r>
                      </m:sup>
                    </m:sSup>
                  </m:oMath>
                </a14:m>
                <a:endParaRPr kumimoji="1" lang="zh-CN" altLang="en-US" dirty="0">
                  <a:solidFill>
                    <a:srgbClr val="1F3A63"/>
                  </a:solidFill>
                </a:endParaRPr>
              </a:p>
            </p:txBody>
          </p:sp>
        </mc:Choice>
        <mc:Fallback xmlns="">
          <p:sp>
            <p:nvSpPr>
              <p:cNvPr id="29" name="文本框 28">
                <a:extLst>
                  <a:ext uri="{FF2B5EF4-FFF2-40B4-BE49-F238E27FC236}">
                    <a16:creationId xmlns:a16="http://schemas.microsoft.com/office/drawing/2014/main" id="{0FB216BD-CCB2-28DE-CDB6-180B528291DE}"/>
                  </a:ext>
                </a:extLst>
              </p:cNvPr>
              <p:cNvSpPr txBox="1">
                <a:spLocks noRot="1" noChangeAspect="1" noMove="1" noResize="1" noEditPoints="1" noAdjustHandles="1" noChangeArrowheads="1" noChangeShapeType="1" noTextEdit="1"/>
              </p:cNvSpPr>
              <p:nvPr/>
            </p:nvSpPr>
            <p:spPr>
              <a:xfrm>
                <a:off x="1806451" y="5538113"/>
                <a:ext cx="9942525" cy="379527"/>
              </a:xfrm>
              <a:prstGeom prst="rect">
                <a:avLst/>
              </a:prstGeom>
              <a:blipFill>
                <a:blip r:embed="rId6"/>
                <a:stretch>
                  <a:fillRect l="-511" t="-6250" b="-15625"/>
                </a:stretch>
              </a:blipFill>
            </p:spPr>
            <p:txBody>
              <a:bodyPr/>
              <a:lstStyle/>
              <a:p>
                <a:r>
                  <a:rPr lang="zh-CN" altLang="en-US">
                    <a:noFill/>
                  </a:rPr>
                  <a:t> </a:t>
                </a:r>
              </a:p>
            </p:txBody>
          </p:sp>
        </mc:Fallback>
      </mc:AlternateContent>
      <p:pic>
        <p:nvPicPr>
          <p:cNvPr id="31" name="图片 30">
            <a:extLst>
              <a:ext uri="{FF2B5EF4-FFF2-40B4-BE49-F238E27FC236}">
                <a16:creationId xmlns:a16="http://schemas.microsoft.com/office/drawing/2014/main" id="{C3AE0523-9910-57D7-48C2-35C6A8F23935}"/>
              </a:ext>
            </a:extLst>
          </p:cNvPr>
          <p:cNvPicPr>
            <a:picLocks noChangeAspect="1"/>
          </p:cNvPicPr>
          <p:nvPr/>
        </p:nvPicPr>
        <p:blipFill>
          <a:blip r:embed="rId7"/>
          <a:stretch>
            <a:fillRect/>
          </a:stretch>
        </p:blipFill>
        <p:spPr>
          <a:xfrm>
            <a:off x="3840480" y="3170193"/>
            <a:ext cx="7772400" cy="2317030"/>
          </a:xfrm>
          <a:prstGeom prst="rect">
            <a:avLst/>
          </a:prstGeom>
        </p:spPr>
      </p:pic>
      <p:sp>
        <p:nvSpPr>
          <p:cNvPr id="32" name="文本框 31">
            <a:extLst>
              <a:ext uri="{FF2B5EF4-FFF2-40B4-BE49-F238E27FC236}">
                <a16:creationId xmlns:a16="http://schemas.microsoft.com/office/drawing/2014/main" id="{2D4C639C-FF4D-4EB5-F791-67595C57B73C}"/>
              </a:ext>
            </a:extLst>
          </p:cNvPr>
          <p:cNvSpPr txBox="1"/>
          <p:nvPr/>
        </p:nvSpPr>
        <p:spPr>
          <a:xfrm>
            <a:off x="4007645" y="2958481"/>
            <a:ext cx="397189" cy="584775"/>
          </a:xfrm>
          <a:prstGeom prst="rect">
            <a:avLst/>
          </a:prstGeom>
          <a:solidFill>
            <a:schemeClr val="bg1">
              <a:alpha val="38778"/>
            </a:schemeClr>
          </a:solidFill>
        </p:spPr>
        <p:txBody>
          <a:bodyPr wrap="square" rtlCol="0">
            <a:spAutoFit/>
          </a:bodyPr>
          <a:lstStyle/>
          <a:p>
            <a:r>
              <a:rPr kumimoji="1" lang="en-US" altLang="zh-CN" sz="3200" b="1" dirty="0">
                <a:solidFill>
                  <a:schemeClr val="accent6">
                    <a:lumMod val="75000"/>
                  </a:schemeClr>
                </a:solidFill>
              </a:rPr>
              <a:t>✓</a:t>
            </a:r>
            <a:endParaRPr kumimoji="1" lang="zh-CN" altLang="en-US" sz="3200" b="1" dirty="0">
              <a:solidFill>
                <a:schemeClr val="accent6">
                  <a:lumMod val="75000"/>
                </a:schemeClr>
              </a:solidFill>
            </a:endParaRPr>
          </a:p>
        </p:txBody>
      </p:sp>
      <p:sp>
        <p:nvSpPr>
          <p:cNvPr id="33" name="文本框 32">
            <a:extLst>
              <a:ext uri="{FF2B5EF4-FFF2-40B4-BE49-F238E27FC236}">
                <a16:creationId xmlns:a16="http://schemas.microsoft.com/office/drawing/2014/main" id="{6960AE6D-2B8A-1FBF-72CA-219F18E9354E}"/>
              </a:ext>
            </a:extLst>
          </p:cNvPr>
          <p:cNvSpPr txBox="1"/>
          <p:nvPr/>
        </p:nvSpPr>
        <p:spPr>
          <a:xfrm>
            <a:off x="5897405" y="2958480"/>
            <a:ext cx="397189" cy="584775"/>
          </a:xfrm>
          <a:prstGeom prst="rect">
            <a:avLst/>
          </a:prstGeom>
          <a:solidFill>
            <a:schemeClr val="bg1">
              <a:alpha val="38778"/>
            </a:schemeClr>
          </a:solidFill>
        </p:spPr>
        <p:txBody>
          <a:bodyPr wrap="square" rtlCol="0">
            <a:spAutoFit/>
          </a:bodyPr>
          <a:lstStyle/>
          <a:p>
            <a:r>
              <a:rPr kumimoji="1" lang="en-US" altLang="zh-CN" sz="3200" b="1" dirty="0">
                <a:solidFill>
                  <a:schemeClr val="accent6">
                    <a:lumMod val="75000"/>
                  </a:schemeClr>
                </a:solidFill>
              </a:rPr>
              <a:t>✓</a:t>
            </a:r>
            <a:endParaRPr kumimoji="1" lang="zh-CN" altLang="en-US" sz="3200" b="1" dirty="0">
              <a:solidFill>
                <a:schemeClr val="accent6">
                  <a:lumMod val="75000"/>
                </a:schemeClr>
              </a:solidFill>
            </a:endParaRPr>
          </a:p>
        </p:txBody>
      </p:sp>
      <p:sp>
        <p:nvSpPr>
          <p:cNvPr id="34" name="文本框 33">
            <a:extLst>
              <a:ext uri="{FF2B5EF4-FFF2-40B4-BE49-F238E27FC236}">
                <a16:creationId xmlns:a16="http://schemas.microsoft.com/office/drawing/2014/main" id="{917EC9A7-E98A-DA1A-ED05-6905C6D3322B}"/>
              </a:ext>
            </a:extLst>
          </p:cNvPr>
          <p:cNvSpPr txBox="1"/>
          <p:nvPr/>
        </p:nvSpPr>
        <p:spPr>
          <a:xfrm>
            <a:off x="7913337" y="2962927"/>
            <a:ext cx="397189" cy="584775"/>
          </a:xfrm>
          <a:prstGeom prst="rect">
            <a:avLst/>
          </a:prstGeom>
          <a:solidFill>
            <a:schemeClr val="bg1">
              <a:alpha val="38778"/>
            </a:schemeClr>
          </a:solidFill>
        </p:spPr>
        <p:txBody>
          <a:bodyPr wrap="square" rtlCol="0">
            <a:spAutoFit/>
          </a:bodyPr>
          <a:lstStyle/>
          <a:p>
            <a:r>
              <a:rPr kumimoji="1" lang="en-US" altLang="zh-CN" sz="3200" b="1" dirty="0">
                <a:solidFill>
                  <a:schemeClr val="accent6">
                    <a:lumMod val="75000"/>
                  </a:schemeClr>
                </a:solidFill>
              </a:rPr>
              <a:t>✓</a:t>
            </a:r>
            <a:endParaRPr kumimoji="1" lang="zh-CN" altLang="en-US" sz="3200" b="1" dirty="0">
              <a:solidFill>
                <a:schemeClr val="accent6">
                  <a:lumMod val="75000"/>
                </a:schemeClr>
              </a:solidFill>
            </a:endParaRPr>
          </a:p>
        </p:txBody>
      </p:sp>
      <p:sp>
        <p:nvSpPr>
          <p:cNvPr id="35" name="文本框 34">
            <a:extLst>
              <a:ext uri="{FF2B5EF4-FFF2-40B4-BE49-F238E27FC236}">
                <a16:creationId xmlns:a16="http://schemas.microsoft.com/office/drawing/2014/main" id="{78D84AC0-B72A-1CAC-F80D-99173F337A77}"/>
              </a:ext>
            </a:extLst>
          </p:cNvPr>
          <p:cNvSpPr txBox="1"/>
          <p:nvPr/>
        </p:nvSpPr>
        <p:spPr>
          <a:xfrm>
            <a:off x="9897370" y="3108670"/>
            <a:ext cx="397189" cy="400110"/>
          </a:xfrm>
          <a:prstGeom prst="rect">
            <a:avLst/>
          </a:prstGeom>
          <a:solidFill>
            <a:schemeClr val="bg1">
              <a:alpha val="38778"/>
            </a:schemeClr>
          </a:solidFill>
        </p:spPr>
        <p:txBody>
          <a:bodyPr wrap="square" rtlCol="0">
            <a:spAutoFit/>
          </a:bodyPr>
          <a:lstStyle/>
          <a:p>
            <a:r>
              <a:rPr kumimoji="1" lang="en-US" altLang="zh-CN" sz="2000" b="1" dirty="0">
                <a:solidFill>
                  <a:schemeClr val="accent6">
                    <a:lumMod val="75000"/>
                  </a:schemeClr>
                </a:solidFill>
              </a:rPr>
              <a:t>❌</a:t>
            </a:r>
            <a:endParaRPr kumimoji="1" lang="zh-CN" altLang="en-US" sz="3200" b="1" dirty="0">
              <a:solidFill>
                <a:schemeClr val="accent6">
                  <a:lumMod val="75000"/>
                </a:schemeClr>
              </a:solidFill>
            </a:endParaRP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49B34E61-95A3-5916-91AC-EAF755EB148B}"/>
                  </a:ext>
                </a:extLst>
              </p:cNvPr>
              <p:cNvSpPr txBox="1"/>
              <p:nvPr/>
            </p:nvSpPr>
            <p:spPr>
              <a:xfrm>
                <a:off x="544628" y="6078491"/>
                <a:ext cx="7765898" cy="338554"/>
              </a:xfrm>
              <a:prstGeom prst="rect">
                <a:avLst/>
              </a:prstGeom>
              <a:noFill/>
            </p:spPr>
            <p:txBody>
              <a:bodyPr wrap="square">
                <a:spAutoFit/>
              </a:bodyPr>
              <a:lstStyle/>
              <a:p>
                <a:r>
                  <a:rPr lang="en-US" altLang="zh-CN" sz="1600" i="1" dirty="0">
                    <a:solidFill>
                      <a:srgbClr val="8A97A8"/>
                    </a:solidFill>
                    <a:latin typeface="Calibri" pitchFamily="34" charset="0"/>
                    <a:ea typeface="Calibri" pitchFamily="34" charset="-122"/>
                    <a:cs typeface="Calibri" pitchFamily="34" charset="-120"/>
                  </a:rPr>
                  <a:t> </a:t>
                </a:r>
                <a14:m>
                  <m:oMath xmlns:m="http://schemas.openxmlformats.org/officeDocument/2006/math">
                    <m:sSup>
                      <m:sSupPr>
                        <m:ctrlPr>
                          <a:rPr lang="en-US" altLang="zh-CN" sz="1600" i="1">
                            <a:solidFill>
                              <a:srgbClr val="1F3A63"/>
                            </a:solidFill>
                            <a:latin typeface="Cambria Math" panose="02040503050406030204" pitchFamily="18" charset="0"/>
                          </a:rPr>
                        </m:ctrlPr>
                      </m:sSupPr>
                      <m:e>
                        <m:r>
                          <a:rPr lang="en-US" altLang="zh-CN" sz="1600" i="1" smtClean="0">
                            <a:solidFill>
                              <a:schemeClr val="bg1"/>
                            </a:solidFill>
                            <a:latin typeface="Cambria Math" panose="02040503050406030204" pitchFamily="18" charset="0"/>
                          </a:rPr>
                          <m:t>.</m:t>
                        </m:r>
                      </m:e>
                      <m:sup>
                        <m:r>
                          <a:rPr lang="en-US" altLang="zh-CN" sz="1600" b="0" i="1" smtClean="0">
                            <a:solidFill>
                              <a:srgbClr val="1F3A63"/>
                            </a:solidFill>
                            <a:latin typeface="Cambria Math" panose="02040503050406030204" pitchFamily="18" charset="0"/>
                          </a:rPr>
                          <m:t>∗</m:t>
                        </m:r>
                      </m:sup>
                    </m:sSup>
                  </m:oMath>
                </a14:m>
                <a:r>
                  <a:rPr lang="en-US" altLang="zh-CN" sz="1600" dirty="0"/>
                  <a:t> </a:t>
                </a:r>
                <a:r>
                  <a:rPr lang="en-US" altLang="zh-CN" sz="1600" b="1" dirty="0">
                    <a:solidFill>
                      <a:srgbClr val="1F3A63"/>
                    </a:solidFill>
                  </a:rPr>
                  <a:t>Schrade et al. 2016.</a:t>
                </a:r>
                <a:r>
                  <a:rPr lang="en-US" altLang="zh-CN" sz="1600" dirty="0">
                    <a:solidFill>
                      <a:srgbClr val="1F3A63"/>
                    </a:solidFill>
                  </a:rPr>
                  <a:t> Sparse High-degree Polynomials for Wide-angle Lenses. </a:t>
                </a:r>
                <a:r>
                  <a:rPr lang="en-US" altLang="zh-CN" sz="1600" i="1" dirty="0">
                    <a:solidFill>
                      <a:srgbClr val="1F3A63"/>
                    </a:solidFill>
                  </a:rPr>
                  <a:t>CGF</a:t>
                </a:r>
                <a:r>
                  <a:rPr lang="en-US" altLang="zh-CN" sz="1600" dirty="0">
                    <a:solidFill>
                      <a:srgbClr val="1F3A63"/>
                    </a:solidFill>
                  </a:rPr>
                  <a:t> 35, 4.</a:t>
                </a:r>
              </a:p>
            </p:txBody>
          </p:sp>
        </mc:Choice>
        <mc:Fallback xmlns="">
          <p:sp>
            <p:nvSpPr>
              <p:cNvPr id="36" name="文本框 35">
                <a:extLst>
                  <a:ext uri="{FF2B5EF4-FFF2-40B4-BE49-F238E27FC236}">
                    <a16:creationId xmlns:a16="http://schemas.microsoft.com/office/drawing/2014/main" id="{49B34E61-95A3-5916-91AC-EAF755EB148B}"/>
                  </a:ext>
                </a:extLst>
              </p:cNvPr>
              <p:cNvSpPr txBox="1">
                <a:spLocks noRot="1" noChangeAspect="1" noMove="1" noResize="1" noEditPoints="1" noAdjustHandles="1" noChangeArrowheads="1" noChangeShapeType="1" noTextEdit="1"/>
              </p:cNvSpPr>
              <p:nvPr/>
            </p:nvSpPr>
            <p:spPr>
              <a:xfrm>
                <a:off x="544628" y="6078491"/>
                <a:ext cx="7765898" cy="338554"/>
              </a:xfrm>
              <a:prstGeom prst="rect">
                <a:avLst/>
              </a:prstGeom>
              <a:blipFill>
                <a:blip r:embed="rId8"/>
                <a:stretch>
                  <a:fillRect t="-3571" b="-21429"/>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942683DD-0A49-0DA9-B255-55278DFEAADB}"/>
              </a:ext>
            </a:extLst>
          </p:cNvPr>
          <p:cNvSpPr txBox="1"/>
          <p:nvPr/>
        </p:nvSpPr>
        <p:spPr>
          <a:xfrm>
            <a:off x="664171" y="1581342"/>
            <a:ext cx="505779" cy="523220"/>
          </a:xfrm>
          <a:prstGeom prst="rect">
            <a:avLst/>
          </a:prstGeom>
          <a:noFill/>
        </p:spPr>
        <p:txBody>
          <a:bodyPr wrap="square">
            <a:spAutoFit/>
          </a:bodyPr>
          <a:lstStyle/>
          <a:p>
            <a:pPr algn="ctr"/>
            <a:r>
              <a:rPr lang="zh-CN" altLang="en-US" sz="2800" dirty="0">
                <a:solidFill>
                  <a:srgbClr val="2D5695"/>
                </a:solidFill>
              </a:rPr>
              <a:t>▸</a:t>
            </a:r>
          </a:p>
        </p:txBody>
      </p:sp>
    </p:spTree>
    <p:extLst>
      <p:ext uri="{BB962C8B-B14F-4D97-AF65-F5344CB8AC3E}">
        <p14:creationId xmlns:p14="http://schemas.microsoft.com/office/powerpoint/2010/main" val="57969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500"/>
                                        <p:tgtEl>
                                          <p:spTgt spid="3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500"/>
                                        <p:tgtEl>
                                          <p:spTgt spid="3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500"/>
                                        <p:tgtEl>
                                          <p:spTgt spid="3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2" grpId="0" animBg="1"/>
      <p:bldP spid="33" grpId="0" animBg="1"/>
      <p:bldP spid="34" grpId="0" animBg="1"/>
      <p:bldP spid="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78F7C-B2F5-68CA-1F0E-EAEF72376C1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81C5DF1-2E3B-51B2-4B72-46D1BE8D4667}"/>
              </a:ext>
            </a:extLst>
          </p:cNvPr>
          <p:cNvSpPr txBox="1"/>
          <p:nvPr/>
        </p:nvSpPr>
        <p:spPr>
          <a:xfrm>
            <a:off x="548640" y="478511"/>
            <a:ext cx="11064240" cy="835939"/>
          </a:xfrm>
          <a:prstGeom prst="rect">
            <a:avLst/>
          </a:prstGeom>
          <a:noFill/>
          <a:ln/>
        </p:spPr>
        <p:txBody>
          <a:bodyPr wrap="square" lIns="0" tIns="0" rIns="0" bIns="0" rtlCol="0" anchor="ctr"/>
          <a:lstStyle/>
          <a:p>
            <a:r>
              <a:rPr lang="en-US" altLang="zh-CN" sz="3600" b="1" dirty="0" err="1">
                <a:solidFill>
                  <a:srgbClr val="2D5695"/>
                </a:solidFill>
                <a:latin typeface="Palatino" pitchFamily="2" charset="0"/>
                <a:ea typeface="Palatino" pitchFamily="2" charset="0"/>
              </a:rPr>
              <a:t>LieOptics</a:t>
            </a:r>
            <a:endParaRPr lang="en-US" altLang="zh-CN" sz="3200" b="1" dirty="0">
              <a:solidFill>
                <a:srgbClr val="2D5695"/>
              </a:solidFill>
              <a:latin typeface="Palatino" pitchFamily="2" charset="0"/>
              <a:ea typeface="Palatino" pitchFamily="2" charset="0"/>
            </a:endParaRPr>
          </a:p>
        </p:txBody>
      </p:sp>
      <p:sp>
        <p:nvSpPr>
          <p:cNvPr id="142" name="文本框 141">
            <a:extLst>
              <a:ext uri="{FF2B5EF4-FFF2-40B4-BE49-F238E27FC236}">
                <a16:creationId xmlns:a16="http://schemas.microsoft.com/office/drawing/2014/main" id="{28CE82D9-A3CF-2225-2480-375F5F2EAD3F}"/>
              </a:ext>
            </a:extLst>
          </p:cNvPr>
          <p:cNvSpPr txBox="1"/>
          <p:nvPr/>
        </p:nvSpPr>
        <p:spPr>
          <a:xfrm>
            <a:off x="8916546" y="6446520"/>
            <a:ext cx="3287486" cy="276999"/>
          </a:xfrm>
          <a:prstGeom prst="rect">
            <a:avLst/>
          </a:prstGeom>
          <a:noFill/>
        </p:spPr>
        <p:txBody>
          <a:bodyPr wrap="square">
            <a:spAutoFit/>
          </a:bodyPr>
          <a:lstStyle/>
          <a:p>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Haosheng Shi, Praneeth </a:t>
            </a:r>
            <a:r>
              <a:rPr lang="en-US" altLang="zh-CN" sz="1200" dirty="0" err="1">
                <a:solidFill>
                  <a:srgbClr val="8A97A8"/>
                </a:solidFill>
                <a:latin typeface="Gill Sans" panose="020B0502020104020203" pitchFamily="34" charset="-79"/>
                <a:ea typeface="Calibri" pitchFamily="34" charset="-122"/>
                <a:cs typeface="Gill Sans" panose="020B0502020104020203" pitchFamily="34" charset="-79"/>
              </a:rPr>
              <a:t>Chakravarthula</a:t>
            </a:r>
            <a:r>
              <a:rPr lang="en-US" altLang="zh-CN" sz="1200" dirty="0">
                <a:solidFill>
                  <a:srgbClr val="8A97A8"/>
                </a:solidFill>
                <a:latin typeface="Gill Sans" panose="020B0502020104020203" pitchFamily="34" charset="-79"/>
                <a:ea typeface="Calibri" pitchFamily="34" charset="-122"/>
                <a:cs typeface="Gill Sans" panose="020B0502020104020203" pitchFamily="34" charset="-79"/>
              </a:rPr>
              <a:t>  ·   9</a:t>
            </a:r>
            <a:endParaRPr lang="en-US" altLang="zh-CN" sz="1200" dirty="0">
              <a:solidFill>
                <a:srgbClr val="8A97A8"/>
              </a:solidFill>
              <a:latin typeface="Gill Sans" panose="020B0502020104020203" pitchFamily="34" charset="-79"/>
              <a:cs typeface="Gill Sans" panose="020B0502020104020203" pitchFamily="34" charset="-79"/>
            </a:endParaRPr>
          </a:p>
        </p:txBody>
      </p:sp>
      <p:sp>
        <p:nvSpPr>
          <p:cNvPr id="6" name="文本框 5">
            <a:extLst>
              <a:ext uri="{FF2B5EF4-FFF2-40B4-BE49-F238E27FC236}">
                <a16:creationId xmlns:a16="http://schemas.microsoft.com/office/drawing/2014/main" id="{E493E589-7998-7930-9B8E-A58812059E24}"/>
              </a:ext>
            </a:extLst>
          </p:cNvPr>
          <p:cNvSpPr txBox="1"/>
          <p:nvPr/>
        </p:nvSpPr>
        <p:spPr>
          <a:xfrm>
            <a:off x="548640" y="2695575"/>
            <a:ext cx="11064240" cy="1938992"/>
          </a:xfrm>
          <a:prstGeom prst="rect">
            <a:avLst/>
          </a:prstGeom>
          <a:noFill/>
        </p:spPr>
        <p:txBody>
          <a:bodyPr wrap="square" rtlCol="0">
            <a:spAutoFit/>
          </a:bodyPr>
          <a:lstStyle/>
          <a:p>
            <a:r>
              <a:rPr kumimoji="1" lang="en-US" altLang="zh-CN" sz="3200" dirty="0">
                <a:solidFill>
                  <a:srgbClr val="2D5695"/>
                </a:solidFill>
              </a:rPr>
              <a:t>Thank you!</a:t>
            </a:r>
          </a:p>
          <a:p>
            <a:endParaRPr kumimoji="1" lang="en-US" altLang="zh-CN" sz="3200" dirty="0">
              <a:solidFill>
                <a:srgbClr val="2D5695"/>
              </a:solidFill>
            </a:endParaRPr>
          </a:p>
          <a:p>
            <a:r>
              <a:rPr lang="en-US" altLang="zh-CN" sz="2000" dirty="0">
                <a:solidFill>
                  <a:srgbClr val="2D5695"/>
                </a:solidFill>
                <a:ea typeface="Palatino" pitchFamily="2" charset="0"/>
                <a:cs typeface="Calibri" pitchFamily="34" charset="-120"/>
              </a:rPr>
              <a:t>Optical modeling in closed-form, element by element, 1000× faster than ray tracing.</a:t>
            </a:r>
            <a:endParaRPr lang="en-US" altLang="zh-CN" sz="2000" dirty="0">
              <a:solidFill>
                <a:srgbClr val="2D5695"/>
              </a:solidFill>
              <a:ea typeface="Palatino" pitchFamily="2" charset="0"/>
            </a:endParaRPr>
          </a:p>
          <a:p>
            <a:r>
              <a:rPr kumimoji="1" lang="en-US" altLang="zh-CN" sz="3200" dirty="0">
                <a:solidFill>
                  <a:srgbClr val="2D5695"/>
                </a:solidFill>
              </a:rPr>
              <a:t> </a:t>
            </a:r>
            <a:endParaRPr kumimoji="1" lang="zh-CN" altLang="en-US" sz="3200" dirty="0">
              <a:solidFill>
                <a:srgbClr val="2D5695"/>
              </a:solidFill>
            </a:endParaRPr>
          </a:p>
        </p:txBody>
      </p:sp>
    </p:spTree>
    <p:extLst>
      <p:ext uri="{BB962C8B-B14F-4D97-AF65-F5344CB8AC3E}">
        <p14:creationId xmlns:p14="http://schemas.microsoft.com/office/powerpoint/2010/main" val="1536469458"/>
      </p:ext>
    </p:extLst>
  </p:cSld>
  <p:clrMapOvr>
    <a:masterClrMapping/>
  </p:clrMapOvr>
</p:sld>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1988</TotalTime>
  <Words>1438</Words>
  <Application>Microsoft Macintosh PowerPoint</Application>
  <PresentationFormat>宽屏</PresentationFormat>
  <Paragraphs>181</Paragraphs>
  <Slides>9</Slides>
  <Notes>9</Notes>
  <HiddenSlides>0</HiddenSlides>
  <MMClips>1</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vt:i4>
      </vt:variant>
    </vt:vector>
  </HeadingPairs>
  <TitlesOfParts>
    <vt:vector size="22" baseType="lpstr">
      <vt:lpstr>Arial</vt:lpstr>
      <vt:lpstr>Asana</vt:lpstr>
      <vt:lpstr>Asana Math</vt:lpstr>
      <vt:lpstr>Calibri</vt:lpstr>
      <vt:lpstr>Calibri Light</vt:lpstr>
      <vt:lpstr>Cambria</vt:lpstr>
      <vt:lpstr>Cambria Math</vt:lpstr>
      <vt:lpstr>Georgia</vt:lpstr>
      <vt:lpstr>Gill Sans</vt:lpstr>
      <vt:lpstr>Palatino</vt:lpstr>
      <vt:lpstr>Times New Roman</vt:lpstr>
      <vt:lpstr>Wingdings</vt:lpstr>
      <vt:lpstr>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Weiting Chen</cp:lastModifiedBy>
  <cp:revision>86</cp:revision>
  <dcterms:created xsi:type="dcterms:W3CDTF">2026-09-10T01:31:51Z</dcterms:created>
  <dcterms:modified xsi:type="dcterms:W3CDTF">2026-09-17T08:16:52Z</dcterms:modified>
</cp:coreProperties>
</file>